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b6d195b-94ea-f14f-1730-959c58071a82}">
          <p14:sldIdLst>
            <p14:sldId id="256"/>
          </p14:sldIdLst>
        </p14:section>
        <p14:section name="Problem" id="{c6b174bd-da3e-a57e-7e6f-06d2bda689a1}">
          <p14:sldIdLst>
            <p14:sldId id="257"/>
          </p14:sldIdLst>
        </p14:section>
        <p14:section name="Product" id="{2e77964c-09a0-d6d5-142f-77603c90ce97}">
          <p14:sldIdLst>
            <p14:sldId id="258"/>
            <p14:sldId id="259"/>
          </p14:sldIdLst>
        </p14:section>
        <p14:section name="Technology" id="{1278013d-1ea9-164b-8d1e-1461e7ffbd48}">
          <p14:sldIdLst>
            <p14:sldId id="260"/>
            <p14:sldId id="261"/>
            <p14:sldId id="262"/>
          </p14:sldIdLst>
        </p14:section>
        <p14:section name="Business" id="{f8963342-830f-6159-166a-c3e47e7e9da5}">
          <p14:sldIdLst>
            <p14:sldId id="263"/>
            <p14:sldId id="264"/>
          </p14:sldIdLst>
        </p14:section>
        <p14:section name="Closing" id="{c88c5934-2a31-d08b-354c-c61093df2455}">
          <p14:sldIdLst>
            <p14:sldId id="265"/>
          </p14:sldIdLst>
        </p14:section>
        <p14:section name="Appendix" id="{063dc7c9-baa5-941d-e05b-7948ec6e619d}">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4E3D"/>
                </a:solidFill>
                <a:latin typeface="+mn-lt"/>
              </a:defRPr>
            </a:pPr>
            <a:r>
              <a:rPr sz="1100" b="0" i="0" u="none" strike="noStrike">
                <a:solidFill>
                  <a:srgbClr val="1F4E3D"/>
                </a:solidFill>
                <a:latin typeface="+mn-lt"/>
              </a:rPr>
              <a:t>ROC-AUC: what the model adds over the ratio</a:t>
            </a:r>
          </a:p>
        </c:rich>
      </c:tx>
      <c:layout/>
      <c:overlay val="0"/>
    </c:title>
    <c:autoTitleDeleted val="0"/>
    <c:plotArea>
      <c:layout/>
      <c:barChart>
        <c:barDir val="col"/>
        <c:grouping val="clustered"/>
        <c:varyColors val="0"/>
        <c:ser>
          <c:idx val="0"/>
          <c:order val="0"/>
          <c:tx>
            <c:strRef>
              <c:f>Sheet1!$B$1</c:f>
              <c:strCache>
                <c:ptCount val="1"/>
                <c:pt idx="0">
                  <c:v>Synthetic holdout</c:v>
                </c:pt>
              </c:strCache>
            </c:strRef>
          </c:tx>
          <c:spPr>
            <a:solidFill>
              <a:srgbClr val="8FB8A5"/>
            </a:solidFill>
            <a:effectLst/>
          </c:spPr>
          <c:invertIfNegative val="0"/>
          <c:dLbls>
            <c:numFmt formatCode="0.00" sourceLinked="0"/>
            <c:txPr>
              <a:bodyPr/>
              <a:lstStyle/>
              <a:p>
                <a:pPr>
                  <a:defRPr b="0" i="0" strike="noStrike" sz="900" u="none">
                    <a:solidFill>
                      <a:srgbClr val="17201B"/>
                    </a:solidFill>
                    <a:latin typeface="+mn-lt"/>
                  </a:defRPr>
                </a:pPr>
              </a:p>
            </c:txPr>
            <c:showLegendKey val="0"/>
            <c:showVal val="1"/>
            <c:showCatName val="0"/>
            <c:showSerName val="0"/>
            <c:showPercent val="0"/>
            <c:showBubbleSize val="0"/>
            <c:showLeaderLines val="0"/>
          </c:dLbls>
          <c:cat>
            <c:multiLvlStrRef>
              <c:f>Sheet1!$A$2:$A$4</c:f>
              <c:multiLvlStrCache>
                <c:ptCount val="3"/>
                <c:lvl>
                  <c:pt idx="0">
                    <c:v>Ratio alone (ПДН)</c:v>
                  </c:pt>
                  <c:pt idx="1">
                    <c:v>Logistic regression</c:v>
                  </c:pt>
                  <c:pt idx="2">
                    <c:v>Boosted trees</c:v>
                  </c:pt>
                </c:lvl>
              </c:multiLvlStrCache>
            </c:multiLvlStrRef>
          </c:cat>
          <c:val>
            <c:numRef>
              <c:f>Sheet1!$B$2:$B$4</c:f>
              <c:numCache>
                <c:formatCode>General</c:formatCode>
                <c:ptCount val="3"/>
                <c:pt idx="0">
                  <c:v>0.9482157097288676</c:v>
                </c:pt>
                <c:pt idx="1">
                  <c:v>0.9628688197767145</c:v>
                </c:pt>
                <c:pt idx="2">
                  <c:v>0.9654106858054226</c:v>
                </c:pt>
              </c:numCache>
            </c:numRef>
          </c:val>
        </c:ser>
        <c:ser>
          <c:idx val="1"/>
          <c:order val="1"/>
          <c:tx>
            <c:strRef>
              <c:f>Sheet1!$C$1</c:f>
              <c:strCache>
                <c:ptCount val="1"/>
                <c:pt idx="0">
                  <c:v>Real data (Berka)</c:v>
                </c:pt>
              </c:strCache>
            </c:strRef>
          </c:tx>
          <c:spPr>
            <a:solidFill>
              <a:srgbClr val="1F4E3D"/>
            </a:solidFill>
            <a:effectLst/>
          </c:spPr>
          <c:invertIfNegative val="0"/>
          <c:dLbls>
            <c:numFmt formatCode="0.00" sourceLinked="0"/>
            <c:txPr>
              <a:bodyPr/>
              <a:lstStyle/>
              <a:p>
                <a:pPr>
                  <a:defRPr b="0" i="0" strike="noStrike" sz="900" u="none">
                    <a:solidFill>
                      <a:srgbClr val="17201B"/>
                    </a:solidFill>
                    <a:latin typeface="+mn-lt"/>
                  </a:defRPr>
                </a:pPr>
              </a:p>
            </c:txPr>
            <c:showLegendKey val="0"/>
            <c:showVal val="1"/>
            <c:showCatName val="0"/>
            <c:showSerName val="0"/>
            <c:showPercent val="0"/>
            <c:showBubbleSize val="0"/>
            <c:showLeaderLines val="0"/>
          </c:dLbls>
          <c:cat>
            <c:multiLvlStrRef>
              <c:f>Sheet1!$A$2:$A$4</c:f>
              <c:multiLvlStrCache>
                <c:ptCount val="3"/>
                <c:lvl>
                  <c:pt idx="0">
                    <c:v>Ratio alone (ПДН)</c:v>
                  </c:pt>
                  <c:pt idx="1">
                    <c:v>Logistic regression</c:v>
                  </c:pt>
                  <c:pt idx="2">
                    <c:v>Boosted trees</c:v>
                  </c:pt>
                </c:lvl>
              </c:multiLvlStrCache>
            </c:multiLvlStrRef>
          </c:cat>
          <c:val>
            <c:numRef>
              <c:f>Sheet1!$C$2:$C$4</c:f>
              <c:numCache>
                <c:formatCode>General</c:formatCode>
                <c:ptCount val="3"/>
                <c:pt idx="0">
                  <c:v>0.7351617680565048</c:v>
                </c:pt>
                <c:pt idx="1">
                  <c:v>0.8948507632718159</c:v>
                </c:pt>
                <c:pt idx="2">
                  <c:v>0.9021132376395533</c:v>
                </c:pt>
              </c:numCache>
            </c:numRef>
          </c:val>
        </c:ser>
        <c:dLbls>
          <c:numFmt formatCode="0.00" sourceLinked="0"/>
          <c:txPr>
            <a:bodyPr/>
            <a:lstStyle/>
            <a:p>
              <a:pPr>
                <a:defRPr b="0" i="0" strike="noStrike" sz="900" u="none">
                  <a:solidFill>
                    <a:srgbClr val="17201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6B63"/>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12700" cap="flat">
              <a:solidFill>
                <a:srgbClr val="E9F1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C6B6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Daromad, team TYS. Partner product for MKBANK's micro and family-business credit department. We remove the hour an officer spends turning a self-employed borrower's statements into an income figure the regulator accepts. [0:15]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regulation's list of acceptable income evidence. For a self-employed borrower only one line exists: income credited to bank accounts — no employer, no pension, income untaxed and unfiled. MKBANK targets about 140,000 micro-projects this year, by its own figures. Every one of them needs a documented income assessment; the ones outside the family programme and above 50 BRV also need a ПДН under 50 percent — computed from documents like these. Fiscal receipts exist only where the business uses an online cash register; we read them as corroboration, not as the income figure.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after Load sample A. Statement parsed in the browser, twelve months of regulatory income with business revenue separated, ПДН with each line citing its clause, maximum affordable amount, and a what-if slider. [part of demo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public URL. Load sample A. Narrate: statement parsed, certificate read, receipt OCR'd in Uzbek; twelve months of income; ПДН just above 50 percent, so the engine computes the maximum affordable amount; drag the slider under it; integrity checks; the memo badge shows how many numbers were checked and that none is unsourced; click a citation to open the statement lines behind a figure; record the decision; export. If a judge hands you a receipt photo or a statement, upload it. Finish with Load tampered statement (it starts a fresh case): the balance-chain check fails and names the edited line. Keep the backup video open in a second tab.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system, not a prompt: parsing with coordinates, a multilingual categoriser, cash-flow reconstruction, a rule engine mapped clause by clause, boosted trees with monotone constraints, integrity checks, and a template memo with a verifier. No API key exists in this product. Production is the same bundle on the bank's server — the perimeter is literal.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through the real app: statement parsing exact on 60 of 60 generator PDFs — and, more importantly, exact on 7 of 7 layouts the parser had never seen: signed-amount CSV, Kirim/Chiqim Excel, quoted English CSV with a type column, Unicode minus, headerless, Приход/Расход TSV, and a Payme-style wallet export with a plus/minus type column and no balance. Tamper recall 40 of 40 with no false alarms on clean statements; receipt OCR 95% on totals, 100% on INN. Risk model: AUC 0.965 on our declared synthetic population — proves the pipeline, not the world. So we ran the same 18 features on real anonymised bank data, 443 loans from PKDD'99, 44 of them bad: AUC 0.90 out-of-fold, confidence interval roughly 0.86 to 0.94, versus 0.74 for the ratio alone. Logistic regression is close — we keep the trees for monotone constraints and thresholds, not for the last hundredth.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archetypes anchored to stat.uz wages, 24 months of daily transactions, rendered to PDFs with a text layer in two layouts, receipts photographed through a camera model, four tamper types. Every parameter is in the repo. The jury can regenerate everything with one command.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our three people plus one bank analyst, one small VM — no GPU, no licences, no API spend; marginal cost per application is zero; about 190 million for three months. Value, with two assumptions the pilot exists to measure: document handling falls from about 90 to 25 minutes, and about 30 percent of MKBANK's 140,000 micro-project applications are addressable — outside the family programme and above the 50-BRV threshold. That is 42,000 applications, 45,000 officer-hours, 23 full-time officers, about 4 billion sum a year at a 15-million loaded monthly cost. The pilot does not pay for itself in five branches; the roll-out does, within its first month. Even at a 10 percent addressable share it pays back within two months. Every term is a slider.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another team cannot rebuild in a weekend: the Uzbek layout corpus and parsers, the categoriser lexicon, the clause-mapped rule engine with its exemptions, the verifier that makes unsourced numbers impossible, and the calibrated synthetic population. Next: scanned-statement OCR, core-banking pull for MKBANK's own account holders, retraining inside the perimeter. Thank you.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4E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10881360" cy="128016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3" name="Text 0"/>
          <p:cNvSpPr/>
          <p:nvPr>
            <p:ph idx="101" type="body" hasCustomPrompt="1"/>
          </p:nvPr>
        </p:nvSpPr>
        <p:spPr>
          <a:xfrm>
            <a:off x="640080" y="3474720"/>
            <a:ext cx="10881360" cy="2194560"/>
          </a:xfrm>
          <a:prstGeom prst="rect">
            <a:avLst/>
          </a:prstGeom>
          <a:noFill/>
          <a:ln/>
        </p:spPr>
        <p:txBody>
          <a:bodyPr wrap="square" rtlCol="0"/>
          <a:lstStyle>
            <a:lvl1pPr indent="0" marL="0">
              <a:buNone/>
              <a:defRPr lang="en-US" sz="1800" dirty="0">
                <a:solidFill>
                  <a:srgbClr val="E9F1EC"/>
                </a:solidFill>
              </a:defRPr>
            </a:lvl1pPr>
          </a:lstStyle>
          <a:p>
            <a:pPr indent="0" marL="0">
              <a:buNone/>
            </a:pPr>
            <a:endParaRPr lang="en-US" sz="1800" dirty="0"/>
          </a:p>
        </p:txBody>
      </p:sp>
      <p:sp>
        <p:nvSpPr>
          <p:cNvPr id="4" name="Text 0"/>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8FB8A5"/>
                </a:solidFill>
              </a:rPr>
              <a:t>Daromad · team TYS · FinTech / AI in Finance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2800" b="1" dirty="0">
                <a:solidFill>
                  <a:srgbClr val="1F4E3D"/>
                </a:solidFill>
              </a:defRPr>
            </a:lvl1pPr>
          </a:lstStyle>
          <a:p>
            <a:pPr algn="l" indent="0" marL="0">
              <a:buNone/>
            </a:pPr>
            <a:endParaRPr lang="en-US" sz="2800" dirty="0"/>
          </a:p>
        </p:txBody>
      </p:sp>
      <p:sp>
        <p:nvSpPr>
          <p:cNvPr id="3" name="Text 0"/>
          <p:cNvSpPr/>
          <p:nvPr/>
        </p:nvSpPr>
        <p:spPr>
          <a:xfrm>
            <a:off x="548640" y="6446520"/>
            <a:ext cx="3657600" cy="274320"/>
          </a:xfrm>
          <a:prstGeom prst="rect">
            <a:avLst/>
          </a:prstGeom>
          <a:noFill/>
          <a:ln/>
        </p:spPr>
        <p:txBody>
          <a:bodyPr wrap="square" lIns="0" tIns="0" rIns="0" bIns="0" rtlCol="0" anchor="ctr"/>
          <a:lstStyle/>
          <a:p>
            <a:pPr indent="0" marL="0">
              <a:buNone/>
            </a:pPr>
            <a:r>
              <a:rPr lang="en-US" sz="900" dirty="0">
                <a:solidFill>
                  <a:srgbClr val="5C6B63"/>
                </a:solidFill>
              </a:rPr>
              <a:t>Daromad · team TYS</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rand"/>
          <p:cNvSpPr txBox="1"/>
          <p:nvPr/>
        </p:nvSpPr>
        <p:spPr>
          <a:xfrm>
            <a:off x="640080" y="1371600"/>
            <a:ext cx="7315200" cy="1097280"/>
          </a:xfrm>
          <a:prstGeom prst="rect">
            <a:avLst/>
          </a:prstGeom>
          <a:noFill/>
          <a:ln/>
        </p:spPr>
        <p:txBody>
          <a:bodyPr wrap="square" lIns="0" tIns="0" rIns="0" bIns="0" rtlCol="0" anchor="ctr"/>
          <a:lstStyle/>
          <a:p>
            <a:pPr indent="0" marL="0">
              <a:buNone/>
            </a:pPr>
            <a:r>
              <a:rPr lang="en-US" sz="6000" b="1" dirty="0">
                <a:solidFill>
                  <a:srgbClr val="FFFFFF"/>
                </a:solidFill>
              </a:rPr>
              <a:t>Daromad</a:t>
            </a:r>
            <a:endParaRPr lang="en-US" sz="6000" dirty="0"/>
          </a:p>
        </p:txBody>
      </p:sp>
      <p:sp>
        <p:nvSpPr>
          <p:cNvPr id="4" name="tagline"/>
          <p:cNvSpPr txBox="1"/>
          <p:nvPr/>
        </p:nvSpPr>
        <p:spPr>
          <a:xfrm>
            <a:off x="640080" y="2468880"/>
            <a:ext cx="10058400" cy="731520"/>
          </a:xfrm>
          <a:prstGeom prst="rect">
            <a:avLst/>
          </a:prstGeom>
          <a:noFill/>
          <a:ln/>
        </p:spPr>
        <p:txBody>
          <a:bodyPr wrap="square" lIns="0" tIns="0" rIns="0" bIns="0" rtlCol="0" anchor="ctr"/>
          <a:lstStyle/>
          <a:p>
            <a:pPr indent="0" marL="0">
              <a:buNone/>
            </a:pPr>
            <a:r>
              <a:rPr lang="en-US" sz="2800" dirty="0">
                <a:solidFill>
                  <a:srgbClr val="E9F1EC"/>
                </a:solidFill>
              </a:rPr>
              <a:t>Income evidence for borrowers who have no payslip</a:t>
            </a:r>
            <a:endParaRPr lang="en-US" sz="2800" dirty="0"/>
          </a:p>
        </p:txBody>
      </p:sp>
      <p:sp>
        <p:nvSpPr>
          <p:cNvPr id="5" name="mode pill"/>
          <p:cNvSpPr/>
          <p:nvPr/>
        </p:nvSpPr>
        <p:spPr>
          <a:xfrm>
            <a:off x="640080" y="3474720"/>
            <a:ext cx="6949440" cy="548640"/>
          </a:xfrm>
          <a:prstGeom prst="roundRect">
            <a:avLst>
              <a:gd name="adj" fmla="val 16667"/>
            </a:avLst>
          </a:prstGeom>
          <a:solidFill>
            <a:srgbClr val="D98E04"/>
          </a:solidFill>
          <a:ln w="12700">
            <a:solidFill>
              <a:srgbClr val="D98E04"/>
            </a:solidFill>
            <a:prstDash val="solid"/>
          </a:ln>
        </p:spPr>
      </p:sp>
      <p:sp>
        <p:nvSpPr>
          <p:cNvPr id="6" name="mode"/>
          <p:cNvSpPr txBox="1"/>
          <p:nvPr/>
        </p:nvSpPr>
        <p:spPr>
          <a:xfrm>
            <a:off x="777240" y="3474720"/>
            <a:ext cx="6766560" cy="548640"/>
          </a:xfrm>
          <a:prstGeom prst="rect">
            <a:avLst/>
          </a:prstGeom>
          <a:noFill/>
          <a:ln/>
        </p:spPr>
        <p:txBody>
          <a:bodyPr wrap="square" lIns="0" tIns="0" rIns="0" bIns="0" rtlCol="0" anchor="ctr"/>
          <a:lstStyle/>
          <a:p>
            <a:pPr indent="0" marL="0">
              <a:buNone/>
            </a:pPr>
            <a:r>
              <a:rPr lang="en-US" sz="1500" b="1" dirty="0">
                <a:solidFill>
                  <a:srgbClr val="17201B"/>
                </a:solidFill>
              </a:rPr>
              <a:t>Mode: Partner product — MKBANK, micro &amp; family-business credit department</a:t>
            </a:r>
            <a:endParaRPr lang="en-US" sz="1500" dirty="0"/>
          </a:p>
        </p:txBody>
      </p:sp>
      <p:sp>
        <p:nvSpPr>
          <p:cNvPr id="7" name="team"/>
          <p:cNvSpPr txBox="1"/>
          <p:nvPr/>
        </p:nvSpPr>
        <p:spPr>
          <a:xfrm>
            <a:off x="640080" y="4297680"/>
            <a:ext cx="10515600" cy="457200"/>
          </a:xfrm>
          <a:prstGeom prst="rect">
            <a:avLst/>
          </a:prstGeom>
          <a:noFill/>
          <a:ln/>
        </p:spPr>
        <p:txBody>
          <a:bodyPr wrap="square" lIns="0" tIns="0" rIns="0" bIns="0" rtlCol="0" anchor="ctr"/>
          <a:lstStyle/>
          <a:p>
            <a:pPr indent="0" marL="0">
              <a:buNone/>
            </a:pPr>
            <a:r>
              <a:rPr lang="en-US" sz="1500" b="1" dirty="0">
                <a:solidFill>
                  <a:srgbClr val="E9F1EC"/>
                </a:solidFill>
              </a:rPr>
              <a:t>Team TYS  </a:t>
            </a:r>
            <a:pPr indent="0" marL="0">
              <a:buNone/>
            </a:pPr>
            <a:r>
              <a:rPr lang="en-US" sz="1500" dirty="0">
                <a:solidFill>
                  <a:srgbClr val="E9F1EC"/>
                </a:solidFill>
              </a:rPr>
              <a:t>Munisbek (technical lead) · Jahongir (research &amp; data) · Umida (compliance &amp; business case)</a:t>
            </a:r>
            <a:endParaRPr lang="en-US" sz="1500" dirty="0"/>
          </a:p>
        </p:txBody>
      </p:sp>
      <p:sp>
        <p:nvSpPr>
          <p:cNvPr id="8" name="links"/>
          <p:cNvSpPr txBox="1"/>
          <p:nvPr/>
        </p:nvSpPr>
        <p:spPr>
          <a:xfrm>
            <a:off x="640080" y="4846320"/>
            <a:ext cx="10972800" cy="457200"/>
          </a:xfrm>
          <a:prstGeom prst="rect">
            <a:avLst/>
          </a:prstGeom>
          <a:noFill/>
          <a:ln/>
        </p:spPr>
        <p:txBody>
          <a:bodyPr wrap="square" lIns="0" tIns="0" rIns="0" bIns="0" rtlCol="0" anchor="ctr"/>
          <a:lstStyle/>
          <a:p>
            <a:pPr indent="0" marL="0">
              <a:buNone/>
            </a:pPr>
            <a:r>
              <a:rPr lang="en-US" sz="1300" b="1" dirty="0">
                <a:solidFill>
                  <a:srgbClr val="8FB8A5"/>
                </a:solidFill>
              </a:rPr>
              <a:t>Live prototype  </a:t>
            </a:r>
            <a:pPr indent="0" marL="0">
              <a:buNone/>
            </a:pPr>
            <a:r>
              <a:rPr lang="en-US" sz="1300" dirty="0">
                <a:solidFill>
                  <a:srgbClr val="8FB8A5"/>
                </a:solidFill>
              </a:rPr>
              <a:t>https://tys-fintech.vercel.app    </a:t>
            </a:r>
            <a:pPr indent="0" marL="0">
              <a:buNone/>
            </a:pPr>
            <a:r>
              <a:rPr lang="en-US" sz="1300" b="1" dirty="0">
                <a:solidFill>
                  <a:srgbClr val="8FB8A5"/>
                </a:solidFill>
              </a:rPr>
              <a:t>Repository  </a:t>
            </a:r>
            <a:pPr indent="0" marL="0">
              <a:buNone/>
            </a:pPr>
            <a:r>
              <a:rPr lang="en-US" sz="1300" dirty="0">
                <a:solidFill>
                  <a:srgbClr val="8FB8A5"/>
                </a:solidFill>
              </a:rPr>
              <a:t>https://github.com/hmunisbekk-droid/TYS-fintech</a:t>
            </a:r>
            <a:endParaRPr lang="en-US" sz="1300" dirty="0"/>
          </a:p>
        </p:txBody>
      </p:sp>
      <p:sp>
        <p:nvSpPr>
          <p:cNvPr id="9" name="event"/>
          <p:cNvSpPr txBox="1"/>
          <p:nvPr/>
        </p:nvSpPr>
        <p:spPr>
          <a:xfrm>
            <a:off x="640080" y="5760720"/>
            <a:ext cx="10515600" cy="365760"/>
          </a:xfrm>
          <a:prstGeom prst="rect">
            <a:avLst/>
          </a:prstGeom>
          <a:noFill/>
          <a:ln/>
        </p:spPr>
        <p:txBody>
          <a:bodyPr wrap="square" lIns="0" tIns="0" rIns="0" bIns="0" rtlCol="0" anchor="ctr"/>
          <a:lstStyle/>
          <a:p>
            <a:pPr indent="0" marL="0">
              <a:buNone/>
            </a:pPr>
            <a:r>
              <a:rPr lang="en-US" sz="1200" dirty="0">
                <a:solidFill>
                  <a:srgbClr val="8FB8A5"/>
                </a:solidFill>
              </a:rPr>
              <a:t>FinTech / AI in Finance · partners MKBANK and the Central Bank of Uzbekistan · final defence, October 2026</a:t>
            </a:r>
            <a:endParaRPr lang="en-US" sz="1200" dirty="0"/>
          </a:p>
        </p:txBody>
      </p:sp>
      <p:sp>
        <p:nvSpPr>
          <p:cNvPr id="10" name="Text 0"/>
          <p:cNvSpPr/>
          <p:nvPr>
            <p:ph idx="100" type="title" hasCustomPrompt="1"/>
          </p:nvPr>
        </p:nvSpPr>
        <p:spPr>
          <a:xfrm>
            <a:off x="640080" y="2103120"/>
            <a:ext cx="10881360" cy="1280160"/>
          </a:xfrm>
          <a:prstGeom prst="rect">
            <a:avLst/>
          </a:prstGeom>
          <a:noFill/>
          <a:ln/>
        </p:spPr>
        <p:txBody>
          <a:bodyPr wrap="square" lIns="0" tIns="0" rIns="0" bIns="0" rtlCol="0"/>
          <a:lstStyle/>
          <a:p>
            <a:pPr indent="0" marL="0">
              <a:buNone/>
            </a:pPr>
            <a:endParaRPr lang="en-US" sz="4400" dirty="0"/>
          </a:p>
        </p:txBody>
      </p:sp>
      <p:sp>
        <p:nvSpPr>
          <p:cNvPr id="11" name="Text 0"/>
          <p:cNvSpPr/>
          <p:nvPr>
            <p:ph idx="101" type="body" hasCustomPrompt="1"/>
          </p:nvPr>
        </p:nvSpPr>
        <p:spPr>
          <a:xfrm>
            <a:off x="640080" y="3474720"/>
            <a:ext cx="10881360" cy="2194560"/>
          </a:xfrm>
          <a:prstGeom prst="rect">
            <a:avLst/>
          </a:prstGeom>
          <a:noFill/>
          <a:ln/>
        </p:spPr>
        <p:txBody>
          <a:bodyPr wrap="square" lIns="0" tIns="0" rIns="0" bIns="0" rtlCol="0"/>
          <a:lstStyle/>
          <a:p>
            <a:pPr indent="0" marL="0">
              <a:buNone/>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The regulation names the evidence — the self-employed have exactly one line</a:t>
            </a:r>
            <a:endParaRPr lang="en-US" sz="2800" dirty="0"/>
          </a:p>
        </p:txBody>
      </p:sp>
      <p:sp>
        <p:nvSpPr>
          <p:cNvPr id="4" name="list caption"/>
          <p:cNvSpPr txBox="1"/>
          <p:nvPr/>
        </p:nvSpPr>
        <p:spPr>
          <a:xfrm>
            <a:off x="548640" y="1280160"/>
            <a:ext cx="6583680" cy="365760"/>
          </a:xfrm>
          <a:prstGeom prst="rect">
            <a:avLst/>
          </a:prstGeom>
          <a:noFill/>
          <a:ln/>
        </p:spPr>
        <p:txBody>
          <a:bodyPr wrap="square" lIns="0" tIns="0" rIns="0" bIns="0" rtlCol="0" anchor="ctr"/>
          <a:lstStyle/>
          <a:p>
            <a:pPr indent="0" marL="0">
              <a:buNone/>
            </a:pPr>
            <a:r>
              <a:rPr lang="en-US" sz="1400" b="1" dirty="0">
                <a:solidFill>
                  <a:srgbClr val="5C6B63"/>
                </a:solidFill>
              </a:rPr>
              <a:t>CBU regulation on the debt-burden ratio, cl.9 — income a lender may rely on</a:t>
            </a:r>
            <a:endParaRPr lang="en-US" sz="1400" dirty="0"/>
          </a:p>
        </p:txBody>
      </p:sp>
      <p:sp>
        <p:nvSpPr>
          <p:cNvPr id="5" name="evidence 0"/>
          <p:cNvSpPr/>
          <p:nvPr/>
        </p:nvSpPr>
        <p:spPr>
          <a:xfrm>
            <a:off x="548640" y="1737360"/>
            <a:ext cx="6583680" cy="530352"/>
          </a:xfrm>
          <a:prstGeom prst="roundRect">
            <a:avLst>
              <a:gd name="adj" fmla="val 13793"/>
            </a:avLst>
          </a:prstGeom>
          <a:solidFill>
            <a:srgbClr val="E9F1EC"/>
          </a:solidFill>
          <a:ln w="12700">
            <a:solidFill>
              <a:srgbClr val="E9F1EC"/>
            </a:solidFill>
            <a:prstDash val="solid"/>
          </a:ln>
        </p:spPr>
      </p:sp>
      <p:pic>
        <p:nvPicPr>
          <p:cNvPr id="6" name="evidence icon 0" descr="preencoded.png">    </p:cNvPr>
          <p:cNvPicPr>
            <a:picLocks noChangeAspect="1"/>
          </p:cNvPicPr>
          <p:nvPr/>
        </p:nvPicPr>
        <p:blipFill>
          <a:blip r:embed="rId1"/>
          <a:stretch>
            <a:fillRect/>
          </a:stretch>
        </p:blipFill>
        <p:spPr>
          <a:xfrm>
            <a:off x="685800" y="1865376"/>
            <a:ext cx="274320" cy="274320"/>
          </a:xfrm>
          <a:prstGeom prst="rect">
            <a:avLst/>
          </a:prstGeom>
        </p:spPr>
      </p:pic>
      <p:sp>
        <p:nvSpPr>
          <p:cNvPr id="7" name="evidence text 0"/>
          <p:cNvSpPr txBox="1"/>
          <p:nvPr/>
        </p:nvSpPr>
        <p:spPr>
          <a:xfrm>
            <a:off x="1097280" y="1737360"/>
            <a:ext cx="5943600" cy="530352"/>
          </a:xfrm>
          <a:prstGeom prst="rect">
            <a:avLst/>
          </a:prstGeom>
          <a:noFill/>
          <a:ln/>
        </p:spPr>
        <p:txBody>
          <a:bodyPr wrap="square" lIns="0" tIns="0" rIns="0" bIns="0" rtlCol="0" anchor="ctr"/>
          <a:lstStyle/>
          <a:p>
            <a:pPr indent="0" marL="0">
              <a:buNone/>
            </a:pPr>
            <a:r>
              <a:rPr lang="en-US" sz="1200" b="1" dirty="0">
                <a:solidFill>
                  <a:srgbClr val="17201B"/>
                </a:solidFill>
              </a:rPr>
              <a:t>Employer-confirmed salary</a:t>
            </a:r>
            <a:pPr indent="0" marL="0">
              <a:buNone/>
            </a:pPr>
            <a:r>
              <a:rPr lang="en-US" sz="1200" dirty="0">
                <a:solidFill>
                  <a:srgbClr val="17201B"/>
                </a:solidFill>
              </a:rPr>
              <a:t>  — no employer — the borrower is the business</a:t>
            </a:r>
            <a:endParaRPr lang="en-US" sz="1200" dirty="0"/>
          </a:p>
        </p:txBody>
      </p:sp>
      <p:sp>
        <p:nvSpPr>
          <p:cNvPr id="8" name="evidence 1"/>
          <p:cNvSpPr/>
          <p:nvPr/>
        </p:nvSpPr>
        <p:spPr>
          <a:xfrm>
            <a:off x="548640" y="2359152"/>
            <a:ext cx="6583680" cy="530352"/>
          </a:xfrm>
          <a:prstGeom prst="roundRect">
            <a:avLst>
              <a:gd name="adj" fmla="val 13793"/>
            </a:avLst>
          </a:prstGeom>
          <a:solidFill>
            <a:srgbClr val="E9F1EC"/>
          </a:solidFill>
          <a:ln w="12700">
            <a:solidFill>
              <a:srgbClr val="E9F1EC"/>
            </a:solidFill>
            <a:prstDash val="solid"/>
          </a:ln>
        </p:spPr>
      </p:sp>
      <p:pic>
        <p:nvPicPr>
          <p:cNvPr id="9" name="evidence icon 1" descr="preencoded.png">    </p:cNvPr>
          <p:cNvPicPr>
            <a:picLocks noChangeAspect="1"/>
          </p:cNvPicPr>
          <p:nvPr/>
        </p:nvPicPr>
        <p:blipFill>
          <a:blip r:embed="rId2"/>
          <a:stretch>
            <a:fillRect/>
          </a:stretch>
        </p:blipFill>
        <p:spPr>
          <a:xfrm>
            <a:off x="685800" y="2487168"/>
            <a:ext cx="274320" cy="274320"/>
          </a:xfrm>
          <a:prstGeom prst="rect">
            <a:avLst/>
          </a:prstGeom>
        </p:spPr>
      </p:pic>
      <p:sp>
        <p:nvSpPr>
          <p:cNvPr id="10" name="evidence text 1"/>
          <p:cNvSpPr txBox="1"/>
          <p:nvPr/>
        </p:nvSpPr>
        <p:spPr>
          <a:xfrm>
            <a:off x="1097280" y="2359152"/>
            <a:ext cx="5943600" cy="530352"/>
          </a:xfrm>
          <a:prstGeom prst="rect">
            <a:avLst/>
          </a:prstGeom>
          <a:noFill/>
          <a:ln/>
        </p:spPr>
        <p:txBody>
          <a:bodyPr wrap="square" lIns="0" tIns="0" rIns="0" bIns="0" rtlCol="0" anchor="ctr"/>
          <a:lstStyle/>
          <a:p>
            <a:pPr indent="0" marL="0">
              <a:buNone/>
            </a:pPr>
            <a:r>
              <a:rPr lang="en-US" sz="1200" b="1" dirty="0">
                <a:solidFill>
                  <a:srgbClr val="17201B"/>
                </a:solidFill>
              </a:rPr>
              <a:t>Pension</a:t>
            </a:r>
            <a:pPr indent="0" marL="0">
              <a:buNone/>
            </a:pPr>
            <a:r>
              <a:rPr lang="en-US" sz="1200" dirty="0">
                <a:solidFill>
                  <a:srgbClr val="17201B"/>
                </a:solidFill>
              </a:rPr>
              <a:t>  — working-age applicant, not a pensioner</a:t>
            </a:r>
            <a:endParaRPr lang="en-US" sz="1200" dirty="0"/>
          </a:p>
        </p:txBody>
      </p:sp>
      <p:sp>
        <p:nvSpPr>
          <p:cNvPr id="11" name="evidence 2"/>
          <p:cNvSpPr/>
          <p:nvPr/>
        </p:nvSpPr>
        <p:spPr>
          <a:xfrm>
            <a:off x="548640" y="2980944"/>
            <a:ext cx="6583680" cy="530352"/>
          </a:xfrm>
          <a:prstGeom prst="roundRect">
            <a:avLst>
              <a:gd name="adj" fmla="val 13793"/>
            </a:avLst>
          </a:prstGeom>
          <a:solidFill>
            <a:srgbClr val="E9F1EC"/>
          </a:solidFill>
          <a:ln w="12700">
            <a:solidFill>
              <a:srgbClr val="E9F1EC"/>
            </a:solidFill>
            <a:prstDash val="solid"/>
          </a:ln>
        </p:spPr>
      </p:sp>
      <p:pic>
        <p:nvPicPr>
          <p:cNvPr id="12" name="evidence icon 2" descr="preencoded.png">    </p:cNvPr>
          <p:cNvPicPr>
            <a:picLocks noChangeAspect="1"/>
          </p:cNvPicPr>
          <p:nvPr/>
        </p:nvPicPr>
        <p:blipFill>
          <a:blip r:embed="rId3"/>
          <a:stretch>
            <a:fillRect/>
          </a:stretch>
        </p:blipFill>
        <p:spPr>
          <a:xfrm>
            <a:off x="685800" y="3108960"/>
            <a:ext cx="274320" cy="274320"/>
          </a:xfrm>
          <a:prstGeom prst="rect">
            <a:avLst/>
          </a:prstGeom>
        </p:spPr>
      </p:pic>
      <p:sp>
        <p:nvSpPr>
          <p:cNvPr id="13" name="evidence text 2"/>
          <p:cNvSpPr txBox="1"/>
          <p:nvPr/>
        </p:nvSpPr>
        <p:spPr>
          <a:xfrm>
            <a:off x="1097280" y="2980944"/>
            <a:ext cx="5943600" cy="530352"/>
          </a:xfrm>
          <a:prstGeom prst="rect">
            <a:avLst/>
          </a:prstGeom>
          <a:noFill/>
          <a:ln/>
        </p:spPr>
        <p:txBody>
          <a:bodyPr wrap="square" lIns="0" tIns="0" rIns="0" bIns="0" rtlCol="0" anchor="ctr"/>
          <a:lstStyle/>
          <a:p>
            <a:pPr indent="0" marL="0">
              <a:buNone/>
            </a:pPr>
            <a:r>
              <a:rPr lang="en-US" sz="1200" b="1" dirty="0">
                <a:solidFill>
                  <a:srgbClr val="17201B"/>
                </a:solidFill>
              </a:rPr>
              <a:t>Funded-pension contributions</a:t>
            </a:r>
            <a:pPr indent="0" marL="0">
              <a:buNone/>
            </a:pPr>
            <a:r>
              <a:rPr lang="en-US" sz="1200" dirty="0">
                <a:solidFill>
                  <a:srgbClr val="17201B"/>
                </a:solidFill>
              </a:rPr>
              <a:t>  — none: contributions come through an employer</a:t>
            </a:r>
            <a:endParaRPr lang="en-US" sz="1200" dirty="0"/>
          </a:p>
        </p:txBody>
      </p:sp>
      <p:sp>
        <p:nvSpPr>
          <p:cNvPr id="14" name="evidence 3"/>
          <p:cNvSpPr/>
          <p:nvPr/>
        </p:nvSpPr>
        <p:spPr>
          <a:xfrm>
            <a:off x="548640" y="3602736"/>
            <a:ext cx="6583680" cy="530352"/>
          </a:xfrm>
          <a:prstGeom prst="roundRect">
            <a:avLst>
              <a:gd name="adj" fmla="val 13793"/>
            </a:avLst>
          </a:prstGeom>
          <a:solidFill>
            <a:srgbClr val="D98E04"/>
          </a:solidFill>
          <a:ln w="12700">
            <a:solidFill>
              <a:srgbClr val="D98E04"/>
            </a:solidFill>
            <a:prstDash val="solid"/>
          </a:ln>
        </p:spPr>
      </p:sp>
      <p:pic>
        <p:nvPicPr>
          <p:cNvPr id="15" name="evidence icon 3" descr="preencoded.png">    </p:cNvPr>
          <p:cNvPicPr>
            <a:picLocks noChangeAspect="1"/>
          </p:cNvPicPr>
          <p:nvPr/>
        </p:nvPicPr>
        <p:blipFill>
          <a:blip r:embed="rId4"/>
          <a:stretch>
            <a:fillRect/>
          </a:stretch>
        </p:blipFill>
        <p:spPr>
          <a:xfrm>
            <a:off x="685800" y="3730752"/>
            <a:ext cx="274320" cy="274320"/>
          </a:xfrm>
          <a:prstGeom prst="rect">
            <a:avLst/>
          </a:prstGeom>
        </p:spPr>
      </p:pic>
      <p:sp>
        <p:nvSpPr>
          <p:cNvPr id="16" name="evidence text 3"/>
          <p:cNvSpPr txBox="1"/>
          <p:nvPr/>
        </p:nvSpPr>
        <p:spPr>
          <a:xfrm>
            <a:off x="1097280" y="3602736"/>
            <a:ext cx="5943600" cy="530352"/>
          </a:xfrm>
          <a:prstGeom prst="rect">
            <a:avLst/>
          </a:prstGeom>
          <a:noFill/>
          <a:ln/>
        </p:spPr>
        <p:txBody>
          <a:bodyPr wrap="square" lIns="0" tIns="0" rIns="0" bIns="0" rtlCol="0" anchor="ctr"/>
          <a:lstStyle/>
          <a:p>
            <a:pPr indent="0" marL="0">
              <a:buNone/>
            </a:pPr>
            <a:r>
              <a:rPr lang="en-US" sz="1350" b="1" dirty="0">
                <a:solidFill>
                  <a:srgbClr val="17201B"/>
                </a:solidFill>
              </a:rPr>
              <a:t>Income credited to the borrower's bank accounts</a:t>
            </a:r>
            <a:pPr indent="0" marL="0">
              <a:buNone/>
            </a:pPr>
            <a:r>
              <a:rPr lang="en-US" sz="1350" dirty="0">
                <a:solidFill>
                  <a:srgbClr val="17201B"/>
                </a:solidFill>
              </a:rPr>
              <a:t>  — the only line a self-employed borrower has</a:t>
            </a:r>
            <a:endParaRPr lang="en-US" sz="1350" dirty="0"/>
          </a:p>
        </p:txBody>
      </p:sp>
      <p:sp>
        <p:nvSpPr>
          <p:cNvPr id="17" name="evidence 4"/>
          <p:cNvSpPr/>
          <p:nvPr/>
        </p:nvSpPr>
        <p:spPr>
          <a:xfrm>
            <a:off x="548640" y="4224528"/>
            <a:ext cx="6583680" cy="530352"/>
          </a:xfrm>
          <a:prstGeom prst="roundRect">
            <a:avLst>
              <a:gd name="adj" fmla="val 13793"/>
            </a:avLst>
          </a:prstGeom>
          <a:solidFill>
            <a:srgbClr val="E9F1EC"/>
          </a:solidFill>
          <a:ln w="12700">
            <a:solidFill>
              <a:srgbClr val="E9F1EC"/>
            </a:solidFill>
            <a:prstDash val="solid"/>
          </a:ln>
        </p:spPr>
      </p:sp>
      <p:pic>
        <p:nvPicPr>
          <p:cNvPr id="18" name="evidence icon 4" descr="preencoded.png">    </p:cNvPr>
          <p:cNvPicPr>
            <a:picLocks noChangeAspect="1"/>
          </p:cNvPicPr>
          <p:nvPr/>
        </p:nvPicPr>
        <p:blipFill>
          <a:blip r:embed="rId5"/>
          <a:stretch>
            <a:fillRect/>
          </a:stretch>
        </p:blipFill>
        <p:spPr>
          <a:xfrm>
            <a:off x="685800" y="4352544"/>
            <a:ext cx="274320" cy="274320"/>
          </a:xfrm>
          <a:prstGeom prst="rect">
            <a:avLst/>
          </a:prstGeom>
        </p:spPr>
      </p:pic>
      <p:sp>
        <p:nvSpPr>
          <p:cNvPr id="19" name="evidence text 4"/>
          <p:cNvSpPr txBox="1"/>
          <p:nvPr/>
        </p:nvSpPr>
        <p:spPr>
          <a:xfrm>
            <a:off x="1097280" y="4224528"/>
            <a:ext cx="5943600" cy="530352"/>
          </a:xfrm>
          <a:prstGeom prst="rect">
            <a:avLst/>
          </a:prstGeom>
          <a:noFill/>
          <a:ln/>
        </p:spPr>
        <p:txBody>
          <a:bodyPr wrap="square" lIns="0" tIns="0" rIns="0" bIns="0" rtlCol="0" anchor="ctr"/>
          <a:lstStyle/>
          <a:p>
            <a:pPr indent="0" marL="0">
              <a:buNone/>
            </a:pPr>
            <a:r>
              <a:rPr lang="en-US" sz="1200" b="1" dirty="0">
                <a:solidFill>
                  <a:srgbClr val="17201B"/>
                </a:solidFill>
              </a:rPr>
              <a:t>Taxes paid</a:t>
            </a:r>
            <a:pPr indent="0" marL="0">
              <a:buNone/>
            </a:pPr>
            <a:r>
              <a:rPr lang="en-US" sz="1200" dirty="0">
                <a:solidFill>
                  <a:srgbClr val="17201B"/>
                </a:solidFill>
              </a:rPr>
              <a:t>  — self-employed income is untaxed; no return is filed</a:t>
            </a:r>
            <a:endParaRPr lang="en-US" sz="1200" dirty="0"/>
          </a:p>
        </p:txBody>
      </p:sp>
      <p:sp>
        <p:nvSpPr>
          <p:cNvPr id="20" name="evidence 5"/>
          <p:cNvSpPr/>
          <p:nvPr/>
        </p:nvSpPr>
        <p:spPr>
          <a:xfrm>
            <a:off x="548640" y="4846320"/>
            <a:ext cx="6583680" cy="530352"/>
          </a:xfrm>
          <a:prstGeom prst="roundRect">
            <a:avLst>
              <a:gd name="adj" fmla="val 13793"/>
            </a:avLst>
          </a:prstGeom>
          <a:solidFill>
            <a:srgbClr val="E9F1EC"/>
          </a:solidFill>
          <a:ln w="12700">
            <a:solidFill>
              <a:srgbClr val="E9F1EC"/>
            </a:solidFill>
            <a:prstDash val="solid"/>
          </a:ln>
        </p:spPr>
      </p:sp>
      <p:pic>
        <p:nvPicPr>
          <p:cNvPr id="21" name="evidence icon 5" descr="preencoded.png">    </p:cNvPr>
          <p:cNvPicPr>
            <a:picLocks noChangeAspect="1"/>
          </p:cNvPicPr>
          <p:nvPr/>
        </p:nvPicPr>
        <p:blipFill>
          <a:blip r:embed="rId6"/>
          <a:stretch>
            <a:fillRect/>
          </a:stretch>
        </p:blipFill>
        <p:spPr>
          <a:xfrm>
            <a:off x="685800" y="4974336"/>
            <a:ext cx="274320" cy="274320"/>
          </a:xfrm>
          <a:prstGeom prst="rect">
            <a:avLst/>
          </a:prstGeom>
        </p:spPr>
      </p:pic>
      <p:sp>
        <p:nvSpPr>
          <p:cNvPr id="22" name="evidence text 5"/>
          <p:cNvSpPr txBox="1"/>
          <p:nvPr/>
        </p:nvSpPr>
        <p:spPr>
          <a:xfrm>
            <a:off x="1097280" y="4846320"/>
            <a:ext cx="5943600" cy="530352"/>
          </a:xfrm>
          <a:prstGeom prst="rect">
            <a:avLst/>
          </a:prstGeom>
          <a:noFill/>
          <a:ln/>
        </p:spPr>
        <p:txBody>
          <a:bodyPr wrap="square" lIns="0" tIns="0" rIns="0" bIns="0" rtlCol="0" anchor="ctr"/>
          <a:lstStyle/>
          <a:p>
            <a:pPr indent="0" marL="0">
              <a:buNone/>
            </a:pPr>
            <a:r>
              <a:rPr lang="en-US" sz="1200" b="1" dirty="0">
                <a:solidFill>
                  <a:srgbClr val="17201B"/>
                </a:solidFill>
              </a:rPr>
              <a:t>Interest, dividends, rental income</a:t>
            </a:r>
            <a:pPr indent="0" marL="0">
              <a:buNone/>
            </a:pPr>
            <a:r>
              <a:rPr lang="en-US" sz="1200" dirty="0">
                <a:solidFill>
                  <a:srgbClr val="17201B"/>
                </a:solidFill>
              </a:rPr>
              <a:t>  — rarely applicable; easy to document when it is</a:t>
            </a:r>
            <a:endParaRPr lang="en-US" sz="1200" dirty="0"/>
          </a:p>
        </p:txBody>
      </p:sp>
      <p:sp>
        <p:nvSpPr>
          <p:cNvPr id="23" name="tile ПДН limit for all loans since 1 Jan 2025 (cl.10); 12-month arithmetic mean of income (cl.7)"/>
          <p:cNvSpPr/>
          <p:nvPr/>
        </p:nvSpPr>
        <p:spPr>
          <a:xfrm>
            <a:off x="7589520" y="1371600"/>
            <a:ext cx="4023360" cy="1051560"/>
          </a:xfrm>
          <a:prstGeom prst="roundRect">
            <a:avLst>
              <a:gd name="adj" fmla="val 6957"/>
            </a:avLst>
          </a:prstGeom>
          <a:solidFill>
            <a:srgbClr val="1F4E3D"/>
          </a:solidFill>
          <a:ln w="12700">
            <a:solidFill>
              <a:srgbClr val="1F4E3D"/>
            </a:solidFill>
            <a:prstDash val="solid"/>
          </a:ln>
        </p:spPr>
      </p:sp>
      <p:sp>
        <p:nvSpPr>
          <p:cNvPr id="24" name="tile value ПДН limit for all loans since 1 Jan 2025 (cl.10); 12-month arithmetic mean of income (cl.7)"/>
          <p:cNvSpPr txBox="1"/>
          <p:nvPr/>
        </p:nvSpPr>
        <p:spPr>
          <a:xfrm>
            <a:off x="7726680" y="1444752"/>
            <a:ext cx="3749040" cy="578358"/>
          </a:xfrm>
          <a:prstGeom prst="rect">
            <a:avLst/>
          </a:prstGeom>
          <a:noFill/>
          <a:ln/>
        </p:spPr>
        <p:txBody>
          <a:bodyPr wrap="square" lIns="0" tIns="0" rIns="0" bIns="0" rtlCol="0" anchor="ctr"/>
          <a:lstStyle/>
          <a:p>
            <a:pPr indent="0" marL="0">
              <a:buNone/>
            </a:pPr>
            <a:r>
              <a:rPr lang="en-US" sz="2800" b="1" dirty="0">
                <a:solidFill>
                  <a:srgbClr val="FFFFFF"/>
                </a:solidFill>
              </a:rPr>
              <a:t>50% cap</a:t>
            </a:r>
            <a:endParaRPr lang="en-US" sz="2800" dirty="0"/>
          </a:p>
        </p:txBody>
      </p:sp>
      <p:sp>
        <p:nvSpPr>
          <p:cNvPr id="25" name="tile label ПДН limit for all loans since 1 Jan 2025 (cl.10); 12-month arithmetic mean of income (cl.7)"/>
          <p:cNvSpPr txBox="1"/>
          <p:nvPr/>
        </p:nvSpPr>
        <p:spPr>
          <a:xfrm>
            <a:off x="7726680" y="1981505"/>
            <a:ext cx="3749040" cy="420624"/>
          </a:xfrm>
          <a:prstGeom prst="rect">
            <a:avLst/>
          </a:prstGeom>
          <a:noFill/>
          <a:ln/>
        </p:spPr>
        <p:txBody>
          <a:bodyPr wrap="square" lIns="0" tIns="0" rIns="0" bIns="0" rtlCol="0" anchor="t"/>
          <a:lstStyle/>
          <a:p>
            <a:pPr indent="0" marL="0">
              <a:buNone/>
            </a:pPr>
            <a:r>
              <a:rPr lang="en-US" sz="1100" dirty="0">
                <a:solidFill>
                  <a:srgbClr val="8FB8A5"/>
                </a:solidFill>
              </a:rPr>
              <a:t>ПДН limit for all loans since 1 Jan 2025 (cl.10); 12-month arithmetic mean of income (cl.7)</a:t>
            </a:r>
            <a:endParaRPr lang="en-US" sz="1100" dirty="0"/>
          </a:p>
        </p:txBody>
      </p:sp>
      <p:sp>
        <p:nvSpPr>
          <p:cNvPr id="26" name="tile micro-projects MKBANK targets in 2026 (47,975 in 2025); 1,062 mahalla agents"/>
          <p:cNvSpPr/>
          <p:nvPr/>
        </p:nvSpPr>
        <p:spPr>
          <a:xfrm>
            <a:off x="7589520" y="2606040"/>
            <a:ext cx="4023360" cy="1051560"/>
          </a:xfrm>
          <a:prstGeom prst="roundRect">
            <a:avLst>
              <a:gd name="adj" fmla="val 6957"/>
            </a:avLst>
          </a:prstGeom>
          <a:solidFill>
            <a:srgbClr val="1F4E3D"/>
          </a:solidFill>
          <a:ln w="12700">
            <a:solidFill>
              <a:srgbClr val="1F4E3D"/>
            </a:solidFill>
            <a:prstDash val="solid"/>
          </a:ln>
        </p:spPr>
      </p:sp>
      <p:sp>
        <p:nvSpPr>
          <p:cNvPr id="27" name="tile value micro-projects MKBANK targets in 2026 (47,975 in 2025); 1,062 mahalla agents"/>
          <p:cNvSpPr txBox="1"/>
          <p:nvPr/>
        </p:nvSpPr>
        <p:spPr>
          <a:xfrm>
            <a:off x="7726680" y="2679192"/>
            <a:ext cx="3749040" cy="578358"/>
          </a:xfrm>
          <a:prstGeom prst="rect">
            <a:avLst/>
          </a:prstGeom>
          <a:noFill/>
          <a:ln/>
        </p:spPr>
        <p:txBody>
          <a:bodyPr wrap="square" lIns="0" tIns="0" rIns="0" bIns="0" rtlCol="0" anchor="ctr"/>
          <a:lstStyle/>
          <a:p>
            <a:pPr indent="0" marL="0">
              <a:buNone/>
            </a:pPr>
            <a:r>
              <a:rPr lang="en-US" sz="2800" b="1" dirty="0">
                <a:solidFill>
                  <a:srgbClr val="FFFFFF"/>
                </a:solidFill>
              </a:rPr>
              <a:t>~140,000</a:t>
            </a:r>
            <a:endParaRPr lang="en-US" sz="2800" dirty="0"/>
          </a:p>
        </p:txBody>
      </p:sp>
      <p:sp>
        <p:nvSpPr>
          <p:cNvPr id="28" name="tile label micro-projects MKBANK targets in 2026 (47,975 in 2025); 1,062 mahalla agents"/>
          <p:cNvSpPr txBox="1"/>
          <p:nvPr/>
        </p:nvSpPr>
        <p:spPr>
          <a:xfrm>
            <a:off x="7726680" y="3215945"/>
            <a:ext cx="3749040" cy="420624"/>
          </a:xfrm>
          <a:prstGeom prst="rect">
            <a:avLst/>
          </a:prstGeom>
          <a:noFill/>
          <a:ln/>
        </p:spPr>
        <p:txBody>
          <a:bodyPr wrap="square" lIns="0" tIns="0" rIns="0" bIns="0" rtlCol="0" anchor="t"/>
          <a:lstStyle/>
          <a:p>
            <a:pPr indent="0" marL="0">
              <a:buNone/>
            </a:pPr>
            <a:r>
              <a:rPr lang="en-US" sz="1100" dirty="0">
                <a:solidFill>
                  <a:srgbClr val="8FB8A5"/>
                </a:solidFill>
              </a:rPr>
              <a:t>micro-projects MKBANK targets in 2026 (47,975 in 2025); 1,062 mahalla agents</a:t>
            </a:r>
            <a:endParaRPr lang="en-US" sz="1100" dirty="0"/>
          </a:p>
        </p:txBody>
      </p:sp>
      <p:sp>
        <p:nvSpPr>
          <p:cNvPr id="29" name="tile an officer's manual reading of 12 months of statements per application (our estimate; pilot measures it)"/>
          <p:cNvSpPr/>
          <p:nvPr/>
        </p:nvSpPr>
        <p:spPr>
          <a:xfrm>
            <a:off x="7589520" y="3840480"/>
            <a:ext cx="4023360" cy="1051560"/>
          </a:xfrm>
          <a:prstGeom prst="roundRect">
            <a:avLst>
              <a:gd name="adj" fmla="val 6957"/>
            </a:avLst>
          </a:prstGeom>
          <a:solidFill>
            <a:srgbClr val="E9F1EC"/>
          </a:solidFill>
          <a:ln w="12700">
            <a:solidFill>
              <a:srgbClr val="E9F1EC"/>
            </a:solidFill>
            <a:prstDash val="solid"/>
          </a:ln>
        </p:spPr>
      </p:sp>
      <p:sp>
        <p:nvSpPr>
          <p:cNvPr id="30" name="tile value an officer&amp;apos;s manual reading of 12 months of statements per application (our estimate; pilot measures it)"/>
          <p:cNvSpPr txBox="1"/>
          <p:nvPr/>
        </p:nvSpPr>
        <p:spPr>
          <a:xfrm>
            <a:off x="7726680" y="3913632"/>
            <a:ext cx="3749040" cy="578358"/>
          </a:xfrm>
          <a:prstGeom prst="rect">
            <a:avLst/>
          </a:prstGeom>
          <a:noFill/>
          <a:ln/>
        </p:spPr>
        <p:txBody>
          <a:bodyPr wrap="square" lIns="0" tIns="0" rIns="0" bIns="0" rtlCol="0" anchor="ctr"/>
          <a:lstStyle/>
          <a:p>
            <a:pPr indent="0" marL="0">
              <a:buNone/>
            </a:pPr>
            <a:r>
              <a:rPr lang="en-US" sz="2800" b="1" dirty="0">
                <a:solidFill>
                  <a:srgbClr val="1F4E3D"/>
                </a:solidFill>
              </a:rPr>
              <a:t>60–90 min</a:t>
            </a:r>
            <a:endParaRPr lang="en-US" sz="2800" dirty="0"/>
          </a:p>
        </p:txBody>
      </p:sp>
      <p:sp>
        <p:nvSpPr>
          <p:cNvPr id="31" name="tile label an officer&amp;apos;s manual reading of 12 months of statements per application (our estimate; pilot measures it)"/>
          <p:cNvSpPr txBox="1"/>
          <p:nvPr/>
        </p:nvSpPr>
        <p:spPr>
          <a:xfrm>
            <a:off x="7726680" y="4450385"/>
            <a:ext cx="3749040" cy="420624"/>
          </a:xfrm>
          <a:prstGeom prst="rect">
            <a:avLst/>
          </a:prstGeom>
          <a:noFill/>
          <a:ln/>
        </p:spPr>
        <p:txBody>
          <a:bodyPr wrap="square" lIns="0" tIns="0" rIns="0" bIns="0" rtlCol="0" anchor="t"/>
          <a:lstStyle/>
          <a:p>
            <a:pPr indent="0" marL="0">
              <a:buNone/>
            </a:pPr>
            <a:r>
              <a:rPr lang="en-US" sz="1100" dirty="0">
                <a:solidFill>
                  <a:srgbClr val="5C6B63"/>
                </a:solidFill>
              </a:rPr>
              <a:t>an officer's manual reading of 12 months of statements per application (our estimate; pilot measures it)</a:t>
            </a:r>
            <a:endParaRPr lang="en-US" sz="1100" dirty="0"/>
          </a:p>
        </p:txBody>
      </p:sp>
      <p:sp>
        <p:nvSpPr>
          <p:cNvPr id="32" name="tile of official income records for ~790k registered self-employed (untaxed, unfiled, no cash register required)"/>
          <p:cNvSpPr/>
          <p:nvPr/>
        </p:nvSpPr>
        <p:spPr>
          <a:xfrm>
            <a:off x="7589520" y="5074920"/>
            <a:ext cx="4023360" cy="1051560"/>
          </a:xfrm>
          <a:prstGeom prst="roundRect">
            <a:avLst>
              <a:gd name="adj" fmla="val 6957"/>
            </a:avLst>
          </a:prstGeom>
          <a:solidFill>
            <a:srgbClr val="E9F1EC"/>
          </a:solidFill>
          <a:ln w="12700">
            <a:solidFill>
              <a:srgbClr val="E9F1EC"/>
            </a:solidFill>
            <a:prstDash val="solid"/>
          </a:ln>
        </p:spPr>
      </p:sp>
      <p:sp>
        <p:nvSpPr>
          <p:cNvPr id="33" name="tile value of official income records for ~790k registered self-employed (untaxed, unfiled, no cash register required)"/>
          <p:cNvSpPr txBox="1"/>
          <p:nvPr/>
        </p:nvSpPr>
        <p:spPr>
          <a:xfrm>
            <a:off x="7726680" y="5148072"/>
            <a:ext cx="3749040" cy="578358"/>
          </a:xfrm>
          <a:prstGeom prst="rect">
            <a:avLst/>
          </a:prstGeom>
          <a:noFill/>
          <a:ln/>
        </p:spPr>
        <p:txBody>
          <a:bodyPr wrap="square" lIns="0" tIns="0" rIns="0" bIns="0" rtlCol="0" anchor="ctr"/>
          <a:lstStyle/>
          <a:p>
            <a:pPr indent="0" marL="0">
              <a:buNone/>
            </a:pPr>
            <a:r>
              <a:rPr lang="en-US" sz="2800" b="1" dirty="0">
                <a:solidFill>
                  <a:srgbClr val="1F4E3D"/>
                </a:solidFill>
              </a:rPr>
              <a:t>0 lines</a:t>
            </a:r>
            <a:endParaRPr lang="en-US" sz="2800" dirty="0"/>
          </a:p>
        </p:txBody>
      </p:sp>
      <p:sp>
        <p:nvSpPr>
          <p:cNvPr id="34" name="tile label of official income records for ~790k registered self-employed (untaxed, unfiled, no cash register required)"/>
          <p:cNvSpPr txBox="1"/>
          <p:nvPr/>
        </p:nvSpPr>
        <p:spPr>
          <a:xfrm>
            <a:off x="7726680" y="5684825"/>
            <a:ext cx="3749040" cy="420624"/>
          </a:xfrm>
          <a:prstGeom prst="rect">
            <a:avLst/>
          </a:prstGeom>
          <a:noFill/>
          <a:ln/>
        </p:spPr>
        <p:txBody>
          <a:bodyPr wrap="square" lIns="0" tIns="0" rIns="0" bIns="0" rtlCol="0" anchor="t"/>
          <a:lstStyle/>
          <a:p>
            <a:pPr indent="0" marL="0">
              <a:buNone/>
            </a:pPr>
            <a:r>
              <a:rPr lang="en-US" sz="1100" dirty="0">
                <a:solidFill>
                  <a:srgbClr val="5C6B63"/>
                </a:solidFill>
              </a:rPr>
              <a:t>of official income records for ~790k registered self-employed (untaxed, unfiled, no cash register required)</a:t>
            </a:r>
            <a:endParaRPr lang="en-US" sz="1100" dirty="0"/>
          </a:p>
        </p:txBody>
      </p:sp>
      <p:sp>
        <p:nvSpPr>
          <p:cNvPr id="35" name="sources"/>
          <p:cNvSpPr txBox="1"/>
          <p:nvPr/>
        </p:nvSpPr>
        <p:spPr>
          <a:xfrm>
            <a:off x="548640" y="6172200"/>
            <a:ext cx="10972800" cy="274320"/>
          </a:xfrm>
          <a:prstGeom prst="rect">
            <a:avLst/>
          </a:prstGeom>
          <a:noFill/>
          <a:ln/>
        </p:spPr>
        <p:txBody>
          <a:bodyPr wrap="square" lIns="0" tIns="0" rIns="0" bIns="0" rtlCol="0" anchor="ctr"/>
          <a:lstStyle/>
          <a:p>
            <a:pPr indent="0" marL="0">
              <a:buNone/>
            </a:pPr>
            <a:r>
              <a:rPr lang="en-US" sz="900" dirty="0">
                <a:solidFill>
                  <a:srgbClr val="5C6B63"/>
                </a:solidFill>
              </a:rPr>
              <a:t>Sources: lex.uz/docs/4654149 and 6809992 (CBU regulation and 2024 amendments) · spot.uz 27 Mar 2026 (MKBANK, bank's own figures) · yuz.uz (self-employed registrations, 2021) · buxgalter.uz</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What the officer gets in under five seconds</a:t>
            </a:r>
            <a:endParaRPr lang="en-US" sz="2800" dirty="0"/>
          </a:p>
        </p:txBody>
      </p:sp>
      <p:pic>
        <p:nvPicPr>
          <p:cNvPr id="4" name="screenshot income and pdn" descr="/home/claude/daromad/deck/img/income_pdn.png">    </p:cNvPr>
          <p:cNvPicPr>
            <a:picLocks noChangeAspect="1"/>
          </p:cNvPicPr>
          <p:nvPr/>
        </p:nvPicPr>
        <p:blipFill>
          <a:blip r:embed="rId1"/>
          <a:stretch>
            <a:fillRect/>
          </a:stretch>
        </p:blipFill>
        <p:spPr>
          <a:xfrm>
            <a:off x="548640" y="1325880"/>
            <a:ext cx="7863840" cy="2743200"/>
          </a:xfrm>
          <a:prstGeom prst="rect">
            <a:avLst/>
          </a:prstGeom>
        </p:spPr>
      </p:pic>
      <p:pic>
        <p:nvPicPr>
          <p:cNvPr id="5" name="screenshot memo" descr="/home/claude/daromad/deck/img/memo.png">    </p:cNvPr>
          <p:cNvPicPr>
            <a:picLocks noChangeAspect="1"/>
          </p:cNvPicPr>
          <p:nvPr/>
        </p:nvPicPr>
        <p:blipFill>
          <a:blip r:embed="rId2"/>
          <a:stretch>
            <a:fillRect/>
          </a:stretch>
        </p:blipFill>
        <p:spPr>
          <a:xfrm>
            <a:off x="548640" y="4206240"/>
            <a:ext cx="7863840" cy="2103120"/>
          </a:xfrm>
          <a:prstGeom prst="rect">
            <a:avLst/>
          </a:prstGeom>
        </p:spPr>
      </p:pic>
      <p:sp>
        <p:nvSpPr>
          <p:cNvPr id="6" name="got circle 0"/>
          <p:cNvSpPr/>
          <p:nvPr/>
        </p:nvSpPr>
        <p:spPr>
          <a:xfrm>
            <a:off x="8686800" y="1371600"/>
            <a:ext cx="457200" cy="457200"/>
          </a:xfrm>
          <a:prstGeom prst="ellipse">
            <a:avLst/>
          </a:prstGeom>
          <a:solidFill>
            <a:srgbClr val="1F4E3D"/>
          </a:solidFill>
          <a:ln w="12700">
            <a:solidFill>
              <a:srgbClr val="1F4E3D"/>
            </a:solidFill>
            <a:prstDash val="solid"/>
          </a:ln>
        </p:spPr>
      </p:sp>
      <p:pic>
        <p:nvPicPr>
          <p:cNvPr id="7" name="got icon 0" descr="preencoded.png">    </p:cNvPr>
          <p:cNvPicPr>
            <a:picLocks noChangeAspect="1"/>
          </p:cNvPicPr>
          <p:nvPr/>
        </p:nvPicPr>
        <p:blipFill>
          <a:blip r:embed="rId3"/>
          <a:stretch>
            <a:fillRect/>
          </a:stretch>
        </p:blipFill>
        <p:spPr>
          <a:xfrm>
            <a:off x="8778240" y="1463040"/>
            <a:ext cx="274320" cy="274320"/>
          </a:xfrm>
          <a:prstGeom prst="rect">
            <a:avLst/>
          </a:prstGeom>
        </p:spPr>
      </p:pic>
      <p:sp>
        <p:nvSpPr>
          <p:cNvPr id="8" name="got head 0"/>
          <p:cNvSpPr txBox="1"/>
          <p:nvPr/>
        </p:nvSpPr>
        <p:spPr>
          <a:xfrm>
            <a:off x="9281160" y="1325880"/>
            <a:ext cx="2468880" cy="365760"/>
          </a:xfrm>
          <a:prstGeom prst="rect">
            <a:avLst/>
          </a:prstGeom>
          <a:noFill/>
          <a:ln/>
        </p:spPr>
        <p:txBody>
          <a:bodyPr wrap="square" lIns="0" tIns="0" rIns="0" bIns="0" rtlCol="0" anchor="ctr"/>
          <a:lstStyle/>
          <a:p>
            <a:pPr indent="0" marL="0">
              <a:buNone/>
            </a:pPr>
            <a:r>
              <a:rPr lang="en-US" sz="1400" b="1" dirty="0">
                <a:solidFill>
                  <a:srgbClr val="1F4E3D"/>
                </a:solidFill>
              </a:rPr>
              <a:t>12-month regulatory income</a:t>
            </a:r>
            <a:endParaRPr lang="en-US" sz="1400" dirty="0"/>
          </a:p>
        </p:txBody>
      </p:sp>
      <p:sp>
        <p:nvSpPr>
          <p:cNvPr id="9" name="got text 0"/>
          <p:cNvSpPr txBox="1"/>
          <p:nvPr/>
        </p:nvSpPr>
        <p:spPr>
          <a:xfrm>
            <a:off x="9281160" y="1709928"/>
            <a:ext cx="2468880" cy="822960"/>
          </a:xfrm>
          <a:prstGeom prst="rect">
            <a:avLst/>
          </a:prstGeom>
          <a:noFill/>
          <a:ln/>
        </p:spPr>
        <p:txBody>
          <a:bodyPr wrap="square" lIns="0" tIns="0" rIns="0" bIns="0" rtlCol="0" anchor="t"/>
          <a:lstStyle/>
          <a:p>
            <a:pPr indent="0" marL="0">
              <a:buNone/>
            </a:pPr>
            <a:r>
              <a:rPr lang="en-US" sz="1050" dirty="0">
                <a:solidFill>
                  <a:srgbClr val="17201B"/>
                </a:solidFill>
              </a:rPr>
              <a:t>cl.7 mean, cl.9 definition; own-card transfers, loan proceeds, refunds and cash deposits excluded</a:t>
            </a:r>
            <a:endParaRPr lang="en-US" sz="1050" dirty="0"/>
          </a:p>
        </p:txBody>
      </p:sp>
      <p:sp>
        <p:nvSpPr>
          <p:cNvPr id="10" name="got circle 1"/>
          <p:cNvSpPr/>
          <p:nvPr/>
        </p:nvSpPr>
        <p:spPr>
          <a:xfrm>
            <a:off x="8686800" y="2633472"/>
            <a:ext cx="457200" cy="457200"/>
          </a:xfrm>
          <a:prstGeom prst="ellipse">
            <a:avLst/>
          </a:prstGeom>
          <a:solidFill>
            <a:srgbClr val="1F4E3D"/>
          </a:solidFill>
          <a:ln w="12700">
            <a:solidFill>
              <a:srgbClr val="1F4E3D"/>
            </a:solidFill>
            <a:prstDash val="solid"/>
          </a:ln>
        </p:spPr>
      </p:sp>
      <p:pic>
        <p:nvPicPr>
          <p:cNvPr id="11" name="got icon 1" descr="preencoded.png">    </p:cNvPr>
          <p:cNvPicPr>
            <a:picLocks noChangeAspect="1"/>
          </p:cNvPicPr>
          <p:nvPr/>
        </p:nvPicPr>
        <p:blipFill>
          <a:blip r:embed="rId4"/>
          <a:stretch>
            <a:fillRect/>
          </a:stretch>
        </p:blipFill>
        <p:spPr>
          <a:xfrm>
            <a:off x="8778240" y="2724912"/>
            <a:ext cx="274320" cy="274320"/>
          </a:xfrm>
          <a:prstGeom prst="rect">
            <a:avLst/>
          </a:prstGeom>
        </p:spPr>
      </p:pic>
      <p:sp>
        <p:nvSpPr>
          <p:cNvPr id="12" name="got head 1"/>
          <p:cNvSpPr txBox="1"/>
          <p:nvPr/>
        </p:nvSpPr>
        <p:spPr>
          <a:xfrm>
            <a:off x="9281160" y="2587752"/>
            <a:ext cx="2468880" cy="365760"/>
          </a:xfrm>
          <a:prstGeom prst="rect">
            <a:avLst/>
          </a:prstGeom>
          <a:noFill/>
          <a:ln/>
        </p:spPr>
        <p:txBody>
          <a:bodyPr wrap="square" lIns="0" tIns="0" rIns="0" bIns="0" rtlCol="0" anchor="ctr"/>
          <a:lstStyle/>
          <a:p>
            <a:pPr indent="0" marL="0">
              <a:buNone/>
            </a:pPr>
            <a:r>
              <a:rPr lang="en-US" sz="1400" b="1" dirty="0">
                <a:solidFill>
                  <a:srgbClr val="1F4E3D"/>
                </a:solidFill>
              </a:rPr>
              <a:t>ПДН with citations</a:t>
            </a:r>
            <a:endParaRPr lang="en-US" sz="1400" dirty="0"/>
          </a:p>
        </p:txBody>
      </p:sp>
      <p:sp>
        <p:nvSpPr>
          <p:cNvPr id="13" name="got text 1"/>
          <p:cNvSpPr txBox="1"/>
          <p:nvPr/>
        </p:nvSpPr>
        <p:spPr>
          <a:xfrm>
            <a:off x="9281160" y="2971800"/>
            <a:ext cx="2468880" cy="822960"/>
          </a:xfrm>
          <a:prstGeom prst="rect">
            <a:avLst/>
          </a:prstGeom>
          <a:noFill/>
          <a:ln/>
        </p:spPr>
        <p:txBody>
          <a:bodyPr wrap="square" lIns="0" tIns="0" rIns="0" bIns="0" rtlCol="0" anchor="t"/>
          <a:lstStyle/>
          <a:p>
            <a:pPr indent="0" marL="0">
              <a:buNone/>
            </a:pPr>
            <a:r>
              <a:rPr lang="en-US" sz="1050" dirty="0">
                <a:solidFill>
                  <a:srgbClr val="17201B"/>
                </a:solidFill>
              </a:rPr>
              <a:t>36-month spreading, guarantor rule, 50-BRV and family-programme exemptions, 50% cap, maximum affordable amount</a:t>
            </a:r>
            <a:endParaRPr lang="en-US" sz="1050" dirty="0"/>
          </a:p>
        </p:txBody>
      </p:sp>
      <p:sp>
        <p:nvSpPr>
          <p:cNvPr id="14" name="got circle 2"/>
          <p:cNvSpPr/>
          <p:nvPr/>
        </p:nvSpPr>
        <p:spPr>
          <a:xfrm>
            <a:off x="8686800" y="3895344"/>
            <a:ext cx="457200" cy="457200"/>
          </a:xfrm>
          <a:prstGeom prst="ellipse">
            <a:avLst/>
          </a:prstGeom>
          <a:solidFill>
            <a:srgbClr val="1F4E3D"/>
          </a:solidFill>
          <a:ln w="12700">
            <a:solidFill>
              <a:srgbClr val="1F4E3D"/>
            </a:solidFill>
            <a:prstDash val="solid"/>
          </a:ln>
        </p:spPr>
      </p:sp>
      <p:pic>
        <p:nvPicPr>
          <p:cNvPr id="15" name="got icon 2" descr="preencoded.png">    </p:cNvPr>
          <p:cNvPicPr>
            <a:picLocks noChangeAspect="1"/>
          </p:cNvPicPr>
          <p:nvPr/>
        </p:nvPicPr>
        <p:blipFill>
          <a:blip r:embed="rId5"/>
          <a:stretch>
            <a:fillRect/>
          </a:stretch>
        </p:blipFill>
        <p:spPr>
          <a:xfrm>
            <a:off x="8778240" y="3986784"/>
            <a:ext cx="274320" cy="274320"/>
          </a:xfrm>
          <a:prstGeom prst="rect">
            <a:avLst/>
          </a:prstGeom>
        </p:spPr>
      </p:pic>
      <p:sp>
        <p:nvSpPr>
          <p:cNvPr id="16" name="got head 2"/>
          <p:cNvSpPr txBox="1"/>
          <p:nvPr/>
        </p:nvSpPr>
        <p:spPr>
          <a:xfrm>
            <a:off x="9281160" y="3849624"/>
            <a:ext cx="2468880" cy="365760"/>
          </a:xfrm>
          <a:prstGeom prst="rect">
            <a:avLst/>
          </a:prstGeom>
          <a:noFill/>
          <a:ln/>
        </p:spPr>
        <p:txBody>
          <a:bodyPr wrap="square" lIns="0" tIns="0" rIns="0" bIns="0" rtlCol="0" anchor="ctr"/>
          <a:lstStyle/>
          <a:p>
            <a:pPr indent="0" marL="0">
              <a:buNone/>
            </a:pPr>
            <a:r>
              <a:rPr lang="en-US" sz="1400" b="1" dirty="0">
                <a:solidFill>
                  <a:srgbClr val="1F4E3D"/>
                </a:solidFill>
              </a:rPr>
              <a:t>Integrity report</a:t>
            </a:r>
            <a:endParaRPr lang="en-US" sz="1400" dirty="0"/>
          </a:p>
        </p:txBody>
      </p:sp>
      <p:sp>
        <p:nvSpPr>
          <p:cNvPr id="17" name="got text 2"/>
          <p:cNvSpPr txBox="1"/>
          <p:nvPr/>
        </p:nvSpPr>
        <p:spPr>
          <a:xfrm>
            <a:off x="9281160" y="4233672"/>
            <a:ext cx="2468880" cy="822960"/>
          </a:xfrm>
          <a:prstGeom prst="rect">
            <a:avLst/>
          </a:prstGeom>
          <a:noFill/>
          <a:ln/>
        </p:spPr>
        <p:txBody>
          <a:bodyPr wrap="square" lIns="0" tIns="0" rIns="0" bIns="0" rtlCol="0" anchor="t"/>
          <a:lstStyle/>
          <a:p>
            <a:pPr indent="0" marL="0">
              <a:buNone/>
            </a:pPr>
            <a:r>
              <a:rPr lang="en-US" sz="1050" dirty="0">
                <a:solidFill>
                  <a:srgbClr val="17201B"/>
                </a:solidFill>
              </a:rPr>
              <a:t>balance chain, duplicates, coverage, gaps, pre-application spikes, circular transfers, holder match</a:t>
            </a:r>
            <a:endParaRPr lang="en-US" sz="1050" dirty="0"/>
          </a:p>
        </p:txBody>
      </p:sp>
      <p:sp>
        <p:nvSpPr>
          <p:cNvPr id="18" name="got circle 3"/>
          <p:cNvSpPr/>
          <p:nvPr/>
        </p:nvSpPr>
        <p:spPr>
          <a:xfrm>
            <a:off x="8686800" y="5157216"/>
            <a:ext cx="457200" cy="457200"/>
          </a:xfrm>
          <a:prstGeom prst="ellipse">
            <a:avLst/>
          </a:prstGeom>
          <a:solidFill>
            <a:srgbClr val="1F4E3D"/>
          </a:solidFill>
          <a:ln w="12700">
            <a:solidFill>
              <a:srgbClr val="1F4E3D"/>
            </a:solidFill>
            <a:prstDash val="solid"/>
          </a:ln>
        </p:spPr>
      </p:sp>
      <p:pic>
        <p:nvPicPr>
          <p:cNvPr id="19" name="got icon 3" descr="preencoded.png">    </p:cNvPr>
          <p:cNvPicPr>
            <a:picLocks noChangeAspect="1"/>
          </p:cNvPicPr>
          <p:nvPr/>
        </p:nvPicPr>
        <p:blipFill>
          <a:blip r:embed="rId6"/>
          <a:stretch>
            <a:fillRect/>
          </a:stretch>
        </p:blipFill>
        <p:spPr>
          <a:xfrm>
            <a:off x="8778240" y="5248656"/>
            <a:ext cx="274320" cy="274320"/>
          </a:xfrm>
          <a:prstGeom prst="rect">
            <a:avLst/>
          </a:prstGeom>
        </p:spPr>
      </p:pic>
      <p:sp>
        <p:nvSpPr>
          <p:cNvPr id="20" name="got head 3"/>
          <p:cNvSpPr txBox="1"/>
          <p:nvPr/>
        </p:nvSpPr>
        <p:spPr>
          <a:xfrm>
            <a:off x="9281160" y="5111496"/>
            <a:ext cx="2468880" cy="365760"/>
          </a:xfrm>
          <a:prstGeom prst="rect">
            <a:avLst/>
          </a:prstGeom>
          <a:noFill/>
          <a:ln/>
        </p:spPr>
        <p:txBody>
          <a:bodyPr wrap="square" lIns="0" tIns="0" rIns="0" bIns="0" rtlCol="0" anchor="ctr"/>
          <a:lstStyle/>
          <a:p>
            <a:pPr indent="0" marL="0">
              <a:buNone/>
            </a:pPr>
            <a:r>
              <a:rPr lang="en-US" sz="1400" b="1" dirty="0">
                <a:solidFill>
                  <a:srgbClr val="1F4E3D"/>
                </a:solidFill>
              </a:rPr>
              <a:t>Verified memo</a:t>
            </a:r>
            <a:endParaRPr lang="en-US" sz="1400" dirty="0"/>
          </a:p>
        </p:txBody>
      </p:sp>
      <p:sp>
        <p:nvSpPr>
          <p:cNvPr id="21" name="got text 3"/>
          <p:cNvSpPr txBox="1"/>
          <p:nvPr/>
        </p:nvSpPr>
        <p:spPr>
          <a:xfrm>
            <a:off x="9281160" y="5495544"/>
            <a:ext cx="2468880" cy="822960"/>
          </a:xfrm>
          <a:prstGeom prst="rect">
            <a:avLst/>
          </a:prstGeom>
          <a:noFill/>
          <a:ln/>
        </p:spPr>
        <p:txBody>
          <a:bodyPr wrap="square" lIns="0" tIns="0" rIns="0" bIns="0" rtlCol="0" anchor="t"/>
          <a:lstStyle/>
          <a:p>
            <a:pPr indent="0" marL="0">
              <a:buNone/>
            </a:pPr>
            <a:r>
              <a:rPr lang="en-US" sz="1050" dirty="0">
                <a:solidFill>
                  <a:srgbClr val="17201B"/>
                </a:solidFill>
              </a:rPr>
              <a:t>every number traces to its source — statement lines (click to open them), a clause, or the model; the verifier refuses unsourced numbers; hash-chained audit log</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Live demo — on our samples and on anything you upload</a:t>
            </a:r>
            <a:endParaRPr lang="en-US" sz="2800" dirty="0"/>
          </a:p>
        </p:txBody>
      </p:sp>
      <p:sp>
        <p:nvSpPr>
          <p:cNvPr id="4" name="url box"/>
          <p:cNvSpPr/>
          <p:nvPr/>
        </p:nvSpPr>
        <p:spPr>
          <a:xfrm>
            <a:off x="548640" y="1325880"/>
            <a:ext cx="5577840" cy="1188720"/>
          </a:xfrm>
          <a:prstGeom prst="roundRect">
            <a:avLst>
              <a:gd name="adj" fmla="val 7692"/>
            </a:avLst>
          </a:prstGeom>
          <a:solidFill>
            <a:srgbClr val="1F4E3D"/>
          </a:solidFill>
          <a:ln w="12700">
            <a:solidFill>
              <a:srgbClr val="1F4E3D"/>
            </a:solidFill>
            <a:prstDash val="solid"/>
          </a:ln>
        </p:spPr>
      </p:sp>
      <p:pic>
        <p:nvPicPr>
          <p:cNvPr id="5" name="globe" descr="preencoded.png">    </p:cNvPr>
          <p:cNvPicPr>
            <a:picLocks noChangeAspect="1"/>
          </p:cNvPicPr>
          <p:nvPr/>
        </p:nvPicPr>
        <p:blipFill>
          <a:blip r:embed="rId1"/>
          <a:stretch>
            <a:fillRect/>
          </a:stretch>
        </p:blipFill>
        <p:spPr>
          <a:xfrm>
            <a:off x="731520" y="1691640"/>
            <a:ext cx="457200" cy="457200"/>
          </a:xfrm>
          <a:prstGeom prst="rect">
            <a:avLst/>
          </a:prstGeom>
        </p:spPr>
      </p:pic>
      <p:sp>
        <p:nvSpPr>
          <p:cNvPr id="6" name="url"/>
          <p:cNvSpPr txBox="1"/>
          <p:nvPr/>
        </p:nvSpPr>
        <p:spPr>
          <a:xfrm>
            <a:off x="1325880" y="1371600"/>
            <a:ext cx="4663440" cy="1097280"/>
          </a:xfrm>
          <a:prstGeom prst="rect">
            <a:avLst/>
          </a:prstGeom>
          <a:noFill/>
          <a:ln/>
        </p:spPr>
        <p:txBody>
          <a:bodyPr wrap="square" lIns="0" tIns="0" rIns="0" bIns="0" rtlCol="0" anchor="ctr"/>
          <a:lstStyle/>
          <a:p>
            <a:pPr indent="0" marL="0">
              <a:buNone/>
            </a:pPr>
            <a:r>
              <a:rPr lang="en-US" sz="1200" dirty="0">
                <a:solidFill>
                  <a:srgbClr val="8FB8A5"/>
                </a:solidFill>
              </a:rPr>
              <a:t>Open on your laptop or phone
</a:t>
            </a:r>
            <a:pPr indent="0" marL="0">
              <a:buNone/>
            </a:pPr>
            <a:r>
              <a:rPr lang="en-US" sz="1800" b="1" dirty="0">
                <a:solidFill>
                  <a:srgbClr val="FFFFFF"/>
                </a:solidFill>
              </a:rPr>
              <a:t>https://tys-fintech.vercel.app</a:t>
            </a:r>
            <a:endParaRPr lang="en-US" sz="1200" dirty="0"/>
          </a:p>
        </p:txBody>
      </p:sp>
      <p:sp>
        <p:nvSpPr>
          <p:cNvPr id="7" name="demo steps"/>
          <p:cNvSpPr txBox="1"/>
          <p:nvPr/>
        </p:nvSpPr>
        <p:spPr>
          <a:xfrm>
            <a:off x="548640" y="2697480"/>
            <a:ext cx="5577840" cy="3566160"/>
          </a:xfrm>
          <a:prstGeom prst="rect">
            <a:avLst/>
          </a:prstGeom>
          <a:noFill/>
          <a:ln/>
        </p:spPr>
        <p:txBody>
          <a:bodyPr wrap="square" lIns="0" tIns="0" rIns="0" bIns="0" rtlCol="0" anchor="t"/>
          <a:lstStyle/>
          <a:p>
            <a:pPr indent="0" marL="0">
              <a:spcAft>
                <a:spcPts val="700"/>
              </a:spcAft>
              <a:buNone/>
            </a:pPr>
            <a:r>
              <a:rPr lang="en-US" sz="1250" dirty="0">
                <a:solidFill>
                  <a:srgbClr val="17201B"/>
                </a:solidFill>
              </a:rPr>
              <a:t>1.  Load sample A — statement PDF, Soliq certificate, receipt photo parse in the tab (no server, no API)</a:t>
            </a:r>
            <a:endParaRPr lang="en-US" sz="1250" dirty="0"/>
          </a:p>
          <a:p>
            <a:pPr indent="0" marL="0">
              <a:spcAft>
                <a:spcPts val="700"/>
              </a:spcAft>
              <a:buNone/>
            </a:pPr>
            <a:r>
              <a:rPr lang="en-US" sz="1250" dirty="0">
                <a:solidFill>
                  <a:srgbClr val="17201B"/>
                </a:solidFill>
              </a:rPr>
              <a:t>2.  Income series, ПДН with clause citations, maximum affordable amount; drag the slider to cross the 50% cap</a:t>
            </a:r>
            <a:endParaRPr lang="en-US" sz="1250" dirty="0"/>
          </a:p>
          <a:p>
            <a:pPr indent="0" marL="0">
              <a:spcAft>
                <a:spcPts val="700"/>
              </a:spcAft>
              <a:buNone/>
            </a:pPr>
            <a:r>
              <a:rPr lang="en-US" sz="1250" dirty="0">
                <a:solidFill>
                  <a:srgbClr val="17201B"/>
                </a:solidFill>
              </a:rPr>
              <a:t>3.  Integrity checks and risk score with drivers; click any evidence link to see the statement line</a:t>
            </a:r>
            <a:endParaRPr lang="en-US" sz="1250" dirty="0"/>
          </a:p>
          <a:p>
            <a:pPr indent="0" marL="0">
              <a:spcAft>
                <a:spcPts val="700"/>
              </a:spcAft>
              <a:buNone/>
            </a:pPr>
            <a:r>
              <a:rPr lang="en-US" sz="1250" dirty="0">
                <a:solidFill>
                  <a:srgbClr val="17201B"/>
                </a:solidFill>
              </a:rPr>
              <a:t>4.  Memo: verifier badge shows how many numbers were checked and that none is unsourced</a:t>
            </a:r>
            <a:endParaRPr lang="en-US" sz="1250" dirty="0"/>
          </a:p>
          <a:p>
            <a:pPr indent="0" marL="0">
              <a:spcAft>
                <a:spcPts val="700"/>
              </a:spcAft>
              <a:buNone/>
            </a:pPr>
            <a:r>
              <a:rPr lang="en-US" sz="1250" dirty="0">
                <a:solidFill>
                  <a:srgbClr val="17201B"/>
                </a:solidFill>
              </a:rPr>
              <a:t>5.  Record the decision; export the case with its hash-chained audit log</a:t>
            </a:r>
            <a:endParaRPr lang="en-US" sz="1250" dirty="0"/>
          </a:p>
          <a:p>
            <a:pPr indent="0" marL="0">
              <a:spcAft>
                <a:spcPts val="700"/>
              </a:spcAft>
              <a:buNone/>
            </a:pPr>
            <a:r>
              <a:rPr lang="en-US" sz="1250" dirty="0">
                <a:solidFill>
                  <a:srgbClr val="17201B"/>
                </a:solidFill>
              </a:rPr>
              <a:t>6.  Then: Load tampered statement — the balance chain breaks at the inflated inflow; upload your own documents</a:t>
            </a:r>
            <a:endParaRPr lang="en-US" sz="1250" dirty="0"/>
          </a:p>
        </p:txBody>
      </p:sp>
      <p:pic>
        <p:nvPicPr>
          <p:cNvPr id="8" name="screenshot integrity" descr="/home/claude/daromad/deck/img/integrity_risk.png">    </p:cNvPr>
          <p:cNvPicPr>
            <a:picLocks noChangeAspect="1"/>
          </p:cNvPicPr>
          <p:nvPr/>
        </p:nvPicPr>
        <p:blipFill>
          <a:blip r:embed="rId2"/>
          <a:stretch>
            <a:fillRect/>
          </a:stretch>
        </p:blipFill>
        <p:spPr>
          <a:xfrm>
            <a:off x="6400800" y="1325880"/>
            <a:ext cx="5303520" cy="2313432"/>
          </a:xfrm>
          <a:prstGeom prst="rect">
            <a:avLst/>
          </a:prstGeom>
        </p:spPr>
      </p:pic>
      <p:pic>
        <p:nvPicPr>
          <p:cNvPr id="9" name="screenshot tamper" descr="/home/claude/daromad/deck/img/tamper.png">    </p:cNvPr>
          <p:cNvPicPr>
            <a:picLocks noChangeAspect="1"/>
          </p:cNvPicPr>
          <p:nvPr/>
        </p:nvPicPr>
        <p:blipFill>
          <a:blip r:embed="rId3"/>
          <a:stretch>
            <a:fillRect/>
          </a:stretch>
        </p:blipFill>
        <p:spPr>
          <a:xfrm>
            <a:off x="6400800" y="3794760"/>
            <a:ext cx="3108960" cy="1600200"/>
          </a:xfrm>
          <a:prstGeom prst="rect">
            <a:avLst/>
          </a:prstGeom>
        </p:spPr>
      </p:pic>
      <p:pic>
        <p:nvPicPr>
          <p:cNvPr id="10" name="qr site" descr="/home/claude/daromad/deck/img/qr_site.png">    </p:cNvPr>
          <p:cNvPicPr>
            <a:picLocks noChangeAspect="1"/>
          </p:cNvPicPr>
          <p:nvPr/>
        </p:nvPicPr>
        <p:blipFill>
          <a:blip r:embed="rId4"/>
          <a:stretch>
            <a:fillRect/>
          </a:stretch>
        </p:blipFill>
        <p:spPr>
          <a:xfrm>
            <a:off x="9692640" y="3703320"/>
            <a:ext cx="1828800" cy="1828800"/>
          </a:xfrm>
          <a:prstGeom prst="rect">
            <a:avLst/>
          </a:prstGeom>
        </p:spPr>
      </p:pic>
      <p:sp>
        <p:nvSpPr>
          <p:cNvPr id="11" name="qr caption"/>
          <p:cNvSpPr txBox="1"/>
          <p:nvPr/>
        </p:nvSpPr>
        <p:spPr>
          <a:xfrm>
            <a:off x="6400800" y="5577840"/>
            <a:ext cx="5303520" cy="457200"/>
          </a:xfrm>
          <a:prstGeom prst="rect">
            <a:avLst/>
          </a:prstGeom>
          <a:noFill/>
          <a:ln/>
        </p:spPr>
        <p:txBody>
          <a:bodyPr wrap="square" lIns="0" tIns="0" rIns="0" bIns="0" rtlCol="0" anchor="ctr"/>
          <a:lstStyle/>
          <a:p>
            <a:pPr indent="0" marL="0">
              <a:buNone/>
            </a:pPr>
            <a:r>
              <a:rPr lang="en-US" sz="1000" dirty="0">
                <a:solidFill>
                  <a:srgbClr val="5C6B63"/>
                </a:solidFill>
              </a:rPr>
              <a:t>Scan to open the live prototype on your phone (New case → Load sample A)</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Seven components, one optional language model, zero API keys</a:t>
            </a:r>
            <a:endParaRPr lang="en-US" sz="2800" dirty="0"/>
          </a:p>
        </p:txBody>
      </p:sp>
      <p:sp>
        <p:nvSpPr>
          <p:cNvPr id="4" name="component 0"/>
          <p:cNvSpPr/>
          <p:nvPr/>
        </p:nvSpPr>
        <p:spPr>
          <a:xfrm>
            <a:off x="548640" y="1325880"/>
            <a:ext cx="2697480" cy="1828800"/>
          </a:xfrm>
          <a:prstGeom prst="roundRect">
            <a:avLst>
              <a:gd name="adj" fmla="val 4000"/>
            </a:avLst>
          </a:prstGeom>
          <a:solidFill>
            <a:srgbClr val="E9F1EC"/>
          </a:solidFill>
          <a:ln w="12700">
            <a:solidFill>
              <a:srgbClr val="E9F1EC"/>
            </a:solidFill>
            <a:prstDash val="solid"/>
          </a:ln>
        </p:spPr>
      </p:sp>
      <p:sp>
        <p:nvSpPr>
          <p:cNvPr id="5" name="comp circle 0"/>
          <p:cNvSpPr/>
          <p:nvPr/>
        </p:nvSpPr>
        <p:spPr>
          <a:xfrm>
            <a:off x="685800" y="1463040"/>
            <a:ext cx="457200" cy="457200"/>
          </a:xfrm>
          <a:prstGeom prst="ellipse">
            <a:avLst/>
          </a:prstGeom>
          <a:solidFill>
            <a:srgbClr val="1F4E3D"/>
          </a:solidFill>
          <a:ln w="12700">
            <a:solidFill>
              <a:srgbClr val="1F4E3D"/>
            </a:solidFill>
            <a:prstDash val="solid"/>
          </a:ln>
        </p:spPr>
      </p:sp>
      <p:pic>
        <p:nvPicPr>
          <p:cNvPr id="6" name="comp icon 0"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7" name="comp head 0"/>
          <p:cNvSpPr txBox="1"/>
          <p:nvPr/>
        </p:nvSpPr>
        <p:spPr>
          <a:xfrm>
            <a:off x="1234440" y="1463040"/>
            <a:ext cx="1874520" cy="457200"/>
          </a:xfrm>
          <a:prstGeom prst="rect">
            <a:avLst/>
          </a:prstGeom>
          <a:noFill/>
          <a:ln/>
        </p:spPr>
        <p:txBody>
          <a:bodyPr wrap="square" lIns="0" tIns="0" rIns="0" bIns="0" rtlCol="0" anchor="ctr"/>
          <a:lstStyle/>
          <a:p>
            <a:pPr indent="0" marL="0">
              <a:buNone/>
            </a:pPr>
            <a:r>
              <a:rPr lang="en-US" sz="1400" b="1" dirty="0">
                <a:solidFill>
                  <a:srgbClr val="1F4E3D"/>
                </a:solidFill>
              </a:rPr>
              <a:t>1 · Intake</a:t>
            </a:r>
            <a:endParaRPr lang="en-US" sz="1400" dirty="0"/>
          </a:p>
        </p:txBody>
      </p:sp>
      <p:sp>
        <p:nvSpPr>
          <p:cNvPr id="8" name="comp text 0"/>
          <p:cNvSpPr txBox="1"/>
          <p:nvPr/>
        </p:nvSpPr>
        <p:spPr>
          <a:xfrm>
            <a:off x="685800" y="2011680"/>
            <a:ext cx="2423160" cy="1051560"/>
          </a:xfrm>
          <a:prstGeom prst="rect">
            <a:avLst/>
          </a:prstGeom>
          <a:noFill/>
          <a:ln/>
        </p:spPr>
        <p:txBody>
          <a:bodyPr wrap="square" lIns="0" tIns="0" rIns="0" bIns="0" rtlCol="0" anchor="t"/>
          <a:lstStyle/>
          <a:p>
            <a:pPr indent="0" marL="0">
              <a:buNone/>
            </a:pPr>
            <a:r>
              <a:rPr lang="en-US" sz="1050" dirty="0">
                <a:solidFill>
                  <a:srgbClr val="17201B"/>
                </a:solidFill>
              </a:rPr>
              <a:t>pdf.js with coordinates; XLSX/CSV; tesseract.js OCR uzb+rus+eng, self-hosted; field confidence, tap-to-confirm</a:t>
            </a:r>
            <a:endParaRPr lang="en-US" sz="1050" dirty="0"/>
          </a:p>
        </p:txBody>
      </p:sp>
      <p:sp>
        <p:nvSpPr>
          <p:cNvPr id="9" name="component 1"/>
          <p:cNvSpPr/>
          <p:nvPr/>
        </p:nvSpPr>
        <p:spPr>
          <a:xfrm>
            <a:off x="3383280" y="1325880"/>
            <a:ext cx="2697480" cy="1828800"/>
          </a:xfrm>
          <a:prstGeom prst="roundRect">
            <a:avLst>
              <a:gd name="adj" fmla="val 4000"/>
            </a:avLst>
          </a:prstGeom>
          <a:solidFill>
            <a:srgbClr val="E9F1EC"/>
          </a:solidFill>
          <a:ln w="12700">
            <a:solidFill>
              <a:srgbClr val="E9F1EC"/>
            </a:solidFill>
            <a:prstDash val="solid"/>
          </a:ln>
        </p:spPr>
      </p:sp>
      <p:sp>
        <p:nvSpPr>
          <p:cNvPr id="10" name="comp circle 1"/>
          <p:cNvSpPr/>
          <p:nvPr/>
        </p:nvSpPr>
        <p:spPr>
          <a:xfrm>
            <a:off x="3520440" y="1463040"/>
            <a:ext cx="457200" cy="457200"/>
          </a:xfrm>
          <a:prstGeom prst="ellipse">
            <a:avLst/>
          </a:prstGeom>
          <a:solidFill>
            <a:srgbClr val="1F4E3D"/>
          </a:solidFill>
          <a:ln w="12700">
            <a:solidFill>
              <a:srgbClr val="1F4E3D"/>
            </a:solidFill>
            <a:prstDash val="solid"/>
          </a:ln>
        </p:spPr>
      </p:sp>
      <p:pic>
        <p:nvPicPr>
          <p:cNvPr id="11" name="comp icon 1" descr="preencoded.png">    </p:cNvPr>
          <p:cNvPicPr>
            <a:picLocks noChangeAspect="1"/>
          </p:cNvPicPr>
          <p:nvPr/>
        </p:nvPicPr>
        <p:blipFill>
          <a:blip r:embed="rId2"/>
          <a:stretch>
            <a:fillRect/>
          </a:stretch>
        </p:blipFill>
        <p:spPr>
          <a:xfrm>
            <a:off x="3611880" y="1554480"/>
            <a:ext cx="274320" cy="274320"/>
          </a:xfrm>
          <a:prstGeom prst="rect">
            <a:avLst/>
          </a:prstGeom>
        </p:spPr>
      </p:pic>
      <p:sp>
        <p:nvSpPr>
          <p:cNvPr id="12" name="comp head 1"/>
          <p:cNvSpPr txBox="1"/>
          <p:nvPr/>
        </p:nvSpPr>
        <p:spPr>
          <a:xfrm>
            <a:off x="4069080" y="1463040"/>
            <a:ext cx="1874520" cy="457200"/>
          </a:xfrm>
          <a:prstGeom prst="rect">
            <a:avLst/>
          </a:prstGeom>
          <a:noFill/>
          <a:ln/>
        </p:spPr>
        <p:txBody>
          <a:bodyPr wrap="square" lIns="0" tIns="0" rIns="0" bIns="0" rtlCol="0" anchor="ctr"/>
          <a:lstStyle/>
          <a:p>
            <a:pPr indent="0" marL="0">
              <a:buNone/>
            </a:pPr>
            <a:r>
              <a:rPr lang="en-US" sz="1400" b="1" dirty="0">
                <a:solidFill>
                  <a:srgbClr val="1F4E3D"/>
                </a:solidFill>
              </a:rPr>
              <a:t>2 · Categoriser</a:t>
            </a:r>
            <a:endParaRPr lang="en-US" sz="1400" dirty="0"/>
          </a:p>
        </p:txBody>
      </p:sp>
      <p:sp>
        <p:nvSpPr>
          <p:cNvPr id="13" name="comp text 1"/>
          <p:cNvSpPr txBox="1"/>
          <p:nvPr/>
        </p:nvSpPr>
        <p:spPr>
          <a:xfrm>
            <a:off x="3520440" y="2011680"/>
            <a:ext cx="2423160" cy="1051560"/>
          </a:xfrm>
          <a:prstGeom prst="rect">
            <a:avLst/>
          </a:prstGeom>
          <a:noFill/>
          <a:ln/>
        </p:spPr>
        <p:txBody>
          <a:bodyPr wrap="square" lIns="0" tIns="0" rIns="0" bIns="0" rtlCol="0" anchor="t"/>
          <a:lstStyle/>
          <a:p>
            <a:pPr indent="0" marL="0">
              <a:buNone/>
            </a:pPr>
            <a:r>
              <a:rPr lang="en-US" sz="1050" dirty="0">
                <a:solidFill>
                  <a:srgbClr val="17201B"/>
                </a:solidFill>
              </a:rPr>
              <a:t>multilingual rules + counterparty patterns (recurring payer → family; same mask both ways → own card)</a:t>
            </a:r>
            <a:endParaRPr lang="en-US" sz="1050" dirty="0"/>
          </a:p>
        </p:txBody>
      </p:sp>
      <p:sp>
        <p:nvSpPr>
          <p:cNvPr id="14" name="component 2"/>
          <p:cNvSpPr/>
          <p:nvPr/>
        </p:nvSpPr>
        <p:spPr>
          <a:xfrm>
            <a:off x="6217920" y="1325880"/>
            <a:ext cx="2697480" cy="1828800"/>
          </a:xfrm>
          <a:prstGeom prst="roundRect">
            <a:avLst>
              <a:gd name="adj" fmla="val 4000"/>
            </a:avLst>
          </a:prstGeom>
          <a:solidFill>
            <a:srgbClr val="E9F1EC"/>
          </a:solidFill>
          <a:ln w="12700">
            <a:solidFill>
              <a:srgbClr val="E9F1EC"/>
            </a:solidFill>
            <a:prstDash val="solid"/>
          </a:ln>
        </p:spPr>
      </p:sp>
      <p:sp>
        <p:nvSpPr>
          <p:cNvPr id="15" name="comp circle 2"/>
          <p:cNvSpPr/>
          <p:nvPr/>
        </p:nvSpPr>
        <p:spPr>
          <a:xfrm>
            <a:off x="6355080" y="1463040"/>
            <a:ext cx="457200" cy="457200"/>
          </a:xfrm>
          <a:prstGeom prst="ellipse">
            <a:avLst/>
          </a:prstGeom>
          <a:solidFill>
            <a:srgbClr val="1F4E3D"/>
          </a:solidFill>
          <a:ln w="12700">
            <a:solidFill>
              <a:srgbClr val="1F4E3D"/>
            </a:solidFill>
            <a:prstDash val="solid"/>
          </a:ln>
        </p:spPr>
      </p:sp>
      <p:pic>
        <p:nvPicPr>
          <p:cNvPr id="16" name="comp icon 2" descr="preencoded.png">    </p:cNvPr>
          <p:cNvPicPr>
            <a:picLocks noChangeAspect="1"/>
          </p:cNvPicPr>
          <p:nvPr/>
        </p:nvPicPr>
        <p:blipFill>
          <a:blip r:embed="rId3"/>
          <a:stretch>
            <a:fillRect/>
          </a:stretch>
        </p:blipFill>
        <p:spPr>
          <a:xfrm>
            <a:off x="6446520" y="1554480"/>
            <a:ext cx="274320" cy="274320"/>
          </a:xfrm>
          <a:prstGeom prst="rect">
            <a:avLst/>
          </a:prstGeom>
        </p:spPr>
      </p:pic>
      <p:sp>
        <p:nvSpPr>
          <p:cNvPr id="17" name="comp head 2"/>
          <p:cNvSpPr txBox="1"/>
          <p:nvPr/>
        </p:nvSpPr>
        <p:spPr>
          <a:xfrm>
            <a:off x="6903720" y="1463040"/>
            <a:ext cx="1874520" cy="457200"/>
          </a:xfrm>
          <a:prstGeom prst="rect">
            <a:avLst/>
          </a:prstGeom>
          <a:noFill/>
          <a:ln/>
        </p:spPr>
        <p:txBody>
          <a:bodyPr wrap="square" lIns="0" tIns="0" rIns="0" bIns="0" rtlCol="0" anchor="ctr"/>
          <a:lstStyle/>
          <a:p>
            <a:pPr indent="0" marL="0">
              <a:buNone/>
            </a:pPr>
            <a:r>
              <a:rPr lang="en-US" sz="1400" b="1" dirty="0">
                <a:solidFill>
                  <a:srgbClr val="1F4E3D"/>
                </a:solidFill>
              </a:rPr>
              <a:t>3 · Cash-flow</a:t>
            </a:r>
            <a:endParaRPr lang="en-US" sz="1400" dirty="0"/>
          </a:p>
        </p:txBody>
      </p:sp>
      <p:sp>
        <p:nvSpPr>
          <p:cNvPr id="18" name="comp text 2"/>
          <p:cNvSpPr txBox="1"/>
          <p:nvPr/>
        </p:nvSpPr>
        <p:spPr>
          <a:xfrm>
            <a:off x="6355080" y="2011680"/>
            <a:ext cx="2423160" cy="1051560"/>
          </a:xfrm>
          <a:prstGeom prst="rect">
            <a:avLst/>
          </a:prstGeom>
          <a:noFill/>
          <a:ln/>
        </p:spPr>
        <p:txBody>
          <a:bodyPr wrap="square" lIns="0" tIns="0" rIns="0" bIns="0" rtlCol="0" anchor="t"/>
          <a:lstStyle/>
          <a:p>
            <a:pPr indent="0" marL="0">
              <a:buNone/>
            </a:pPr>
            <a:r>
              <a:rPr lang="en-US" sz="1050" dirty="0">
                <a:solidFill>
                  <a:srgbClr val="17201B"/>
                </a:solidFill>
              </a:rPr>
              <a:t>12-month series; 18 features identical in TypeScript and Python (parity test)</a:t>
            </a:r>
            <a:endParaRPr lang="en-US" sz="1050" dirty="0"/>
          </a:p>
        </p:txBody>
      </p:sp>
      <p:sp>
        <p:nvSpPr>
          <p:cNvPr id="19" name="component 3"/>
          <p:cNvSpPr/>
          <p:nvPr/>
        </p:nvSpPr>
        <p:spPr>
          <a:xfrm>
            <a:off x="9052560" y="1325880"/>
            <a:ext cx="2697480" cy="1828800"/>
          </a:xfrm>
          <a:prstGeom prst="roundRect">
            <a:avLst>
              <a:gd name="adj" fmla="val 4000"/>
            </a:avLst>
          </a:prstGeom>
          <a:solidFill>
            <a:srgbClr val="E9F1EC"/>
          </a:solidFill>
          <a:ln w="12700">
            <a:solidFill>
              <a:srgbClr val="E9F1EC"/>
            </a:solidFill>
            <a:prstDash val="solid"/>
          </a:ln>
        </p:spPr>
      </p:sp>
      <p:sp>
        <p:nvSpPr>
          <p:cNvPr id="20" name="comp circle 3"/>
          <p:cNvSpPr/>
          <p:nvPr/>
        </p:nvSpPr>
        <p:spPr>
          <a:xfrm>
            <a:off x="9189720" y="1463040"/>
            <a:ext cx="457200" cy="457200"/>
          </a:xfrm>
          <a:prstGeom prst="ellipse">
            <a:avLst/>
          </a:prstGeom>
          <a:solidFill>
            <a:srgbClr val="1F4E3D"/>
          </a:solidFill>
          <a:ln w="12700">
            <a:solidFill>
              <a:srgbClr val="1F4E3D"/>
            </a:solidFill>
            <a:prstDash val="solid"/>
          </a:ln>
        </p:spPr>
      </p:sp>
      <p:pic>
        <p:nvPicPr>
          <p:cNvPr id="21" name="comp icon 3" descr="preencoded.png">    </p:cNvPr>
          <p:cNvPicPr>
            <a:picLocks noChangeAspect="1"/>
          </p:cNvPicPr>
          <p:nvPr/>
        </p:nvPicPr>
        <p:blipFill>
          <a:blip r:embed="rId4"/>
          <a:stretch>
            <a:fillRect/>
          </a:stretch>
        </p:blipFill>
        <p:spPr>
          <a:xfrm>
            <a:off x="9281160" y="1554480"/>
            <a:ext cx="274320" cy="274320"/>
          </a:xfrm>
          <a:prstGeom prst="rect">
            <a:avLst/>
          </a:prstGeom>
        </p:spPr>
      </p:pic>
      <p:sp>
        <p:nvSpPr>
          <p:cNvPr id="22" name="comp head 3"/>
          <p:cNvSpPr txBox="1"/>
          <p:nvPr/>
        </p:nvSpPr>
        <p:spPr>
          <a:xfrm>
            <a:off x="9738360" y="1463040"/>
            <a:ext cx="1874520" cy="457200"/>
          </a:xfrm>
          <a:prstGeom prst="rect">
            <a:avLst/>
          </a:prstGeom>
          <a:noFill/>
          <a:ln/>
        </p:spPr>
        <p:txBody>
          <a:bodyPr wrap="square" lIns="0" tIns="0" rIns="0" bIns="0" rtlCol="0" anchor="ctr"/>
          <a:lstStyle/>
          <a:p>
            <a:pPr indent="0" marL="0">
              <a:buNone/>
            </a:pPr>
            <a:r>
              <a:rPr lang="en-US" sz="1400" b="1" dirty="0">
                <a:solidFill>
                  <a:srgbClr val="1F4E3D"/>
                </a:solidFill>
              </a:rPr>
              <a:t>4 · Rule engine</a:t>
            </a:r>
            <a:endParaRPr lang="en-US" sz="1400" dirty="0"/>
          </a:p>
        </p:txBody>
      </p:sp>
      <p:sp>
        <p:nvSpPr>
          <p:cNvPr id="23" name="comp text 3"/>
          <p:cNvSpPr txBox="1"/>
          <p:nvPr/>
        </p:nvSpPr>
        <p:spPr>
          <a:xfrm>
            <a:off x="9189720" y="2011680"/>
            <a:ext cx="2423160" cy="1051560"/>
          </a:xfrm>
          <a:prstGeom prst="rect">
            <a:avLst/>
          </a:prstGeom>
          <a:noFill/>
          <a:ln/>
        </p:spPr>
        <p:txBody>
          <a:bodyPr wrap="square" lIns="0" tIns="0" rIns="0" bIns="0" rtlCol="0" anchor="t"/>
          <a:lstStyle/>
          <a:p>
            <a:pPr indent="0" marL="0">
              <a:buNone/>
            </a:pPr>
            <a:r>
              <a:rPr lang="en-US" sz="1050" dirty="0">
                <a:solidFill>
                  <a:srgbClr val="17201B"/>
                </a:solidFill>
              </a:rPr>
              <a:t>ПДН clause by clause: 36/180-month spreading, guarantor rule, exemptions, 50% cap, back-solved amount</a:t>
            </a:r>
            <a:endParaRPr lang="en-US" sz="1050" dirty="0"/>
          </a:p>
        </p:txBody>
      </p:sp>
      <p:sp>
        <p:nvSpPr>
          <p:cNvPr id="24" name="component 4"/>
          <p:cNvSpPr/>
          <p:nvPr/>
        </p:nvSpPr>
        <p:spPr>
          <a:xfrm>
            <a:off x="548640" y="3337560"/>
            <a:ext cx="2697480" cy="1828800"/>
          </a:xfrm>
          <a:prstGeom prst="roundRect">
            <a:avLst>
              <a:gd name="adj" fmla="val 4000"/>
            </a:avLst>
          </a:prstGeom>
          <a:solidFill>
            <a:srgbClr val="E9F1EC"/>
          </a:solidFill>
          <a:ln w="12700">
            <a:solidFill>
              <a:srgbClr val="E9F1EC"/>
            </a:solidFill>
            <a:prstDash val="solid"/>
          </a:ln>
        </p:spPr>
      </p:sp>
      <p:sp>
        <p:nvSpPr>
          <p:cNvPr id="25" name="comp circle 4"/>
          <p:cNvSpPr/>
          <p:nvPr/>
        </p:nvSpPr>
        <p:spPr>
          <a:xfrm>
            <a:off x="685800" y="3474720"/>
            <a:ext cx="457200" cy="457200"/>
          </a:xfrm>
          <a:prstGeom prst="ellipse">
            <a:avLst/>
          </a:prstGeom>
          <a:solidFill>
            <a:srgbClr val="1F4E3D"/>
          </a:solidFill>
          <a:ln w="12700">
            <a:solidFill>
              <a:srgbClr val="1F4E3D"/>
            </a:solidFill>
            <a:prstDash val="solid"/>
          </a:ln>
        </p:spPr>
      </p:sp>
      <p:pic>
        <p:nvPicPr>
          <p:cNvPr id="26" name="comp icon 4" descr="preencoded.png">    </p:cNvPr>
          <p:cNvPicPr>
            <a:picLocks noChangeAspect="1"/>
          </p:cNvPicPr>
          <p:nvPr/>
        </p:nvPicPr>
        <p:blipFill>
          <a:blip r:embed="rId5"/>
          <a:stretch>
            <a:fillRect/>
          </a:stretch>
        </p:blipFill>
        <p:spPr>
          <a:xfrm>
            <a:off x="777240" y="3566160"/>
            <a:ext cx="274320" cy="274320"/>
          </a:xfrm>
          <a:prstGeom prst="rect">
            <a:avLst/>
          </a:prstGeom>
        </p:spPr>
      </p:pic>
      <p:sp>
        <p:nvSpPr>
          <p:cNvPr id="27" name="comp head 4"/>
          <p:cNvSpPr txBox="1"/>
          <p:nvPr/>
        </p:nvSpPr>
        <p:spPr>
          <a:xfrm>
            <a:off x="1234440" y="3474720"/>
            <a:ext cx="1874520" cy="457200"/>
          </a:xfrm>
          <a:prstGeom prst="rect">
            <a:avLst/>
          </a:prstGeom>
          <a:noFill/>
          <a:ln/>
        </p:spPr>
        <p:txBody>
          <a:bodyPr wrap="square" lIns="0" tIns="0" rIns="0" bIns="0" rtlCol="0" anchor="ctr"/>
          <a:lstStyle/>
          <a:p>
            <a:pPr indent="0" marL="0">
              <a:buNone/>
            </a:pPr>
            <a:r>
              <a:rPr lang="en-US" sz="1400" b="1" dirty="0">
                <a:solidFill>
                  <a:srgbClr val="1F4E3D"/>
                </a:solidFill>
              </a:rPr>
              <a:t>5 · Risk model</a:t>
            </a:r>
            <a:endParaRPr lang="en-US" sz="1400" dirty="0"/>
          </a:p>
        </p:txBody>
      </p:sp>
      <p:sp>
        <p:nvSpPr>
          <p:cNvPr id="28" name="comp text 4"/>
          <p:cNvSpPr txBox="1"/>
          <p:nvPr/>
        </p:nvSpPr>
        <p:spPr>
          <a:xfrm>
            <a:off x="685800" y="4023360"/>
            <a:ext cx="2423160" cy="1051560"/>
          </a:xfrm>
          <a:prstGeom prst="rect">
            <a:avLst/>
          </a:prstGeom>
          <a:noFill/>
          <a:ln/>
        </p:spPr>
        <p:txBody>
          <a:bodyPr wrap="square" lIns="0" tIns="0" rIns="0" bIns="0" rtlCol="0" anchor="t"/>
          <a:lstStyle/>
          <a:p>
            <a:pPr indent="0" marL="0">
              <a:buNone/>
            </a:pPr>
            <a:r>
              <a:rPr lang="en-US" sz="1050" dirty="0">
                <a:solidFill>
                  <a:srgbClr val="17201B"/>
                </a:solidFill>
              </a:rPr>
              <a:t>XGBoost, monotone constraints, JSON trees evaluated in the browser; attributions vs portfolio median</a:t>
            </a:r>
            <a:endParaRPr lang="en-US" sz="1050" dirty="0"/>
          </a:p>
        </p:txBody>
      </p:sp>
      <p:sp>
        <p:nvSpPr>
          <p:cNvPr id="29" name="component 5"/>
          <p:cNvSpPr/>
          <p:nvPr/>
        </p:nvSpPr>
        <p:spPr>
          <a:xfrm>
            <a:off x="3383280" y="3337560"/>
            <a:ext cx="2697480" cy="1828800"/>
          </a:xfrm>
          <a:prstGeom prst="roundRect">
            <a:avLst>
              <a:gd name="adj" fmla="val 4000"/>
            </a:avLst>
          </a:prstGeom>
          <a:solidFill>
            <a:srgbClr val="E9F1EC"/>
          </a:solidFill>
          <a:ln w="12700">
            <a:solidFill>
              <a:srgbClr val="E9F1EC"/>
            </a:solidFill>
            <a:prstDash val="solid"/>
          </a:ln>
        </p:spPr>
      </p:sp>
      <p:sp>
        <p:nvSpPr>
          <p:cNvPr id="30" name="comp circle 5"/>
          <p:cNvSpPr/>
          <p:nvPr/>
        </p:nvSpPr>
        <p:spPr>
          <a:xfrm>
            <a:off x="3520440" y="3474720"/>
            <a:ext cx="457200" cy="457200"/>
          </a:xfrm>
          <a:prstGeom prst="ellipse">
            <a:avLst/>
          </a:prstGeom>
          <a:solidFill>
            <a:srgbClr val="1F4E3D"/>
          </a:solidFill>
          <a:ln w="12700">
            <a:solidFill>
              <a:srgbClr val="1F4E3D"/>
            </a:solidFill>
            <a:prstDash val="solid"/>
          </a:ln>
        </p:spPr>
      </p:sp>
      <p:pic>
        <p:nvPicPr>
          <p:cNvPr id="31" name="comp icon 5" descr="preencoded.png">    </p:cNvPr>
          <p:cNvPicPr>
            <a:picLocks noChangeAspect="1"/>
          </p:cNvPicPr>
          <p:nvPr/>
        </p:nvPicPr>
        <p:blipFill>
          <a:blip r:embed="rId6"/>
          <a:stretch>
            <a:fillRect/>
          </a:stretch>
        </p:blipFill>
        <p:spPr>
          <a:xfrm>
            <a:off x="3611880" y="3566160"/>
            <a:ext cx="274320" cy="274320"/>
          </a:xfrm>
          <a:prstGeom prst="rect">
            <a:avLst/>
          </a:prstGeom>
        </p:spPr>
      </p:pic>
      <p:sp>
        <p:nvSpPr>
          <p:cNvPr id="32" name="comp head 5"/>
          <p:cNvSpPr txBox="1"/>
          <p:nvPr/>
        </p:nvSpPr>
        <p:spPr>
          <a:xfrm>
            <a:off x="4069080" y="3474720"/>
            <a:ext cx="1874520" cy="457200"/>
          </a:xfrm>
          <a:prstGeom prst="rect">
            <a:avLst/>
          </a:prstGeom>
          <a:noFill/>
          <a:ln/>
        </p:spPr>
        <p:txBody>
          <a:bodyPr wrap="square" lIns="0" tIns="0" rIns="0" bIns="0" rtlCol="0" anchor="ctr"/>
          <a:lstStyle/>
          <a:p>
            <a:pPr indent="0" marL="0">
              <a:buNone/>
            </a:pPr>
            <a:r>
              <a:rPr lang="en-US" sz="1400" b="1" dirty="0">
                <a:solidFill>
                  <a:srgbClr val="1F4E3D"/>
                </a:solidFill>
              </a:rPr>
              <a:t>6 · Integrity</a:t>
            </a:r>
            <a:endParaRPr lang="en-US" sz="1400" dirty="0"/>
          </a:p>
        </p:txBody>
      </p:sp>
      <p:sp>
        <p:nvSpPr>
          <p:cNvPr id="33" name="comp text 5"/>
          <p:cNvSpPr txBox="1"/>
          <p:nvPr/>
        </p:nvSpPr>
        <p:spPr>
          <a:xfrm>
            <a:off x="3520440" y="4023360"/>
            <a:ext cx="2423160" cy="1051560"/>
          </a:xfrm>
          <a:prstGeom prst="rect">
            <a:avLst/>
          </a:prstGeom>
          <a:noFill/>
          <a:ln/>
        </p:spPr>
        <p:txBody>
          <a:bodyPr wrap="square" lIns="0" tIns="0" rIns="0" bIns="0" rtlCol="0" anchor="t"/>
          <a:lstStyle/>
          <a:p>
            <a:pPr indent="0" marL="0">
              <a:buNone/>
            </a:pPr>
            <a:r>
              <a:rPr lang="en-US" sz="1050" dirty="0">
                <a:solidFill>
                  <a:srgbClr val="17201B"/>
                </a:solidFill>
              </a:rPr>
              <a:t>balance chain, duplicates, coverage, gaps, round-sum spikes, circular transfers, holder match</a:t>
            </a:r>
            <a:endParaRPr lang="en-US" sz="1050" dirty="0"/>
          </a:p>
        </p:txBody>
      </p:sp>
      <p:sp>
        <p:nvSpPr>
          <p:cNvPr id="34" name="component 6"/>
          <p:cNvSpPr/>
          <p:nvPr/>
        </p:nvSpPr>
        <p:spPr>
          <a:xfrm>
            <a:off x="6217920" y="3337560"/>
            <a:ext cx="2697480" cy="1828800"/>
          </a:xfrm>
          <a:prstGeom prst="roundRect">
            <a:avLst>
              <a:gd name="adj" fmla="val 4000"/>
            </a:avLst>
          </a:prstGeom>
          <a:solidFill>
            <a:srgbClr val="E9F1EC"/>
          </a:solidFill>
          <a:ln w="12700">
            <a:solidFill>
              <a:srgbClr val="E9F1EC"/>
            </a:solidFill>
            <a:prstDash val="solid"/>
          </a:ln>
        </p:spPr>
      </p:sp>
      <p:sp>
        <p:nvSpPr>
          <p:cNvPr id="35" name="comp circle 6"/>
          <p:cNvSpPr/>
          <p:nvPr/>
        </p:nvSpPr>
        <p:spPr>
          <a:xfrm>
            <a:off x="6355080" y="3474720"/>
            <a:ext cx="457200" cy="457200"/>
          </a:xfrm>
          <a:prstGeom prst="ellipse">
            <a:avLst/>
          </a:prstGeom>
          <a:solidFill>
            <a:srgbClr val="1F4E3D"/>
          </a:solidFill>
          <a:ln w="12700">
            <a:solidFill>
              <a:srgbClr val="1F4E3D"/>
            </a:solidFill>
            <a:prstDash val="solid"/>
          </a:ln>
        </p:spPr>
      </p:sp>
      <p:pic>
        <p:nvPicPr>
          <p:cNvPr id="36" name="comp icon 6" descr="preencoded.png">    </p:cNvPr>
          <p:cNvPicPr>
            <a:picLocks noChangeAspect="1"/>
          </p:cNvPicPr>
          <p:nvPr/>
        </p:nvPicPr>
        <p:blipFill>
          <a:blip r:embed="rId7"/>
          <a:stretch>
            <a:fillRect/>
          </a:stretch>
        </p:blipFill>
        <p:spPr>
          <a:xfrm>
            <a:off x="6446520" y="3566160"/>
            <a:ext cx="274320" cy="274320"/>
          </a:xfrm>
          <a:prstGeom prst="rect">
            <a:avLst/>
          </a:prstGeom>
        </p:spPr>
      </p:pic>
      <p:sp>
        <p:nvSpPr>
          <p:cNvPr id="37" name="comp head 6"/>
          <p:cNvSpPr txBox="1"/>
          <p:nvPr/>
        </p:nvSpPr>
        <p:spPr>
          <a:xfrm>
            <a:off x="6903720" y="3474720"/>
            <a:ext cx="1874520" cy="457200"/>
          </a:xfrm>
          <a:prstGeom prst="rect">
            <a:avLst/>
          </a:prstGeom>
          <a:noFill/>
          <a:ln/>
        </p:spPr>
        <p:txBody>
          <a:bodyPr wrap="square" lIns="0" tIns="0" rIns="0" bIns="0" rtlCol="0" anchor="ctr"/>
          <a:lstStyle/>
          <a:p>
            <a:pPr indent="0" marL="0">
              <a:buNone/>
            </a:pPr>
            <a:r>
              <a:rPr lang="en-US" sz="1400" b="1" dirty="0">
                <a:solidFill>
                  <a:srgbClr val="1F4E3D"/>
                </a:solidFill>
              </a:rPr>
              <a:t>7 · Memo + audit</a:t>
            </a:r>
            <a:endParaRPr lang="en-US" sz="1400" dirty="0"/>
          </a:p>
        </p:txBody>
      </p:sp>
      <p:sp>
        <p:nvSpPr>
          <p:cNvPr id="38" name="comp text 6"/>
          <p:cNvSpPr txBox="1"/>
          <p:nvPr/>
        </p:nvSpPr>
        <p:spPr>
          <a:xfrm>
            <a:off x="6355080" y="4023360"/>
            <a:ext cx="2423160" cy="1051560"/>
          </a:xfrm>
          <a:prstGeom prst="rect">
            <a:avLst/>
          </a:prstGeom>
          <a:noFill/>
          <a:ln/>
        </p:spPr>
        <p:txBody>
          <a:bodyPr wrap="square" lIns="0" tIns="0" rIns="0" bIns="0" rtlCol="0" anchor="t"/>
          <a:lstStyle/>
          <a:p>
            <a:pPr indent="0" marL="0">
              <a:buNone/>
            </a:pPr>
            <a:r>
              <a:rPr lang="en-US" sz="1050" dirty="0">
                <a:solidFill>
                  <a:srgbClr val="17201B"/>
                </a:solidFill>
              </a:rPr>
              <a:t>template from a fact table; verifier rejects unsourced numbers; SHA-256 hash-chained log</a:t>
            </a:r>
            <a:endParaRPr lang="en-US" sz="1050" dirty="0"/>
          </a:p>
        </p:txBody>
      </p:sp>
      <p:sp>
        <p:nvSpPr>
          <p:cNvPr id="39" name="perimeter card"/>
          <p:cNvSpPr/>
          <p:nvPr/>
        </p:nvSpPr>
        <p:spPr>
          <a:xfrm>
            <a:off x="9052560" y="3337560"/>
            <a:ext cx="2697480" cy="1828800"/>
          </a:xfrm>
          <a:prstGeom prst="roundRect">
            <a:avLst>
              <a:gd name="adj" fmla="val 4000"/>
            </a:avLst>
          </a:prstGeom>
          <a:solidFill>
            <a:srgbClr val="1F4E3D"/>
          </a:solidFill>
          <a:ln w="12700">
            <a:solidFill>
              <a:srgbClr val="1F4E3D"/>
            </a:solidFill>
            <a:prstDash val="solid"/>
          </a:ln>
        </p:spPr>
      </p:sp>
      <p:pic>
        <p:nvPicPr>
          <p:cNvPr id="40" name="perimeter icon" descr="preencoded.png">    </p:cNvPr>
          <p:cNvPicPr>
            <a:picLocks noChangeAspect="1"/>
          </p:cNvPicPr>
          <p:nvPr/>
        </p:nvPicPr>
        <p:blipFill>
          <a:blip r:embed="rId8"/>
          <a:stretch>
            <a:fillRect/>
          </a:stretch>
        </p:blipFill>
        <p:spPr>
          <a:xfrm>
            <a:off x="9189720" y="3474720"/>
            <a:ext cx="320040" cy="320040"/>
          </a:xfrm>
          <a:prstGeom prst="rect">
            <a:avLst/>
          </a:prstGeom>
        </p:spPr>
      </p:pic>
      <p:sp>
        <p:nvSpPr>
          <p:cNvPr id="41" name="perimeter head"/>
          <p:cNvSpPr txBox="1"/>
          <p:nvPr/>
        </p:nvSpPr>
        <p:spPr>
          <a:xfrm>
            <a:off x="9601200" y="3429000"/>
            <a:ext cx="2011680" cy="411480"/>
          </a:xfrm>
          <a:prstGeom prst="rect">
            <a:avLst/>
          </a:prstGeom>
          <a:noFill/>
          <a:ln/>
        </p:spPr>
        <p:txBody>
          <a:bodyPr wrap="square" lIns="0" tIns="0" rIns="0" bIns="0" rtlCol="0" anchor="ctr"/>
          <a:lstStyle/>
          <a:p>
            <a:pPr indent="0" marL="0">
              <a:buNone/>
            </a:pPr>
            <a:r>
              <a:rPr lang="en-US" sz="1400" b="1" dirty="0">
                <a:solidFill>
                  <a:srgbClr val="FFFFFF"/>
                </a:solidFill>
              </a:rPr>
              <a:t>Perimeter</a:t>
            </a:r>
            <a:endParaRPr lang="en-US" sz="1400" dirty="0"/>
          </a:p>
        </p:txBody>
      </p:sp>
      <p:sp>
        <p:nvSpPr>
          <p:cNvPr id="42" name="perimeter text"/>
          <p:cNvSpPr txBox="1"/>
          <p:nvPr/>
        </p:nvSpPr>
        <p:spPr>
          <a:xfrm>
            <a:off x="9189720" y="3886200"/>
            <a:ext cx="2468880" cy="1234440"/>
          </a:xfrm>
          <a:prstGeom prst="rect">
            <a:avLst/>
          </a:prstGeom>
          <a:noFill/>
          <a:ln/>
        </p:spPr>
        <p:txBody>
          <a:bodyPr wrap="square" lIns="0" tIns="0" rIns="0" bIns="0" rtlCol="0" anchor="t"/>
          <a:lstStyle/>
          <a:p>
            <a:pPr indent="0" marL="0">
              <a:buNone/>
            </a:pPr>
            <a:r>
              <a:rPr lang="en-US" sz="1000" dirty="0">
                <a:solidFill>
                  <a:srgbClr val="E9F1EC"/>
                </a:solidFill>
              </a:rPr>
              <a:t>Prototype: static site, every byte of a document stays in the browser. Production: the same bundle on the bank's server, SSO, audit log in the bank DB, core-banking pull for own customers. LLM optional, narrative only, behind the same verifier.</a:t>
            </a:r>
            <a:endParaRPr lang="en-US" sz="1000" dirty="0"/>
          </a:p>
        </p:txBody>
      </p:sp>
      <p:sp>
        <p:nvSpPr>
          <p:cNvPr id="43" name="speed"/>
          <p:cNvSpPr txBox="1"/>
          <p:nvPr/>
        </p:nvSpPr>
        <p:spPr>
          <a:xfrm>
            <a:off x="548640" y="5349240"/>
            <a:ext cx="8229600" cy="365760"/>
          </a:xfrm>
          <a:prstGeom prst="rect">
            <a:avLst/>
          </a:prstGeom>
          <a:noFill/>
          <a:ln/>
        </p:spPr>
        <p:txBody>
          <a:bodyPr wrap="square" lIns="0" tIns="0" rIns="0" bIns="0" rtlCol="0" anchor="ctr"/>
          <a:lstStyle/>
          <a:p>
            <a:pPr indent="0" marL="0">
              <a:buNone/>
            </a:pPr>
            <a:r>
              <a:rPr lang="en-US" sz="1200" b="1" dirty="0">
                <a:solidFill>
                  <a:srgbClr val="1F4E3D"/>
                </a:solidFill>
              </a:rPr>
              <a:t>Speed: statement 1.2–1.8 s · receipt OCR 1.6 s · everything else &lt; 50 ms · marginal cost per application: zero</a:t>
            </a:r>
            <a:endParaRPr lang="en-US" sz="1200" dirty="0"/>
          </a:p>
        </p:txBody>
      </p:sp>
      <p:sp>
        <p:nvSpPr>
          <p:cNvPr id="44" name="hitl"/>
          <p:cNvSpPr txBox="1"/>
          <p:nvPr/>
        </p:nvSpPr>
        <p:spPr>
          <a:xfrm>
            <a:off x="548640" y="5715000"/>
            <a:ext cx="8229600" cy="457200"/>
          </a:xfrm>
          <a:prstGeom prst="rect">
            <a:avLst/>
          </a:prstGeom>
          <a:noFill/>
          <a:ln/>
        </p:spPr>
        <p:txBody>
          <a:bodyPr wrap="square" lIns="0" tIns="0" rIns="0" bIns="0" rtlCol="0" anchor="ctr"/>
          <a:lstStyle/>
          <a:p>
            <a:pPr indent="0" marL="0">
              <a:buNone/>
            </a:pPr>
            <a:r>
              <a:rPr lang="en-US" sz="1100" dirty="0">
                <a:solidFill>
                  <a:srgbClr val="17201B"/>
                </a:solidFill>
              </a:rPr>
              <a:t>Human in the loop: the engine recommends and computes the maximum affordable amount; the officer decides; an override needs a reason, written into the chain.</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Measured through the real app, not typed into a slide</a:t>
            </a:r>
            <a:endParaRPr lang="en-US" sz="2800" dirty="0"/>
          </a:p>
        </p:txBody>
      </p:sp>
      <p:sp>
        <p:nvSpPr>
          <p:cNvPr id="4" name="tile generator statement PDFs parsed with exact row count and reconciled balance chain (2 layouts, RU/UZ)"/>
          <p:cNvSpPr/>
          <p:nvPr/>
        </p:nvSpPr>
        <p:spPr>
          <a:xfrm>
            <a:off x="548640" y="1325880"/>
            <a:ext cx="2103120" cy="1280160"/>
          </a:xfrm>
          <a:prstGeom prst="roundRect">
            <a:avLst>
              <a:gd name="adj" fmla="val 5714"/>
            </a:avLst>
          </a:prstGeom>
          <a:solidFill>
            <a:srgbClr val="E9F1EC"/>
          </a:solidFill>
          <a:ln w="12700">
            <a:solidFill>
              <a:srgbClr val="E9F1EC"/>
            </a:solidFill>
            <a:prstDash val="solid"/>
          </a:ln>
        </p:spPr>
      </p:sp>
      <p:sp>
        <p:nvSpPr>
          <p:cNvPr id="5" name="tile value generator statement PDFs parsed with exact row count and reconciled balance chain (2 layouts, RU/UZ)"/>
          <p:cNvSpPr txBox="1"/>
          <p:nvPr/>
        </p:nvSpPr>
        <p:spPr>
          <a:xfrm>
            <a:off x="685800" y="1399032"/>
            <a:ext cx="1828800" cy="704088"/>
          </a:xfrm>
          <a:prstGeom prst="rect">
            <a:avLst/>
          </a:prstGeom>
          <a:noFill/>
          <a:ln/>
        </p:spPr>
        <p:txBody>
          <a:bodyPr wrap="square" lIns="0" tIns="0" rIns="0" bIns="0" rtlCol="0" anchor="ctr"/>
          <a:lstStyle/>
          <a:p>
            <a:pPr indent="0" marL="0">
              <a:buNone/>
            </a:pPr>
            <a:r>
              <a:rPr lang="en-US" sz="2600" b="1" dirty="0">
                <a:solidFill>
                  <a:srgbClr val="1F4E3D"/>
                </a:solidFill>
              </a:rPr>
              <a:t>60/60</a:t>
            </a:r>
            <a:endParaRPr lang="en-US" sz="2600" dirty="0"/>
          </a:p>
        </p:txBody>
      </p:sp>
      <p:sp>
        <p:nvSpPr>
          <p:cNvPr id="6" name="tile label generator statement PDFs parsed with exact row count and reconciled balance chain (2 layouts, RU/UZ)"/>
          <p:cNvSpPr txBox="1"/>
          <p:nvPr/>
        </p:nvSpPr>
        <p:spPr>
          <a:xfrm>
            <a:off x="685800" y="2068373"/>
            <a:ext cx="1828800" cy="512064"/>
          </a:xfrm>
          <a:prstGeom prst="rect">
            <a:avLst/>
          </a:prstGeom>
          <a:noFill/>
          <a:ln/>
        </p:spPr>
        <p:txBody>
          <a:bodyPr wrap="square" lIns="0" tIns="0" rIns="0" bIns="0" rtlCol="0" anchor="t"/>
          <a:lstStyle/>
          <a:p>
            <a:pPr indent="0" marL="0">
              <a:buNone/>
            </a:pPr>
            <a:r>
              <a:rPr lang="en-US" sz="950" dirty="0">
                <a:solidFill>
                  <a:srgbClr val="5C6B63"/>
                </a:solidFill>
              </a:rPr>
              <a:t>generator statement PDFs parsed with exact row count and reconciled balance chain (2 layouts, RU/UZ)</a:t>
            </a:r>
            <a:endParaRPr lang="en-US" sz="950" dirty="0"/>
          </a:p>
        </p:txBody>
      </p:sp>
      <p:sp>
        <p:nvSpPr>
          <p:cNvPr id="7" name="tile unseen layouts exact: signed-amount CSV, Kirim/Chiqim XLSX, quoted EN CSV + type column, Unicode minus, headerless, Приход/Расход TSV, Payme-style wallet export"/>
          <p:cNvSpPr/>
          <p:nvPr/>
        </p:nvSpPr>
        <p:spPr>
          <a:xfrm>
            <a:off x="2788920" y="1325880"/>
            <a:ext cx="2103120" cy="1280160"/>
          </a:xfrm>
          <a:prstGeom prst="roundRect">
            <a:avLst>
              <a:gd name="adj" fmla="val 5714"/>
            </a:avLst>
          </a:prstGeom>
          <a:solidFill>
            <a:srgbClr val="E9F1EC"/>
          </a:solidFill>
          <a:ln w="12700">
            <a:solidFill>
              <a:srgbClr val="E9F1EC"/>
            </a:solidFill>
            <a:prstDash val="solid"/>
          </a:ln>
        </p:spPr>
      </p:sp>
      <p:sp>
        <p:nvSpPr>
          <p:cNvPr id="8" name="tile value unseen layouts exact: signed-amount CSV, Kirim/Chiqim XLSX, quoted EN CSV + type column, Unicode minus, headerless, Приход/Расход TSV, Payme-style wallet export"/>
          <p:cNvSpPr txBox="1"/>
          <p:nvPr/>
        </p:nvSpPr>
        <p:spPr>
          <a:xfrm>
            <a:off x="2926080" y="1399032"/>
            <a:ext cx="1828800" cy="704088"/>
          </a:xfrm>
          <a:prstGeom prst="rect">
            <a:avLst/>
          </a:prstGeom>
          <a:noFill/>
          <a:ln/>
        </p:spPr>
        <p:txBody>
          <a:bodyPr wrap="square" lIns="0" tIns="0" rIns="0" bIns="0" rtlCol="0" anchor="ctr"/>
          <a:lstStyle/>
          <a:p>
            <a:pPr indent="0" marL="0">
              <a:buNone/>
            </a:pPr>
            <a:r>
              <a:rPr lang="en-US" sz="2600" b="1" dirty="0">
                <a:solidFill>
                  <a:srgbClr val="1F4E3D"/>
                </a:solidFill>
              </a:rPr>
              <a:t>7/7</a:t>
            </a:r>
            <a:endParaRPr lang="en-US" sz="2600" dirty="0"/>
          </a:p>
        </p:txBody>
      </p:sp>
      <p:sp>
        <p:nvSpPr>
          <p:cNvPr id="9" name="tile label unseen layouts exact: signed-amount CSV, Kirim/Chiqim XLSX, quoted EN CSV + type column, Unicode minus, headerless, Приход/Расход TSV, Payme-style wallet export"/>
          <p:cNvSpPr txBox="1"/>
          <p:nvPr/>
        </p:nvSpPr>
        <p:spPr>
          <a:xfrm>
            <a:off x="2926080" y="2068373"/>
            <a:ext cx="1828800" cy="512064"/>
          </a:xfrm>
          <a:prstGeom prst="rect">
            <a:avLst/>
          </a:prstGeom>
          <a:noFill/>
          <a:ln/>
        </p:spPr>
        <p:txBody>
          <a:bodyPr wrap="square" lIns="0" tIns="0" rIns="0" bIns="0" rtlCol="0" anchor="t"/>
          <a:lstStyle/>
          <a:p>
            <a:pPr indent="0" marL="0">
              <a:buNone/>
            </a:pPr>
            <a:r>
              <a:rPr lang="en-US" sz="950" dirty="0">
                <a:solidFill>
                  <a:srgbClr val="5C6B63"/>
                </a:solidFill>
              </a:rPr>
              <a:t>unseen layouts exact: signed-amount CSV, Kirim/Chiqim XLSX, quoted EN CSV + type column, Unicode minus, headerless, Приход/Расход TSV, Payme-style wallet export</a:t>
            </a:r>
            <a:endParaRPr lang="en-US" sz="950" dirty="0"/>
          </a:p>
        </p:txBody>
      </p:sp>
      <p:sp>
        <p:nvSpPr>
          <p:cNvPr id="10" name="tile tampered statements caught: inflated inflow, deleted debit, duplicated row, window dressing; 0 false alarms on clean ones"/>
          <p:cNvSpPr/>
          <p:nvPr/>
        </p:nvSpPr>
        <p:spPr>
          <a:xfrm>
            <a:off x="5029200" y="1325880"/>
            <a:ext cx="2103120" cy="1280160"/>
          </a:xfrm>
          <a:prstGeom prst="roundRect">
            <a:avLst>
              <a:gd name="adj" fmla="val 5714"/>
            </a:avLst>
          </a:prstGeom>
          <a:solidFill>
            <a:srgbClr val="E9F1EC"/>
          </a:solidFill>
          <a:ln w="12700">
            <a:solidFill>
              <a:srgbClr val="E9F1EC"/>
            </a:solidFill>
            <a:prstDash val="solid"/>
          </a:ln>
        </p:spPr>
      </p:sp>
      <p:sp>
        <p:nvSpPr>
          <p:cNvPr id="11" name="tile value tampered statements caught: inflated inflow, deleted debit, duplicated row, window dressing; 0 false alarms on clean ones"/>
          <p:cNvSpPr txBox="1"/>
          <p:nvPr/>
        </p:nvSpPr>
        <p:spPr>
          <a:xfrm>
            <a:off x="5166360" y="1399032"/>
            <a:ext cx="1828800" cy="704088"/>
          </a:xfrm>
          <a:prstGeom prst="rect">
            <a:avLst/>
          </a:prstGeom>
          <a:noFill/>
          <a:ln/>
        </p:spPr>
        <p:txBody>
          <a:bodyPr wrap="square" lIns="0" tIns="0" rIns="0" bIns="0" rtlCol="0" anchor="ctr"/>
          <a:lstStyle/>
          <a:p>
            <a:pPr indent="0" marL="0">
              <a:buNone/>
            </a:pPr>
            <a:r>
              <a:rPr lang="en-US" sz="2600" b="1" dirty="0">
                <a:solidFill>
                  <a:srgbClr val="1F4E3D"/>
                </a:solidFill>
              </a:rPr>
              <a:t>40/40</a:t>
            </a:r>
            <a:endParaRPr lang="en-US" sz="2600" dirty="0"/>
          </a:p>
        </p:txBody>
      </p:sp>
      <p:sp>
        <p:nvSpPr>
          <p:cNvPr id="12" name="tile label tampered statements caught: inflated inflow, deleted debit, duplicated row, window dressing; 0 false alarms on clean ones"/>
          <p:cNvSpPr txBox="1"/>
          <p:nvPr/>
        </p:nvSpPr>
        <p:spPr>
          <a:xfrm>
            <a:off x="5166360" y="2068373"/>
            <a:ext cx="1828800" cy="512064"/>
          </a:xfrm>
          <a:prstGeom prst="rect">
            <a:avLst/>
          </a:prstGeom>
          <a:noFill/>
          <a:ln/>
        </p:spPr>
        <p:txBody>
          <a:bodyPr wrap="square" lIns="0" tIns="0" rIns="0" bIns="0" rtlCol="0" anchor="t"/>
          <a:lstStyle/>
          <a:p>
            <a:pPr indent="0" marL="0">
              <a:buNone/>
            </a:pPr>
            <a:r>
              <a:rPr lang="en-US" sz="950" dirty="0">
                <a:solidFill>
                  <a:srgbClr val="5C6B63"/>
                </a:solidFill>
              </a:rPr>
              <a:t>tampered statements caught: inflated inflow, deleted debit, duplicated row, window dressing; 0 false alarms on clean ones</a:t>
            </a:r>
            <a:endParaRPr lang="en-US" sz="950" dirty="0"/>
          </a:p>
        </p:txBody>
      </p:sp>
      <p:sp>
        <p:nvSpPr>
          <p:cNvPr id="13" name="tile receipt OCR — total exact on 60 camera-augmented photos; INN 100%, date 97%"/>
          <p:cNvSpPr/>
          <p:nvPr/>
        </p:nvSpPr>
        <p:spPr>
          <a:xfrm>
            <a:off x="548640" y="2743200"/>
            <a:ext cx="2103120" cy="1280160"/>
          </a:xfrm>
          <a:prstGeom prst="roundRect">
            <a:avLst>
              <a:gd name="adj" fmla="val 5714"/>
            </a:avLst>
          </a:prstGeom>
          <a:solidFill>
            <a:srgbClr val="E9F1EC"/>
          </a:solidFill>
          <a:ln w="12700">
            <a:solidFill>
              <a:srgbClr val="E9F1EC"/>
            </a:solidFill>
            <a:prstDash val="solid"/>
          </a:ln>
        </p:spPr>
      </p:sp>
      <p:sp>
        <p:nvSpPr>
          <p:cNvPr id="14" name="tile value receipt OCR — total exact on 60 camera-augmented photos; INN 100%, date 97%"/>
          <p:cNvSpPr txBox="1"/>
          <p:nvPr/>
        </p:nvSpPr>
        <p:spPr>
          <a:xfrm>
            <a:off x="685800" y="2816352"/>
            <a:ext cx="1828800" cy="704088"/>
          </a:xfrm>
          <a:prstGeom prst="rect">
            <a:avLst/>
          </a:prstGeom>
          <a:noFill/>
          <a:ln/>
        </p:spPr>
        <p:txBody>
          <a:bodyPr wrap="square" lIns="0" tIns="0" rIns="0" bIns="0" rtlCol="0" anchor="ctr"/>
          <a:lstStyle/>
          <a:p>
            <a:pPr indent="0" marL="0">
              <a:buNone/>
            </a:pPr>
            <a:r>
              <a:rPr lang="en-US" sz="2600" b="1" dirty="0">
                <a:solidFill>
                  <a:srgbClr val="1F4E3D"/>
                </a:solidFill>
              </a:rPr>
              <a:t>95%</a:t>
            </a:r>
            <a:endParaRPr lang="en-US" sz="2600" dirty="0"/>
          </a:p>
        </p:txBody>
      </p:sp>
      <p:sp>
        <p:nvSpPr>
          <p:cNvPr id="15" name="tile label receipt OCR — total exact on 60 camera-augmented photos; INN 100%, date 97%"/>
          <p:cNvSpPr txBox="1"/>
          <p:nvPr/>
        </p:nvSpPr>
        <p:spPr>
          <a:xfrm>
            <a:off x="685800" y="3485693"/>
            <a:ext cx="1828800" cy="512064"/>
          </a:xfrm>
          <a:prstGeom prst="rect">
            <a:avLst/>
          </a:prstGeom>
          <a:noFill/>
          <a:ln/>
        </p:spPr>
        <p:txBody>
          <a:bodyPr wrap="square" lIns="0" tIns="0" rIns="0" bIns="0" rtlCol="0" anchor="t"/>
          <a:lstStyle/>
          <a:p>
            <a:pPr indent="0" marL="0">
              <a:buNone/>
            </a:pPr>
            <a:r>
              <a:rPr lang="en-US" sz="950" dirty="0">
                <a:solidFill>
                  <a:srgbClr val="5C6B63"/>
                </a:solidFill>
              </a:rPr>
              <a:t>receipt OCR — total exact on 60 camera-augmented photos; INN 100%, date 97%</a:t>
            </a:r>
            <a:endParaRPr lang="en-US" sz="950" dirty="0"/>
          </a:p>
        </p:txBody>
      </p:sp>
      <p:sp>
        <p:nvSpPr>
          <p:cNvPr id="16" name="tile risk model ROC-AUC, synthetic holdout n=500; logistic 0.963, ratio alone 0.948"/>
          <p:cNvSpPr/>
          <p:nvPr/>
        </p:nvSpPr>
        <p:spPr>
          <a:xfrm>
            <a:off x="2788920" y="2743200"/>
            <a:ext cx="2103120" cy="1280160"/>
          </a:xfrm>
          <a:prstGeom prst="roundRect">
            <a:avLst>
              <a:gd name="adj" fmla="val 5714"/>
            </a:avLst>
          </a:prstGeom>
          <a:solidFill>
            <a:srgbClr val="1F4E3D"/>
          </a:solidFill>
          <a:ln w="12700">
            <a:solidFill>
              <a:srgbClr val="1F4E3D"/>
            </a:solidFill>
            <a:prstDash val="solid"/>
          </a:ln>
        </p:spPr>
      </p:sp>
      <p:sp>
        <p:nvSpPr>
          <p:cNvPr id="17" name="tile value risk model ROC-AUC, synthetic holdout n=500; logistic 0.963, ratio alone 0.948"/>
          <p:cNvSpPr txBox="1"/>
          <p:nvPr/>
        </p:nvSpPr>
        <p:spPr>
          <a:xfrm>
            <a:off x="2926080" y="2816352"/>
            <a:ext cx="1828800" cy="704088"/>
          </a:xfrm>
          <a:prstGeom prst="rect">
            <a:avLst/>
          </a:prstGeom>
          <a:noFill/>
          <a:ln/>
        </p:spPr>
        <p:txBody>
          <a:bodyPr wrap="square" lIns="0" tIns="0" rIns="0" bIns="0" rtlCol="0" anchor="ctr"/>
          <a:lstStyle/>
          <a:p>
            <a:pPr indent="0" marL="0">
              <a:buNone/>
            </a:pPr>
            <a:r>
              <a:rPr lang="en-US" sz="2600" b="1" dirty="0">
                <a:solidFill>
                  <a:srgbClr val="FFFFFF"/>
                </a:solidFill>
              </a:rPr>
              <a:t>0.965</a:t>
            </a:r>
            <a:endParaRPr lang="en-US" sz="2600" dirty="0"/>
          </a:p>
        </p:txBody>
      </p:sp>
      <p:sp>
        <p:nvSpPr>
          <p:cNvPr id="18" name="tile label risk model ROC-AUC, synthetic holdout n=500; logistic 0.963, ratio alone 0.948"/>
          <p:cNvSpPr txBox="1"/>
          <p:nvPr/>
        </p:nvSpPr>
        <p:spPr>
          <a:xfrm>
            <a:off x="2926080" y="3485693"/>
            <a:ext cx="1828800" cy="512064"/>
          </a:xfrm>
          <a:prstGeom prst="rect">
            <a:avLst/>
          </a:prstGeom>
          <a:noFill/>
          <a:ln/>
        </p:spPr>
        <p:txBody>
          <a:bodyPr wrap="square" lIns="0" tIns="0" rIns="0" bIns="0" rtlCol="0" anchor="t"/>
          <a:lstStyle/>
          <a:p>
            <a:pPr indent="0" marL="0">
              <a:buNone/>
            </a:pPr>
            <a:r>
              <a:rPr lang="en-US" sz="950" dirty="0">
                <a:solidFill>
                  <a:srgbClr val="8FB8A5"/>
                </a:solidFill>
              </a:rPr>
              <a:t>risk model ROC-AUC, synthetic holdout n=500; logistic 0.963, ratio alone 0.948</a:t>
            </a:r>
            <a:endParaRPr lang="en-US" sz="950" dirty="0"/>
          </a:p>
        </p:txBody>
      </p:sp>
      <p:sp>
        <p:nvSpPr>
          <p:cNvPr id="19" name="tile ROC-AUC on real bank data (Berka, 443 loans, 44 bad, 5-fold; 95% CI ≈ 0.86–0.94) vs 0.735 for the ratio alone"/>
          <p:cNvSpPr/>
          <p:nvPr/>
        </p:nvSpPr>
        <p:spPr>
          <a:xfrm>
            <a:off x="5029200" y="2743200"/>
            <a:ext cx="2103120" cy="1280160"/>
          </a:xfrm>
          <a:prstGeom prst="roundRect">
            <a:avLst>
              <a:gd name="adj" fmla="val 5714"/>
            </a:avLst>
          </a:prstGeom>
          <a:solidFill>
            <a:srgbClr val="1F4E3D"/>
          </a:solidFill>
          <a:ln w="12700">
            <a:solidFill>
              <a:srgbClr val="1F4E3D"/>
            </a:solidFill>
            <a:prstDash val="solid"/>
          </a:ln>
        </p:spPr>
      </p:sp>
      <p:sp>
        <p:nvSpPr>
          <p:cNvPr id="20" name="tile value ROC-AUC on real bank data (Berka, 443 loans, 44 bad, 5-fold; 95% CI ≈ 0.86–0.94) vs 0.735 for the ratio alone"/>
          <p:cNvSpPr txBox="1"/>
          <p:nvPr/>
        </p:nvSpPr>
        <p:spPr>
          <a:xfrm>
            <a:off x="5166360" y="2816352"/>
            <a:ext cx="1828800" cy="704088"/>
          </a:xfrm>
          <a:prstGeom prst="rect">
            <a:avLst/>
          </a:prstGeom>
          <a:noFill/>
          <a:ln/>
        </p:spPr>
        <p:txBody>
          <a:bodyPr wrap="square" lIns="0" tIns="0" rIns="0" bIns="0" rtlCol="0" anchor="ctr"/>
          <a:lstStyle/>
          <a:p>
            <a:pPr indent="0" marL="0">
              <a:buNone/>
            </a:pPr>
            <a:r>
              <a:rPr lang="en-US" sz="2600" b="1" dirty="0">
                <a:solidFill>
                  <a:srgbClr val="FFFFFF"/>
                </a:solidFill>
              </a:rPr>
              <a:t>0.902</a:t>
            </a:r>
            <a:endParaRPr lang="en-US" sz="2600" dirty="0"/>
          </a:p>
        </p:txBody>
      </p:sp>
      <p:sp>
        <p:nvSpPr>
          <p:cNvPr id="21" name="tile label ROC-AUC on real bank data (Berka, 443 loans, 44 bad, 5-fold; 95% CI ≈ 0.86–0.94) vs 0.735 for the ratio alone"/>
          <p:cNvSpPr txBox="1"/>
          <p:nvPr/>
        </p:nvSpPr>
        <p:spPr>
          <a:xfrm>
            <a:off x="5166360" y="3485693"/>
            <a:ext cx="1828800" cy="512064"/>
          </a:xfrm>
          <a:prstGeom prst="rect">
            <a:avLst/>
          </a:prstGeom>
          <a:noFill/>
          <a:ln/>
        </p:spPr>
        <p:txBody>
          <a:bodyPr wrap="square" lIns="0" tIns="0" rIns="0" bIns="0" rtlCol="0" anchor="t"/>
          <a:lstStyle/>
          <a:p>
            <a:pPr indent="0" marL="0">
              <a:buNone/>
            </a:pPr>
            <a:r>
              <a:rPr lang="en-US" sz="950" dirty="0">
                <a:solidFill>
                  <a:srgbClr val="8FB8A5"/>
                </a:solidFill>
              </a:rPr>
              <a:t>ROC-AUC on real bank data (Berka, 443 loans, 44 bad, 5-fold; 95% CI ≈ 0.86–0.94) vs 0.735 for the ratio alone</a:t>
            </a:r>
            <a:endParaRPr lang="en-US" sz="950" dirty="0"/>
          </a:p>
        </p:txBody>
      </p:sp>
      <p:graphicFrame>
        <p:nvGraphicFramePr>
          <p:cNvPr id="22" name="Chart 0" descr=""/>
          <p:cNvGraphicFramePr/>
          <p:nvPr/>
        </p:nvGraphicFramePr>
        <p:xfrm>
          <a:off x="7406640" y="1325880"/>
          <a:ext cx="4297680" cy="2926080"/>
        </p:xfrm>
        <a:graphic xmlns:a="http://schemas.openxmlformats.org/drawingml/2006/main">
          <a:graphicData uri="http://schemas.openxmlformats.org/drawingml/2006/chart">
            <c:chart xmlns:c="http://schemas.openxmlformats.org/drawingml/2006/chart" r:id="rId1"/>
          </a:graphicData>
        </a:graphic>
      </p:graphicFrame>
      <p:sp>
        <p:nvSpPr>
          <p:cNvPr id="23" name="reading"/>
          <p:cNvSpPr txBox="1"/>
          <p:nvPr/>
        </p:nvSpPr>
        <p:spPr>
          <a:xfrm>
            <a:off x="548640" y="4343400"/>
            <a:ext cx="6583680" cy="914400"/>
          </a:xfrm>
          <a:prstGeom prst="rect">
            <a:avLst/>
          </a:prstGeom>
          <a:noFill/>
          <a:ln/>
        </p:spPr>
        <p:txBody>
          <a:bodyPr wrap="square" lIns="0" tIns="0" rIns="0" bIns="0" rtlCol="0" anchor="ctr"/>
          <a:lstStyle/>
          <a:p>
            <a:pPr indent="0" marL="0">
              <a:buNone/>
            </a:pPr>
            <a:r>
              <a:rPr lang="en-US" sz="1000" dirty="0">
                <a:solidFill>
                  <a:srgbClr val="17201B"/>
                </a:solidFill>
              </a:rPr>
              <a:t>Honest reading: on synthetic data the ratio already carries most of the signal by construction; on real statements the cash-flow features add +0.17 AUC over the ratio, and logistic regression comes close to the trees — we ship the trees for the monotone constraints and non-linear thresholds, not for the last 0.01. Categoriser: 99.96% on 10,481 lines of the generator's own vocabulary — will fall on real data. Memo verifier: 0 unsourced numbers across a 300-scenario sweep (amounts × terms × products × borrowers), enforced at run time.</a:t>
            </a:r>
            <a:endParaRPr lang="en-US" sz="1000" dirty="0"/>
          </a:p>
        </p:txBody>
      </p:sp>
      <p:pic>
        <p:nvPicPr>
          <p:cNvPr id="24" name="screenshot eval" descr="/home/claude/daromad/deck/img/eval_kpis.png">    </p:cNvPr>
          <p:cNvPicPr>
            <a:picLocks noChangeAspect="1"/>
          </p:cNvPicPr>
          <p:nvPr/>
        </p:nvPicPr>
        <p:blipFill>
          <a:blip r:embed="rId2"/>
          <a:stretch>
            <a:fillRect/>
          </a:stretch>
        </p:blipFill>
        <p:spPr>
          <a:xfrm>
            <a:off x="548640" y="5257800"/>
            <a:ext cx="5852160" cy="1097280"/>
          </a:xfrm>
          <a:prstGeom prst="rect">
            <a:avLst/>
          </a:prstGeom>
        </p:spPr>
      </p:pic>
      <p:sp>
        <p:nvSpPr>
          <p:cNvPr id="25" name="provenance"/>
          <p:cNvSpPr txBox="1"/>
          <p:nvPr/>
        </p:nvSpPr>
        <p:spPr>
          <a:xfrm>
            <a:off x="7406640" y="4343400"/>
            <a:ext cx="4297680" cy="731520"/>
          </a:xfrm>
          <a:prstGeom prst="rect">
            <a:avLst/>
          </a:prstGeom>
          <a:noFill/>
          <a:ln/>
        </p:spPr>
        <p:txBody>
          <a:bodyPr wrap="square" lIns="0" tIns="0" rIns="0" bIns="0" rtlCol="0" anchor="ctr"/>
          <a:lstStyle/>
          <a:p>
            <a:pPr indent="0" marL="0">
              <a:buNone/>
            </a:pPr>
            <a:r>
              <a:rPr lang="en-US" sz="1000" dirty="0">
                <a:solidFill>
                  <a:srgbClr val="5C6B63"/>
                </a:solidFill>
              </a:rPr>
              <a:t>All numbers are read from JSON produced by ml/train.py, ml/berka_validate.py, npm test and tests/*_eval.py (see the Model card page).</a:t>
            </a:r>
            <a:endParaRPr lang="en-US" sz="1000" dirty="0"/>
          </a:p>
        </p:txBody>
      </p:sp>
      <p:sp>
        <p:nvSpPr>
          <p:cNvPr id="26" name="caveat"/>
          <p:cNvSpPr txBox="1"/>
          <p:nvPr/>
        </p:nvSpPr>
        <p:spPr>
          <a:xfrm>
            <a:off x="7406640" y="5120640"/>
            <a:ext cx="4297680" cy="1188720"/>
          </a:xfrm>
          <a:prstGeom prst="rect">
            <a:avLst/>
          </a:prstGeom>
          <a:noFill/>
          <a:ln/>
        </p:spPr>
        <p:txBody>
          <a:bodyPr wrap="square" lIns="0" tIns="0" rIns="0" bIns="0" rtlCol="0" anchor="ctr"/>
          <a:lstStyle/>
          <a:p>
            <a:pPr indent="0" marL="0">
              <a:buNone/>
            </a:pPr>
            <a:r>
              <a:rPr lang="en-US" sz="1100" b="1" dirty="0">
                <a:solidFill>
                  <a:srgbClr val="B23A3A"/>
                </a:solidFill>
              </a:rPr>
              <a:t>Caveat on the slide, not in the footnote: the risk score is advisory until retrained on the bank's own history inside the perimeter — that is the pilot's first deliverable.</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No partner data, so we built a declared generator</a:t>
            </a:r>
            <a:endParaRPr lang="en-US" sz="2800" dirty="0"/>
          </a:p>
        </p:txBody>
      </p:sp>
      <p:sp>
        <p:nvSpPr>
          <p:cNvPr id="4" name="gen num bg 0"/>
          <p:cNvSpPr/>
          <p:nvPr/>
        </p:nvSpPr>
        <p:spPr>
          <a:xfrm>
            <a:off x="548640" y="1371600"/>
            <a:ext cx="502920" cy="502920"/>
          </a:xfrm>
          <a:prstGeom prst="ellipse">
            <a:avLst/>
          </a:prstGeom>
          <a:solidFill>
            <a:srgbClr val="D98E04"/>
          </a:solidFill>
          <a:ln w="12700">
            <a:solidFill>
              <a:srgbClr val="D98E04"/>
            </a:solidFill>
            <a:prstDash val="solid"/>
          </a:ln>
        </p:spPr>
      </p:sp>
      <p:sp>
        <p:nvSpPr>
          <p:cNvPr id="5" name="gen num 0"/>
          <p:cNvSpPr txBox="1"/>
          <p:nvPr/>
        </p:nvSpPr>
        <p:spPr>
          <a:xfrm>
            <a:off x="548640" y="1371600"/>
            <a:ext cx="502920" cy="502920"/>
          </a:xfrm>
          <a:prstGeom prst="rect">
            <a:avLst/>
          </a:prstGeom>
          <a:noFill/>
          <a:ln/>
        </p:spPr>
        <p:txBody>
          <a:bodyPr wrap="square" lIns="0" tIns="0" rIns="0" bIns="0" rtlCol="0" anchor="ctr"/>
          <a:lstStyle/>
          <a:p>
            <a:pPr algn="ctr" indent="0" marL="0">
              <a:buNone/>
            </a:pPr>
            <a:r>
              <a:rPr lang="en-US" sz="1600" b="1" dirty="0">
                <a:solidFill>
                  <a:srgbClr val="17201B"/>
                </a:solidFill>
              </a:rPr>
              <a:t>1</a:t>
            </a:r>
            <a:endParaRPr lang="en-US" sz="1600" dirty="0"/>
          </a:p>
        </p:txBody>
      </p:sp>
      <p:sp>
        <p:nvSpPr>
          <p:cNvPr id="6" name="gen head 0"/>
          <p:cNvSpPr txBox="1"/>
          <p:nvPr/>
        </p:nvSpPr>
        <p:spPr>
          <a:xfrm>
            <a:off x="1188720" y="1325880"/>
            <a:ext cx="5669280" cy="320040"/>
          </a:xfrm>
          <a:prstGeom prst="rect">
            <a:avLst/>
          </a:prstGeom>
          <a:noFill/>
          <a:ln/>
        </p:spPr>
        <p:txBody>
          <a:bodyPr wrap="square" lIns="0" tIns="0" rIns="0" bIns="0" rtlCol="0" anchor="ctr"/>
          <a:lstStyle/>
          <a:p>
            <a:pPr indent="0" marL="0">
              <a:buNone/>
            </a:pPr>
            <a:r>
              <a:rPr lang="en-US" sz="1400" b="1" dirty="0">
                <a:solidFill>
                  <a:srgbClr val="1F4E3D"/>
                </a:solidFill>
              </a:rPr>
              <a:t>Archetypes</a:t>
            </a:r>
            <a:endParaRPr lang="en-US" sz="1400" dirty="0"/>
          </a:p>
        </p:txBody>
      </p:sp>
      <p:sp>
        <p:nvSpPr>
          <p:cNvPr id="7" name="gen text 0"/>
          <p:cNvSpPr txBox="1"/>
          <p:nvPr/>
        </p:nvSpPr>
        <p:spPr>
          <a:xfrm>
            <a:off x="1188720" y="1655064"/>
            <a:ext cx="5669280" cy="594360"/>
          </a:xfrm>
          <a:prstGeom prst="rect">
            <a:avLst/>
          </a:prstGeom>
          <a:noFill/>
          <a:ln/>
        </p:spPr>
        <p:txBody>
          <a:bodyPr wrap="square" lIns="0" tIns="0" rIns="0" bIns="0" rtlCol="0" anchor="t"/>
          <a:lstStyle/>
          <a:p>
            <a:pPr indent="0" marL="0">
              <a:buNone/>
            </a:pPr>
            <a:r>
              <a:rPr lang="en-US" sz="1050" dirty="0">
                <a:solidFill>
                  <a:srgbClr val="17201B"/>
                </a:solidFill>
              </a:rPr>
              <a:t>10 trades (tailor, taxi, dehkan farmer, grocer, reseller, tutor…) with declared seasonality, customer counts, channel mix, expense structure</a:t>
            </a:r>
            <a:endParaRPr lang="en-US" sz="1050" dirty="0"/>
          </a:p>
        </p:txBody>
      </p:sp>
      <p:sp>
        <p:nvSpPr>
          <p:cNvPr id="8" name="gen num bg 1"/>
          <p:cNvSpPr/>
          <p:nvPr/>
        </p:nvSpPr>
        <p:spPr>
          <a:xfrm>
            <a:off x="548640" y="2331720"/>
            <a:ext cx="502920" cy="502920"/>
          </a:xfrm>
          <a:prstGeom prst="ellipse">
            <a:avLst/>
          </a:prstGeom>
          <a:solidFill>
            <a:srgbClr val="D98E04"/>
          </a:solidFill>
          <a:ln w="12700">
            <a:solidFill>
              <a:srgbClr val="D98E04"/>
            </a:solidFill>
            <a:prstDash val="solid"/>
          </a:ln>
        </p:spPr>
      </p:sp>
      <p:sp>
        <p:nvSpPr>
          <p:cNvPr id="9" name="gen num 1"/>
          <p:cNvSpPr txBox="1"/>
          <p:nvPr/>
        </p:nvSpPr>
        <p:spPr>
          <a:xfrm>
            <a:off x="548640" y="2331720"/>
            <a:ext cx="502920" cy="502920"/>
          </a:xfrm>
          <a:prstGeom prst="rect">
            <a:avLst/>
          </a:prstGeom>
          <a:noFill/>
          <a:ln/>
        </p:spPr>
        <p:txBody>
          <a:bodyPr wrap="square" lIns="0" tIns="0" rIns="0" bIns="0" rtlCol="0" anchor="ctr"/>
          <a:lstStyle/>
          <a:p>
            <a:pPr algn="ctr" indent="0" marL="0">
              <a:buNone/>
            </a:pPr>
            <a:r>
              <a:rPr lang="en-US" sz="1600" b="1" dirty="0">
                <a:solidFill>
                  <a:srgbClr val="17201B"/>
                </a:solidFill>
              </a:rPr>
              <a:t>2</a:t>
            </a:r>
            <a:endParaRPr lang="en-US" sz="1600" dirty="0"/>
          </a:p>
        </p:txBody>
      </p:sp>
      <p:sp>
        <p:nvSpPr>
          <p:cNvPr id="10" name="gen head 1"/>
          <p:cNvSpPr txBox="1"/>
          <p:nvPr/>
        </p:nvSpPr>
        <p:spPr>
          <a:xfrm>
            <a:off x="1188720" y="2286000"/>
            <a:ext cx="5669280" cy="320040"/>
          </a:xfrm>
          <a:prstGeom prst="rect">
            <a:avLst/>
          </a:prstGeom>
          <a:noFill/>
          <a:ln/>
        </p:spPr>
        <p:txBody>
          <a:bodyPr wrap="square" lIns="0" tIns="0" rIns="0" bIns="0" rtlCol="0" anchor="ctr"/>
          <a:lstStyle/>
          <a:p>
            <a:pPr indent="0" marL="0">
              <a:buNone/>
            </a:pPr>
            <a:r>
              <a:rPr lang="en-US" sz="1400" b="1" dirty="0">
                <a:solidFill>
                  <a:srgbClr val="1F4E3D"/>
                </a:solidFill>
              </a:rPr>
              <a:t>Simulation</a:t>
            </a:r>
            <a:endParaRPr lang="en-US" sz="1400" dirty="0"/>
          </a:p>
        </p:txBody>
      </p:sp>
      <p:sp>
        <p:nvSpPr>
          <p:cNvPr id="11" name="gen text 1"/>
          <p:cNvSpPr txBox="1"/>
          <p:nvPr/>
        </p:nvSpPr>
        <p:spPr>
          <a:xfrm>
            <a:off x="1188720" y="2615184"/>
            <a:ext cx="5669280" cy="594360"/>
          </a:xfrm>
          <a:prstGeom prst="rect">
            <a:avLst/>
          </a:prstGeom>
          <a:noFill/>
          <a:ln/>
        </p:spPr>
        <p:txBody>
          <a:bodyPr wrap="square" lIns="0" tIns="0" rIns="0" bIns="0" rtlCol="0" anchor="t"/>
          <a:lstStyle/>
          <a:p>
            <a:pPr indent="0" marL="0">
              <a:buNone/>
            </a:pPr>
            <a:r>
              <a:rPr lang="en-US" sz="1050" dirty="0">
                <a:solidFill>
                  <a:srgbClr val="17201B"/>
                </a:solidFill>
              </a:rPr>
              <a:t>2,000 borrowers · 5,689,589 transactions · existing loans with annuity schedules · shocks · default label from a latent affordability score (10.5% rate)</a:t>
            </a:r>
            <a:endParaRPr lang="en-US" sz="1050" dirty="0"/>
          </a:p>
        </p:txBody>
      </p:sp>
      <p:sp>
        <p:nvSpPr>
          <p:cNvPr id="12" name="gen num bg 2"/>
          <p:cNvSpPr/>
          <p:nvPr/>
        </p:nvSpPr>
        <p:spPr>
          <a:xfrm>
            <a:off x="548640" y="3291840"/>
            <a:ext cx="502920" cy="502920"/>
          </a:xfrm>
          <a:prstGeom prst="ellipse">
            <a:avLst/>
          </a:prstGeom>
          <a:solidFill>
            <a:srgbClr val="D98E04"/>
          </a:solidFill>
          <a:ln w="12700">
            <a:solidFill>
              <a:srgbClr val="D98E04"/>
            </a:solidFill>
            <a:prstDash val="solid"/>
          </a:ln>
        </p:spPr>
      </p:sp>
      <p:sp>
        <p:nvSpPr>
          <p:cNvPr id="13" name="gen num 2"/>
          <p:cNvSpPr txBox="1"/>
          <p:nvPr/>
        </p:nvSpPr>
        <p:spPr>
          <a:xfrm>
            <a:off x="548640" y="3291840"/>
            <a:ext cx="502920" cy="502920"/>
          </a:xfrm>
          <a:prstGeom prst="rect">
            <a:avLst/>
          </a:prstGeom>
          <a:noFill/>
          <a:ln/>
        </p:spPr>
        <p:txBody>
          <a:bodyPr wrap="square" lIns="0" tIns="0" rIns="0" bIns="0" rtlCol="0" anchor="ctr"/>
          <a:lstStyle/>
          <a:p>
            <a:pPr algn="ctr" indent="0" marL="0">
              <a:buNone/>
            </a:pPr>
            <a:r>
              <a:rPr lang="en-US" sz="1600" b="1" dirty="0">
                <a:solidFill>
                  <a:srgbClr val="17201B"/>
                </a:solidFill>
              </a:rPr>
              <a:t>3</a:t>
            </a:r>
            <a:endParaRPr lang="en-US" sz="1600" dirty="0"/>
          </a:p>
        </p:txBody>
      </p:sp>
      <p:sp>
        <p:nvSpPr>
          <p:cNvPr id="14" name="gen head 2"/>
          <p:cNvSpPr txBox="1"/>
          <p:nvPr/>
        </p:nvSpPr>
        <p:spPr>
          <a:xfrm>
            <a:off x="1188720" y="3246120"/>
            <a:ext cx="5669280" cy="320040"/>
          </a:xfrm>
          <a:prstGeom prst="rect">
            <a:avLst/>
          </a:prstGeom>
          <a:noFill/>
          <a:ln/>
        </p:spPr>
        <p:txBody>
          <a:bodyPr wrap="square" lIns="0" tIns="0" rIns="0" bIns="0" rtlCol="0" anchor="ctr"/>
          <a:lstStyle/>
          <a:p>
            <a:pPr indent="0" marL="0">
              <a:buNone/>
            </a:pPr>
            <a:r>
              <a:rPr lang="en-US" sz="1400" b="1" dirty="0">
                <a:solidFill>
                  <a:srgbClr val="1F4E3D"/>
                </a:solidFill>
              </a:rPr>
              <a:t>Rendering</a:t>
            </a:r>
            <a:endParaRPr lang="en-US" sz="1400" dirty="0"/>
          </a:p>
        </p:txBody>
      </p:sp>
      <p:sp>
        <p:nvSpPr>
          <p:cNvPr id="15" name="gen text 2"/>
          <p:cNvSpPr txBox="1"/>
          <p:nvPr/>
        </p:nvSpPr>
        <p:spPr>
          <a:xfrm>
            <a:off x="1188720" y="3575304"/>
            <a:ext cx="5669280" cy="594360"/>
          </a:xfrm>
          <a:prstGeom prst="rect">
            <a:avLst/>
          </a:prstGeom>
          <a:noFill/>
          <a:ln/>
        </p:spPr>
        <p:txBody>
          <a:bodyPr wrap="square" lIns="0" tIns="0" rIns="0" bIns="0" rtlCol="0" anchor="t"/>
          <a:lstStyle/>
          <a:p>
            <a:pPr indent="0" marL="0">
              <a:buNone/>
            </a:pPr>
            <a:r>
              <a:rPr lang="en-US" sz="1050" dirty="0">
                <a:solidFill>
                  <a:srgbClr val="17201B"/>
                </a:solidFill>
              </a:rPr>
              <a:t>60 statement sets as PDF (text layer) + XLSX + CSV in RU and UZ layouts; 180 fiscal receipts; Soliq-style certificates with QR</a:t>
            </a:r>
            <a:endParaRPr lang="en-US" sz="1050" dirty="0"/>
          </a:p>
        </p:txBody>
      </p:sp>
      <p:sp>
        <p:nvSpPr>
          <p:cNvPr id="16" name="gen num bg 3"/>
          <p:cNvSpPr/>
          <p:nvPr/>
        </p:nvSpPr>
        <p:spPr>
          <a:xfrm>
            <a:off x="548640" y="4251960"/>
            <a:ext cx="502920" cy="502920"/>
          </a:xfrm>
          <a:prstGeom prst="ellipse">
            <a:avLst/>
          </a:prstGeom>
          <a:solidFill>
            <a:srgbClr val="D98E04"/>
          </a:solidFill>
          <a:ln w="12700">
            <a:solidFill>
              <a:srgbClr val="D98E04"/>
            </a:solidFill>
            <a:prstDash val="solid"/>
          </a:ln>
        </p:spPr>
      </p:sp>
      <p:sp>
        <p:nvSpPr>
          <p:cNvPr id="17" name="gen num 3"/>
          <p:cNvSpPr txBox="1"/>
          <p:nvPr/>
        </p:nvSpPr>
        <p:spPr>
          <a:xfrm>
            <a:off x="548640" y="4251960"/>
            <a:ext cx="502920" cy="502920"/>
          </a:xfrm>
          <a:prstGeom prst="rect">
            <a:avLst/>
          </a:prstGeom>
          <a:noFill/>
          <a:ln/>
        </p:spPr>
        <p:txBody>
          <a:bodyPr wrap="square" lIns="0" tIns="0" rIns="0" bIns="0" rtlCol="0" anchor="ctr"/>
          <a:lstStyle/>
          <a:p>
            <a:pPr algn="ctr" indent="0" marL="0">
              <a:buNone/>
            </a:pPr>
            <a:r>
              <a:rPr lang="en-US" sz="1600" b="1" dirty="0">
                <a:solidFill>
                  <a:srgbClr val="17201B"/>
                </a:solidFill>
              </a:rPr>
              <a:t>4</a:t>
            </a:r>
            <a:endParaRPr lang="en-US" sz="1600" dirty="0"/>
          </a:p>
        </p:txBody>
      </p:sp>
      <p:sp>
        <p:nvSpPr>
          <p:cNvPr id="18" name="gen head 3"/>
          <p:cNvSpPr txBox="1"/>
          <p:nvPr/>
        </p:nvSpPr>
        <p:spPr>
          <a:xfrm>
            <a:off x="1188720" y="4206240"/>
            <a:ext cx="5669280" cy="320040"/>
          </a:xfrm>
          <a:prstGeom prst="rect">
            <a:avLst/>
          </a:prstGeom>
          <a:noFill/>
          <a:ln/>
        </p:spPr>
        <p:txBody>
          <a:bodyPr wrap="square" lIns="0" tIns="0" rIns="0" bIns="0" rtlCol="0" anchor="ctr"/>
          <a:lstStyle/>
          <a:p>
            <a:pPr indent="0" marL="0">
              <a:buNone/>
            </a:pPr>
            <a:r>
              <a:rPr lang="en-US" sz="1400" b="1" dirty="0">
                <a:solidFill>
                  <a:srgbClr val="1F4E3D"/>
                </a:solidFill>
              </a:rPr>
              <a:t>Camera model</a:t>
            </a:r>
            <a:endParaRPr lang="en-US" sz="1400" dirty="0"/>
          </a:p>
        </p:txBody>
      </p:sp>
      <p:sp>
        <p:nvSpPr>
          <p:cNvPr id="19" name="gen text 3"/>
          <p:cNvSpPr txBox="1"/>
          <p:nvPr/>
        </p:nvSpPr>
        <p:spPr>
          <a:xfrm>
            <a:off x="1188720" y="4535424"/>
            <a:ext cx="5669280" cy="594360"/>
          </a:xfrm>
          <a:prstGeom prst="rect">
            <a:avLst/>
          </a:prstGeom>
          <a:noFill/>
          <a:ln/>
        </p:spPr>
        <p:txBody>
          <a:bodyPr wrap="square" lIns="0" tIns="0" rIns="0" bIns="0" rtlCol="0" anchor="t"/>
          <a:lstStyle/>
          <a:p>
            <a:pPr indent="0" marL="0">
              <a:buNone/>
            </a:pPr>
            <a:r>
              <a:rPr lang="en-US" sz="1050" dirty="0">
                <a:solidFill>
                  <a:srgbClr val="17201B"/>
                </a:solidFill>
              </a:rPr>
              <a:t>perspective, rotation, lighting gradient, blur, sensor noise, JPEG — then measured through the same OCR the officer uses</a:t>
            </a:r>
            <a:endParaRPr lang="en-US" sz="1050" dirty="0"/>
          </a:p>
        </p:txBody>
      </p:sp>
      <p:sp>
        <p:nvSpPr>
          <p:cNvPr id="20" name="gen num bg 4"/>
          <p:cNvSpPr/>
          <p:nvPr/>
        </p:nvSpPr>
        <p:spPr>
          <a:xfrm>
            <a:off x="548640" y="5212080"/>
            <a:ext cx="502920" cy="502920"/>
          </a:xfrm>
          <a:prstGeom prst="ellipse">
            <a:avLst/>
          </a:prstGeom>
          <a:solidFill>
            <a:srgbClr val="D98E04"/>
          </a:solidFill>
          <a:ln w="12700">
            <a:solidFill>
              <a:srgbClr val="D98E04"/>
            </a:solidFill>
            <a:prstDash val="solid"/>
          </a:ln>
        </p:spPr>
      </p:sp>
      <p:sp>
        <p:nvSpPr>
          <p:cNvPr id="21" name="gen num 4"/>
          <p:cNvSpPr txBox="1"/>
          <p:nvPr/>
        </p:nvSpPr>
        <p:spPr>
          <a:xfrm>
            <a:off x="548640" y="5212080"/>
            <a:ext cx="502920" cy="502920"/>
          </a:xfrm>
          <a:prstGeom prst="rect">
            <a:avLst/>
          </a:prstGeom>
          <a:noFill/>
          <a:ln/>
        </p:spPr>
        <p:txBody>
          <a:bodyPr wrap="square" lIns="0" tIns="0" rIns="0" bIns="0" rtlCol="0" anchor="ctr"/>
          <a:lstStyle/>
          <a:p>
            <a:pPr algn="ctr" indent="0" marL="0">
              <a:buNone/>
            </a:pPr>
            <a:r>
              <a:rPr lang="en-US" sz="1600" b="1" dirty="0">
                <a:solidFill>
                  <a:srgbClr val="17201B"/>
                </a:solidFill>
              </a:rPr>
              <a:t>5</a:t>
            </a:r>
            <a:endParaRPr lang="en-US" sz="1600" dirty="0"/>
          </a:p>
        </p:txBody>
      </p:sp>
      <p:sp>
        <p:nvSpPr>
          <p:cNvPr id="22" name="gen head 4"/>
          <p:cNvSpPr txBox="1"/>
          <p:nvPr/>
        </p:nvSpPr>
        <p:spPr>
          <a:xfrm>
            <a:off x="1188720" y="5166360"/>
            <a:ext cx="5669280" cy="320040"/>
          </a:xfrm>
          <a:prstGeom prst="rect">
            <a:avLst/>
          </a:prstGeom>
          <a:noFill/>
          <a:ln/>
        </p:spPr>
        <p:txBody>
          <a:bodyPr wrap="square" lIns="0" tIns="0" rIns="0" bIns="0" rtlCol="0" anchor="ctr"/>
          <a:lstStyle/>
          <a:p>
            <a:pPr indent="0" marL="0">
              <a:buNone/>
            </a:pPr>
            <a:r>
              <a:rPr lang="en-US" sz="1400" b="1" dirty="0">
                <a:solidFill>
                  <a:srgbClr val="1F4E3D"/>
                </a:solidFill>
              </a:rPr>
              <a:t>Tampering</a:t>
            </a:r>
            <a:endParaRPr lang="en-US" sz="1400" dirty="0"/>
          </a:p>
        </p:txBody>
      </p:sp>
      <p:sp>
        <p:nvSpPr>
          <p:cNvPr id="23" name="gen text 4"/>
          <p:cNvSpPr txBox="1"/>
          <p:nvPr/>
        </p:nvSpPr>
        <p:spPr>
          <a:xfrm>
            <a:off x="1188720" y="5495544"/>
            <a:ext cx="5669280" cy="594360"/>
          </a:xfrm>
          <a:prstGeom prst="rect">
            <a:avLst/>
          </a:prstGeom>
          <a:noFill/>
          <a:ln/>
        </p:spPr>
        <p:txBody>
          <a:bodyPr wrap="square" lIns="0" tIns="0" rIns="0" bIns="0" rtlCol="0" anchor="t"/>
          <a:lstStyle/>
          <a:p>
            <a:pPr indent="0" marL="0">
              <a:buNone/>
            </a:pPr>
            <a:r>
              <a:rPr lang="en-US" sz="1050" dirty="0">
                <a:solidFill>
                  <a:srgbClr val="17201B"/>
                </a:solidFill>
              </a:rPr>
              <a:t>40 statements: inflated inflow, deleted debit, duplicated row, window dressing — labelled for the integrity evaluation</a:t>
            </a:r>
            <a:endParaRPr lang="en-US" sz="1050" dirty="0"/>
          </a:p>
        </p:txBody>
      </p:sp>
      <p:pic>
        <p:nvPicPr>
          <p:cNvPr id="24" name="statement thumbnail" descr="/home/claude/daromad/deck/img/stmt-01.jpg">    </p:cNvPr>
          <p:cNvPicPr>
            <a:picLocks noChangeAspect="1"/>
          </p:cNvPicPr>
          <p:nvPr/>
        </p:nvPicPr>
        <p:blipFill>
          <a:blip r:embed="rId1"/>
          <a:stretch>
            <a:fillRect/>
          </a:stretch>
        </p:blipFill>
        <p:spPr>
          <a:xfrm>
            <a:off x="7223760" y="1325880"/>
            <a:ext cx="2286000" cy="3236976"/>
          </a:xfrm>
          <a:prstGeom prst="rect">
            <a:avLst/>
          </a:prstGeom>
        </p:spPr>
      </p:pic>
      <p:pic>
        <p:nvPicPr>
          <p:cNvPr id="25" name="receipt photo" descr="/home/claude/daromad/deck/img/receipt.jpg">    </p:cNvPr>
          <p:cNvPicPr>
            <a:picLocks noChangeAspect="1"/>
          </p:cNvPicPr>
          <p:nvPr/>
        </p:nvPicPr>
        <p:blipFill>
          <a:blip r:embed="rId2"/>
          <a:stretch>
            <a:fillRect/>
          </a:stretch>
        </p:blipFill>
        <p:spPr>
          <a:xfrm>
            <a:off x="9646920" y="1325880"/>
            <a:ext cx="2057400" cy="2258568"/>
          </a:xfrm>
          <a:prstGeom prst="rect">
            <a:avLst/>
          </a:prstGeom>
        </p:spPr>
      </p:pic>
      <p:sp>
        <p:nvSpPr>
          <p:cNvPr id="26" name="image caption"/>
          <p:cNvSpPr txBox="1"/>
          <p:nvPr/>
        </p:nvSpPr>
        <p:spPr>
          <a:xfrm>
            <a:off x="7223760" y="4709160"/>
            <a:ext cx="4480560" cy="822960"/>
          </a:xfrm>
          <a:prstGeom prst="rect">
            <a:avLst/>
          </a:prstGeom>
          <a:noFill/>
          <a:ln/>
        </p:spPr>
        <p:txBody>
          <a:bodyPr wrap="square" lIns="0" tIns="0" rIns="0" bIns="0" rtlCol="0" anchor="ctr"/>
          <a:lstStyle/>
          <a:p>
            <a:pPr indent="0" marL="0">
              <a:buNone/>
            </a:pPr>
            <a:r>
              <a:rPr lang="en-US" sz="1000" dirty="0">
                <a:solidFill>
                  <a:srgbClr val="5C6B63"/>
                </a:solidFill>
              </a:rPr>
              <a:t>Synthetic statement (Humo-style layout, Russian labels) and a camera-augmented synthetic fiscal receipt. No real person is represented; names come from a short public list, card numbers are random and masked.</a:t>
            </a:r>
            <a:endParaRPr lang="en-US" sz="1000" dirty="0"/>
          </a:p>
        </p:txBody>
      </p:sp>
      <p:sp>
        <p:nvSpPr>
          <p:cNvPr id="27" name="regen cmd"/>
          <p:cNvSpPr txBox="1"/>
          <p:nvPr/>
        </p:nvSpPr>
        <p:spPr>
          <a:xfrm>
            <a:off x="7223760" y="5623560"/>
            <a:ext cx="4480560" cy="457200"/>
          </a:xfrm>
          <a:prstGeom prst="rect">
            <a:avLst/>
          </a:prstGeom>
          <a:noFill/>
          <a:ln/>
        </p:spPr>
        <p:txBody>
          <a:bodyPr wrap="square" lIns="0" tIns="0" rIns="0" bIns="0" rtlCol="0" anchor="ctr"/>
          <a:lstStyle/>
          <a:p>
            <a:pPr indent="0" marL="0">
              <a:buNone/>
            </a:pPr>
            <a:r>
              <a:rPr lang="en-US" sz="1000" dirty="0">
                <a:solidFill>
                  <a:srgbClr val="1F4E3D"/>
                </a:solidFill>
                <a:latin typeface="Courier New" pitchFamily="34" charset="0"/>
                <a:ea typeface="Courier New" pitchFamily="34" charset="-122"/>
                <a:cs typeface="Courier New" pitchFamily="34" charset="-120"/>
              </a:rPr>
              <a:t>Regenerate:  python -m synth.cli --n 2000 --render 60 --receipts 180 --tamper 40 --seed 42</a:t>
            </a:r>
            <a:endParaRPr lang="en-US" sz="1000" dirty="0"/>
          </a:p>
        </p:txBody>
      </p:sp>
      <p:sp>
        <p:nvSpPr>
          <p:cNvPr id="28" name="berka note"/>
          <p:cNvSpPr txBox="1"/>
          <p:nvPr/>
        </p:nvSpPr>
        <p:spPr>
          <a:xfrm>
            <a:off x="548640" y="6172200"/>
            <a:ext cx="6400800" cy="274320"/>
          </a:xfrm>
          <a:prstGeom prst="rect">
            <a:avLst/>
          </a:prstGeom>
          <a:noFill/>
          <a:ln/>
        </p:spPr>
        <p:txBody>
          <a:bodyPr wrap="square" lIns="0" tIns="0" rIns="0" bIns="0" rtlCol="0" anchor="ctr"/>
          <a:lstStyle/>
          <a:p>
            <a:pPr indent="0" marL="0">
              <a:buNone/>
            </a:pPr>
            <a:r>
              <a:rPr lang="en-US" sz="900" dirty="0">
                <a:solidFill>
                  <a:srgbClr val="5C6B63"/>
                </a:solidFill>
              </a:rPr>
              <a:t>Also: methodology check on real anonymised bank data (Berka, PKDD'99) — not redistributed, downloaded by script.</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Pilot: three months, five branches, fifty mahalla agents</a:t>
            </a:r>
            <a:endParaRPr lang="en-US" sz="2800" dirty="0"/>
          </a:p>
        </p:txBody>
      </p:sp>
      <p:sp>
        <p:nvSpPr>
          <p:cNvPr id="4" name="cost caption"/>
          <p:cNvSpPr txBox="1"/>
          <p:nvPr/>
        </p:nvSpPr>
        <p:spPr>
          <a:xfrm>
            <a:off x="548640" y="1280160"/>
            <a:ext cx="5669280" cy="365760"/>
          </a:xfrm>
          <a:prstGeom prst="rect">
            <a:avLst/>
          </a:prstGeom>
          <a:noFill/>
          <a:ln/>
        </p:spPr>
        <p:txBody>
          <a:bodyPr wrap="square" lIns="0" tIns="0" rIns="0" bIns="0" rtlCol="0" anchor="ctr"/>
          <a:lstStyle/>
          <a:p>
            <a:pPr indent="0" marL="0">
              <a:buNone/>
            </a:pPr>
            <a:r>
              <a:rPr lang="en-US" sz="1400" b="1" dirty="0">
                <a:solidFill>
                  <a:srgbClr val="5C6B63"/>
                </a:solidFill>
              </a:rPr>
              <a:t>Cost to build and run the pilot (assumptions, UZS)</a:t>
            </a:r>
            <a:endParaRPr lang="en-US" sz="1400" dirty="0"/>
          </a:p>
        </p:txBody>
      </p:sp>
      <p:graphicFrame>
        <p:nvGraphicFramePr>
          <p:cNvPr id="9" name="cost table"/>
          <p:cNvGraphicFramePr>
            <a:graphicFrameLocks noGrp="1"/>
          </p:cNvGraphicFramePr>
          <p:nvPr>
            <p:extLst>
              <p:ext uri="{D42A27DB-BD31-4B8C-83A1-F6EECF244321}">
                <p14:modId xmlns:p14="http://schemas.microsoft.com/office/powerpoint/2010/main" val="1579011935"/>
              </p:ext>
            </p:extLst>
          </p:nvPr>
        </p:nvGraphicFramePr>
        <p:xfrm>
          <a:off x="548640" y="1691640"/>
          <a:ext cx="5669280" cy="914400"/>
        </p:xfrm>
        <a:graphic>
          <a:graphicData uri="http://schemas.openxmlformats.org/drawingml/2006/table">
            <a:tbl>
              <a:tblPr/>
              <a:tblGrid>
                <a:gridCol w="2286000"/>
                <a:gridCol w="2377440"/>
                <a:gridCol w="1005840"/>
              </a:tblGrid>
              <a:tr h="329184">
                <a:tc>
                  <a:txBody>
                    <a:bodyPr/>
                    <a:lstStyle/>
                    <a:p>
                      <a:pPr algn="l" indent="0" marL="0">
                        <a:buNone/>
                      </a:pPr>
                      <a:r>
                        <a:rPr lang="en-US" sz="1050" b="1" dirty="0">
                          <a:solidFill>
                            <a:srgbClr val="FFFFFF"/>
                          </a:solidFill>
                        </a:rPr>
                        <a:t>Line</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1F4E3D"/>
                    </a:solidFill>
                  </a:tcPr>
                </a:tc>
                <a:tc>
                  <a:txBody>
                    <a:bodyPr/>
                    <a:lstStyle/>
                    <a:p>
                      <a:pPr algn="l" indent="0" marL="0">
                        <a:buNone/>
                      </a:pPr>
                      <a:r>
                        <a:rPr lang="en-US" sz="1050" b="1" dirty="0">
                          <a:solidFill>
                            <a:srgbClr val="FFFFFF"/>
                          </a:solidFill>
                        </a:rPr>
                        <a:t>Assumption</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1F4E3D"/>
                    </a:solidFill>
                  </a:tcPr>
                </a:tc>
                <a:tc>
                  <a:txBody>
                    <a:bodyPr/>
                    <a:lstStyle/>
                    <a:p>
                      <a:pPr algn="r" indent="0" marL="0">
                        <a:buNone/>
                      </a:pPr>
                      <a:r>
                        <a:rPr lang="en-US" sz="1050" b="1" dirty="0">
                          <a:solidFill>
                            <a:srgbClr val="FFFFFF"/>
                          </a:solidFill>
                        </a:rPr>
                        <a:t>3-month cost</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1F4E3D"/>
                    </a:solidFill>
                  </a:tcPr>
                </a:tc>
              </a:tr>
              <a:tr h="329184">
                <a:tc>
                  <a:txBody>
                    <a:bodyPr/>
                    <a:lstStyle/>
                    <a:p>
                      <a:pPr algn="l" indent="0" marL="0">
                        <a:buNone/>
                      </a:pPr>
                      <a:r>
                        <a:rPr lang="en-US" sz="1050" dirty="0">
                          <a:solidFill>
                            <a:srgbClr val="17201B"/>
                          </a:solidFill>
                        </a:rPr>
                        <a:t>Team: 3 engineers/analysts (TYS)</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01B"/>
                          </a:solidFill>
                        </a:rPr>
                        <a:t>3 × 3 months × 15M</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01B"/>
                          </a:solidFill>
                        </a:rPr>
                        <a:t>135M</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17201B"/>
                          </a:solidFill>
                        </a:rPr>
                        <a:t>Bank credit analyst, part-time</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01B"/>
                          </a:solidFill>
                        </a:rPr>
                        <a:t>0.5 FTE × 3 months × 15M</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01B"/>
                          </a:solidFill>
                        </a:rPr>
                        <a:t>22.5M</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17201B"/>
                          </a:solidFill>
                        </a:rPr>
                        <a:t>Infrastructure</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01B"/>
                          </a:solidFill>
                        </a:rPr>
                        <a:t>1 VM in the bank DC, no GPU</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01B"/>
                          </a:solidFill>
                        </a:rPr>
                        <a:t>≈ 3M</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17201B"/>
                          </a:solidFill>
                        </a:rPr>
                        <a:t>Integration (core banking, bureau)</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01B"/>
                          </a:solidFill>
                        </a:rPr>
                        <a:t>bank IT, 20 person-days</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01B"/>
                          </a:solidFill>
                        </a:rPr>
                        <a:t>≈ 30M</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17201B"/>
                          </a:solidFill>
                        </a:rPr>
                        <a:t>Data, licences, API spend</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01B"/>
                          </a:solidFill>
                        </a:rPr>
                        <a:t>none — open-source, no external API</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7201B"/>
                          </a:solidFill>
                        </a:rPr>
                        <a:t>0</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7201B"/>
                          </a:solidFill>
                        </a:rPr>
                        <a:t>Total pilot (≈ $15k)</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algn="l" indent="0" marL="0">
                        <a:buNone/>
                      </a:pP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algn="r" indent="0" marL="0">
                        <a:buNone/>
                      </a:pPr>
                      <a:r>
                        <a:rPr lang="en-US" sz="1050" b="1" dirty="0">
                          <a:solidFill>
                            <a:srgbClr val="17201B"/>
                          </a:solidFill>
                        </a:rPr>
                        <a:t>≈ 190M</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r>
            </a:tbl>
          </a:graphicData>
        </a:graphic>
      </p:graphicFrame>
      <p:sp>
        <p:nvSpPr>
          <p:cNvPr id="6" name="run cost"/>
          <p:cNvSpPr txBox="1"/>
          <p:nvPr/>
        </p:nvSpPr>
        <p:spPr>
          <a:xfrm>
            <a:off x="548640" y="4343400"/>
            <a:ext cx="5669280" cy="548640"/>
          </a:xfrm>
          <a:prstGeom prst="rect">
            <a:avLst/>
          </a:prstGeom>
          <a:noFill/>
          <a:ln/>
        </p:spPr>
        <p:txBody>
          <a:bodyPr wrap="square" lIns="0" tIns="0" rIns="0" bIns="0" rtlCol="0" anchor="ctr"/>
          <a:lstStyle/>
          <a:p>
            <a:pPr indent="0" marL="0">
              <a:buNone/>
            </a:pPr>
            <a:r>
              <a:rPr lang="en-US" sz="1050" dirty="0">
                <a:solidFill>
                  <a:srgbClr val="17201B"/>
                </a:solidFill>
              </a:rPr>
              <a:t>Running cost per application: zero marginal (static bundle; no API, no GPU). Optional narrative LLM on one on-prem GPU: well under 1 US cent per application.</a:t>
            </a:r>
            <a:endParaRPr lang="en-US" sz="1050" dirty="0"/>
          </a:p>
        </p:txBody>
      </p:sp>
      <p:sp>
        <p:nvSpPr>
          <p:cNvPr id="7" name="timeline"/>
          <p:cNvSpPr txBox="1"/>
          <p:nvPr/>
        </p:nvSpPr>
        <p:spPr>
          <a:xfrm>
            <a:off x="548640" y="4983480"/>
            <a:ext cx="5669280" cy="1280160"/>
          </a:xfrm>
          <a:prstGeom prst="rect">
            <a:avLst/>
          </a:prstGeom>
          <a:noFill/>
          <a:ln/>
        </p:spPr>
        <p:txBody>
          <a:bodyPr wrap="square" lIns="0" tIns="0" rIns="0" bIns="0" rtlCol="0" anchor="ctr"/>
          <a:lstStyle/>
          <a:p>
            <a:pPr indent="0" marL="0">
              <a:buNone/>
            </a:pPr>
            <a:r>
              <a:rPr lang="en-US" sz="1050" dirty="0">
                <a:solidFill>
                  <a:srgbClr val="17201B"/>
                </a:solidFill>
              </a:rPr>
              <a:t>Timeline: month 1 shadow mode (engine runs beside the manual process; we measure minutes and agreement) · months 2–3 assisted mode (officer works from the memo) · success metrics: minutes per application, agreement with committee, override rate, ПДН audit findings, retrained model AUC on bank history.</a:t>
            </a:r>
            <a:endParaRPr lang="en-US" sz="1050" dirty="0"/>
          </a:p>
        </p:txBody>
      </p:sp>
      <p:sp>
        <p:nvSpPr>
          <p:cNvPr id="8" name="value caption"/>
          <p:cNvSpPr txBox="1"/>
          <p:nvPr/>
        </p:nvSpPr>
        <p:spPr>
          <a:xfrm>
            <a:off x="6492240" y="1280160"/>
            <a:ext cx="5212080" cy="365760"/>
          </a:xfrm>
          <a:prstGeom prst="rect">
            <a:avLst/>
          </a:prstGeom>
          <a:noFill/>
          <a:ln/>
        </p:spPr>
        <p:txBody>
          <a:bodyPr wrap="square" lIns="0" tIns="0" rIns="0" bIns="0" rtlCol="0" anchor="ctr"/>
          <a:lstStyle/>
          <a:p>
            <a:pPr indent="0" marL="0">
              <a:buNone/>
            </a:pPr>
            <a:r>
              <a:rPr lang="en-US" sz="1400" b="1" dirty="0">
                <a:solidFill>
                  <a:srgbClr val="5C6B63"/>
                </a:solidFill>
              </a:rPr>
              <a:t>Value — the officer-hours formula (every term is a slider)</a:t>
            </a:r>
            <a:endParaRPr lang="en-US" sz="1400" dirty="0"/>
          </a:p>
        </p:txBody>
      </p:sp>
      <p:sp>
        <p:nvSpPr>
          <p:cNvPr id="9" name="tile document handling per application, before → with Daromad (assumption 1; the pilot measures it)"/>
          <p:cNvSpPr/>
          <p:nvPr/>
        </p:nvSpPr>
        <p:spPr>
          <a:xfrm>
            <a:off x="6492240" y="1691640"/>
            <a:ext cx="2514600" cy="1097280"/>
          </a:xfrm>
          <a:prstGeom prst="roundRect">
            <a:avLst>
              <a:gd name="adj" fmla="val 6667"/>
            </a:avLst>
          </a:prstGeom>
          <a:solidFill>
            <a:srgbClr val="E9F1EC"/>
          </a:solidFill>
          <a:ln w="12700">
            <a:solidFill>
              <a:srgbClr val="E9F1EC"/>
            </a:solidFill>
            <a:prstDash val="solid"/>
          </a:ln>
        </p:spPr>
      </p:sp>
      <p:sp>
        <p:nvSpPr>
          <p:cNvPr id="10" name="tile value document handling per application, before → with Daromad (assumption 1; the pilot measures it)"/>
          <p:cNvSpPr txBox="1"/>
          <p:nvPr/>
        </p:nvSpPr>
        <p:spPr>
          <a:xfrm>
            <a:off x="6629400" y="1764792"/>
            <a:ext cx="2240280" cy="603504"/>
          </a:xfrm>
          <a:prstGeom prst="rect">
            <a:avLst/>
          </a:prstGeom>
          <a:noFill/>
          <a:ln/>
        </p:spPr>
        <p:txBody>
          <a:bodyPr wrap="square" lIns="0" tIns="0" rIns="0" bIns="0" rtlCol="0" anchor="ctr"/>
          <a:lstStyle/>
          <a:p>
            <a:pPr indent="0" marL="0">
              <a:buNone/>
            </a:pPr>
            <a:r>
              <a:rPr lang="en-US" sz="2200" b="1" dirty="0">
                <a:solidFill>
                  <a:srgbClr val="1F4E3D"/>
                </a:solidFill>
              </a:rPr>
              <a:t>90 → 25 min</a:t>
            </a:r>
            <a:endParaRPr lang="en-US" sz="2200" dirty="0"/>
          </a:p>
        </p:txBody>
      </p:sp>
      <p:sp>
        <p:nvSpPr>
          <p:cNvPr id="11" name="tile label document handling per application, before → with Daromad (assumption 1; the pilot measures it)"/>
          <p:cNvSpPr txBox="1"/>
          <p:nvPr/>
        </p:nvSpPr>
        <p:spPr>
          <a:xfrm>
            <a:off x="6629400" y="2328062"/>
            <a:ext cx="2240280" cy="438912"/>
          </a:xfrm>
          <a:prstGeom prst="rect">
            <a:avLst/>
          </a:prstGeom>
          <a:noFill/>
          <a:ln/>
        </p:spPr>
        <p:txBody>
          <a:bodyPr wrap="square" lIns="0" tIns="0" rIns="0" bIns="0" rtlCol="0" anchor="t"/>
          <a:lstStyle/>
          <a:p>
            <a:pPr indent="0" marL="0">
              <a:buNone/>
            </a:pPr>
            <a:r>
              <a:rPr lang="en-US" sz="950" dirty="0">
                <a:solidFill>
                  <a:srgbClr val="5C6B63"/>
                </a:solidFill>
              </a:rPr>
              <a:t>document handling per application, before → with Daromad (assumption 1; the pilot measures it)</a:t>
            </a:r>
            <a:endParaRPr lang="en-US" sz="950" dirty="0"/>
          </a:p>
        </p:txBody>
      </p:sp>
      <p:sp>
        <p:nvSpPr>
          <p:cNvPr id="12" name="tile addressable applications: 30% of MKBANK's 140,000 micro-projects (bank's own 2026 target) — those outside the family programme and above 50 BRV (assumption 2)"/>
          <p:cNvSpPr/>
          <p:nvPr/>
        </p:nvSpPr>
        <p:spPr>
          <a:xfrm>
            <a:off x="9189720" y="1691640"/>
            <a:ext cx="2514600" cy="1097280"/>
          </a:xfrm>
          <a:prstGeom prst="roundRect">
            <a:avLst>
              <a:gd name="adj" fmla="val 6667"/>
            </a:avLst>
          </a:prstGeom>
          <a:solidFill>
            <a:srgbClr val="E9F1EC"/>
          </a:solidFill>
          <a:ln w="12700">
            <a:solidFill>
              <a:srgbClr val="E9F1EC"/>
            </a:solidFill>
            <a:prstDash val="solid"/>
          </a:ln>
        </p:spPr>
      </p:sp>
      <p:sp>
        <p:nvSpPr>
          <p:cNvPr id="13" name="tile value addressable applications: 30% of MKBANK&amp;apos;s 140,000 micro-projects (bank&amp;apos;s own 2026 target) — those outside the family programme and above 50 BRV (assumption 2)"/>
          <p:cNvSpPr txBox="1"/>
          <p:nvPr/>
        </p:nvSpPr>
        <p:spPr>
          <a:xfrm>
            <a:off x="9326880" y="1764792"/>
            <a:ext cx="2240280" cy="603504"/>
          </a:xfrm>
          <a:prstGeom prst="rect">
            <a:avLst/>
          </a:prstGeom>
          <a:noFill/>
          <a:ln/>
        </p:spPr>
        <p:txBody>
          <a:bodyPr wrap="square" lIns="0" tIns="0" rIns="0" bIns="0" rtlCol="0" anchor="ctr"/>
          <a:lstStyle/>
          <a:p>
            <a:pPr indent="0" marL="0">
              <a:buNone/>
            </a:pPr>
            <a:r>
              <a:rPr lang="en-US" sz="2200" b="1" dirty="0">
                <a:solidFill>
                  <a:srgbClr val="1F4E3D"/>
                </a:solidFill>
              </a:rPr>
              <a:t>≈ 42,000 / yr</a:t>
            </a:r>
            <a:endParaRPr lang="en-US" sz="2200" dirty="0"/>
          </a:p>
        </p:txBody>
      </p:sp>
      <p:sp>
        <p:nvSpPr>
          <p:cNvPr id="14" name="tile label addressable applications: 30% of MKBANK&amp;apos;s 140,000 micro-projects (bank&amp;apos;s own 2026 target) — those outside the family programme and above 50 BRV (assumption 2)"/>
          <p:cNvSpPr txBox="1"/>
          <p:nvPr/>
        </p:nvSpPr>
        <p:spPr>
          <a:xfrm>
            <a:off x="9326880" y="2328062"/>
            <a:ext cx="2240280" cy="438912"/>
          </a:xfrm>
          <a:prstGeom prst="rect">
            <a:avLst/>
          </a:prstGeom>
          <a:noFill/>
          <a:ln/>
        </p:spPr>
        <p:txBody>
          <a:bodyPr wrap="square" lIns="0" tIns="0" rIns="0" bIns="0" rtlCol="0" anchor="t"/>
          <a:lstStyle/>
          <a:p>
            <a:pPr indent="0" marL="0">
              <a:buNone/>
            </a:pPr>
            <a:r>
              <a:rPr lang="en-US" sz="850" dirty="0">
                <a:solidFill>
                  <a:srgbClr val="5C6B63"/>
                </a:solidFill>
              </a:rPr>
              <a:t>addressable applications: 30% of MKBANK's 140,000 micro-projects (bank's own 2026 target) — those outside the family programme and above 50 BRV (assumption 2)</a:t>
            </a:r>
            <a:endParaRPr lang="en-US" sz="850" dirty="0"/>
          </a:p>
        </p:txBody>
      </p:sp>
      <p:sp>
        <p:nvSpPr>
          <p:cNvPr id="15" name="tile officer-hours saved per year = 42,000 × 65 min ≈ 23 FTE-years at 2,000 h"/>
          <p:cNvSpPr/>
          <p:nvPr/>
        </p:nvSpPr>
        <p:spPr>
          <a:xfrm>
            <a:off x="6492240" y="2926080"/>
            <a:ext cx="2514600" cy="1097280"/>
          </a:xfrm>
          <a:prstGeom prst="roundRect">
            <a:avLst>
              <a:gd name="adj" fmla="val 6667"/>
            </a:avLst>
          </a:prstGeom>
          <a:solidFill>
            <a:srgbClr val="1F4E3D"/>
          </a:solidFill>
          <a:ln w="12700">
            <a:solidFill>
              <a:srgbClr val="1F4E3D"/>
            </a:solidFill>
            <a:prstDash val="solid"/>
          </a:ln>
        </p:spPr>
      </p:sp>
      <p:sp>
        <p:nvSpPr>
          <p:cNvPr id="16" name="tile value officer-hours saved per year = 42,000 × 65 min ≈ 23 FTE-years at 2,000 h"/>
          <p:cNvSpPr txBox="1"/>
          <p:nvPr/>
        </p:nvSpPr>
        <p:spPr>
          <a:xfrm>
            <a:off x="6629400" y="2999232"/>
            <a:ext cx="2240280" cy="603504"/>
          </a:xfrm>
          <a:prstGeom prst="rect">
            <a:avLst/>
          </a:prstGeom>
          <a:noFill/>
          <a:ln/>
        </p:spPr>
        <p:txBody>
          <a:bodyPr wrap="square" lIns="0" tIns="0" rIns="0" bIns="0" rtlCol="0" anchor="ctr"/>
          <a:lstStyle/>
          <a:p>
            <a:pPr indent="0" marL="0">
              <a:buNone/>
            </a:pPr>
            <a:r>
              <a:rPr lang="en-US" sz="2200" b="1" dirty="0">
                <a:solidFill>
                  <a:srgbClr val="FFFFFF"/>
                </a:solidFill>
              </a:rPr>
              <a:t>≈ 45,000 h</a:t>
            </a:r>
            <a:endParaRPr lang="en-US" sz="2200" dirty="0"/>
          </a:p>
        </p:txBody>
      </p:sp>
      <p:sp>
        <p:nvSpPr>
          <p:cNvPr id="17" name="tile label officer-hours saved per year = 42,000 × 65 min ≈ 23 FTE-years at 2,000 h"/>
          <p:cNvSpPr txBox="1"/>
          <p:nvPr/>
        </p:nvSpPr>
        <p:spPr>
          <a:xfrm>
            <a:off x="6629400" y="3562502"/>
            <a:ext cx="2240280" cy="438912"/>
          </a:xfrm>
          <a:prstGeom prst="rect">
            <a:avLst/>
          </a:prstGeom>
          <a:noFill/>
          <a:ln/>
        </p:spPr>
        <p:txBody>
          <a:bodyPr wrap="square" lIns="0" tIns="0" rIns="0" bIns="0" rtlCol="0" anchor="t"/>
          <a:lstStyle/>
          <a:p>
            <a:pPr indent="0" marL="0">
              <a:buNone/>
            </a:pPr>
            <a:r>
              <a:rPr lang="en-US" sz="950" dirty="0">
                <a:solidFill>
                  <a:srgbClr val="8FB8A5"/>
                </a:solidFill>
              </a:rPr>
              <a:t>officer-hours saved per year = 42,000 × 65 min ≈ 23 FTE-years at 2,000 h</a:t>
            </a:r>
            <a:endParaRPr lang="en-US" sz="950" dirty="0"/>
          </a:p>
        </p:txBody>
      </p:sp>
      <p:sp>
        <p:nvSpPr>
          <p:cNvPr id="18" name="tile 23 FTE × 15M/month × 12 — officer time only; at a 10% addressable share ≈ 1.4 bn"/>
          <p:cNvSpPr/>
          <p:nvPr/>
        </p:nvSpPr>
        <p:spPr>
          <a:xfrm>
            <a:off x="9189720" y="2926080"/>
            <a:ext cx="2514600" cy="1097280"/>
          </a:xfrm>
          <a:prstGeom prst="roundRect">
            <a:avLst>
              <a:gd name="adj" fmla="val 6667"/>
            </a:avLst>
          </a:prstGeom>
          <a:solidFill>
            <a:srgbClr val="1F4E3D"/>
          </a:solidFill>
          <a:ln w="12700">
            <a:solidFill>
              <a:srgbClr val="1F4E3D"/>
            </a:solidFill>
            <a:prstDash val="solid"/>
          </a:ln>
        </p:spPr>
      </p:sp>
      <p:sp>
        <p:nvSpPr>
          <p:cNvPr id="19" name="tile value 23 FTE × 15M/month × 12 — officer time only; at a 10% addressable share ≈ 1.4 bn"/>
          <p:cNvSpPr txBox="1"/>
          <p:nvPr/>
        </p:nvSpPr>
        <p:spPr>
          <a:xfrm>
            <a:off x="9326880" y="2999232"/>
            <a:ext cx="2240280" cy="603504"/>
          </a:xfrm>
          <a:prstGeom prst="rect">
            <a:avLst/>
          </a:prstGeom>
          <a:noFill/>
          <a:ln/>
        </p:spPr>
        <p:txBody>
          <a:bodyPr wrap="square" lIns="0" tIns="0" rIns="0" bIns="0" rtlCol="0" anchor="ctr"/>
          <a:lstStyle/>
          <a:p>
            <a:pPr indent="0" marL="0">
              <a:buNone/>
            </a:pPr>
            <a:r>
              <a:rPr lang="en-US" sz="2000" b="1" dirty="0">
                <a:solidFill>
                  <a:srgbClr val="FFFFFF"/>
                </a:solidFill>
              </a:rPr>
              <a:t>≈ 4.1 bn UZS/yr</a:t>
            </a:r>
            <a:endParaRPr lang="en-US" sz="2000" dirty="0"/>
          </a:p>
        </p:txBody>
      </p:sp>
      <p:sp>
        <p:nvSpPr>
          <p:cNvPr id="20" name="tile label 23 FTE × 15M/month × 12 — officer time only; at a 10% addressable share ≈ 1.4 bn"/>
          <p:cNvSpPr txBox="1"/>
          <p:nvPr/>
        </p:nvSpPr>
        <p:spPr>
          <a:xfrm>
            <a:off x="9326880" y="3562502"/>
            <a:ext cx="2240280" cy="438912"/>
          </a:xfrm>
          <a:prstGeom prst="rect">
            <a:avLst/>
          </a:prstGeom>
          <a:noFill/>
          <a:ln/>
        </p:spPr>
        <p:txBody>
          <a:bodyPr wrap="square" lIns="0" tIns="0" rIns="0" bIns="0" rtlCol="0" anchor="t"/>
          <a:lstStyle/>
          <a:p>
            <a:pPr indent="0" marL="0">
              <a:buNone/>
            </a:pPr>
            <a:r>
              <a:rPr lang="en-US" sz="950" dirty="0">
                <a:solidFill>
                  <a:srgbClr val="8FB8A5"/>
                </a:solidFill>
              </a:rPr>
              <a:t>23 FTE × 15M/month × 12 — officer time only; at a 10% addressable share ≈ 1.4 bn</a:t>
            </a:r>
            <a:endParaRPr lang="en-US" sz="950" dirty="0"/>
          </a:p>
        </p:txBody>
      </p:sp>
      <p:sp>
        <p:nvSpPr>
          <p:cNvPr id="21" name="payback"/>
          <p:cNvSpPr txBox="1"/>
          <p:nvPr/>
        </p:nvSpPr>
        <p:spPr>
          <a:xfrm>
            <a:off x="6492240" y="4160520"/>
            <a:ext cx="5212080" cy="1371600"/>
          </a:xfrm>
          <a:prstGeom prst="rect">
            <a:avLst/>
          </a:prstGeom>
          <a:noFill/>
          <a:ln/>
        </p:spPr>
        <p:txBody>
          <a:bodyPr wrap="square" lIns="0" tIns="0" rIns="0" bIns="0" rtlCol="0" anchor="ctr"/>
          <a:lstStyle/>
          <a:p>
            <a:pPr indent="0" marL="0">
              <a:buNone/>
            </a:pPr>
            <a:r>
              <a:rPr lang="en-US" sz="1050" b="1" dirty="0">
                <a:solidFill>
                  <a:srgbClr val="17201B"/>
                </a:solidFill>
              </a:rPr>
              <a:t>Payback: </a:t>
            </a:r>
            <a:pPr indent="0" marL="0">
              <a:buNone/>
            </a:pPr>
            <a:r>
              <a:rPr lang="en-US" sz="1050" dirty="0">
                <a:solidFill>
                  <a:srgbClr val="17201B"/>
                </a:solidFill>
              </a:rPr>
              <a:t>the ≈ 190M pilot itself (5 of 181 branches, 3 months) does not pay back — it measures the two assumptions. After roll-out the saving of ≈ 4.1 bn/yr repays the pilot within its first month; at a 10% addressable share, within two months. Not counted: faster time-to-decision for the borrower, fewer ПДН compliance findings, better risk selection — claimed only after the pilot measures them.</a:t>
            </a:r>
            <a:endParaRPr lang="en-US" sz="1050" dirty="0"/>
          </a:p>
        </p:txBody>
      </p:sp>
      <p:sp>
        <p:nvSpPr>
          <p:cNvPr id="22" name="owner"/>
          <p:cNvSpPr txBox="1"/>
          <p:nvPr/>
        </p:nvSpPr>
        <p:spPr>
          <a:xfrm>
            <a:off x="6492240" y="5577840"/>
            <a:ext cx="5212080" cy="640080"/>
          </a:xfrm>
          <a:prstGeom prst="rect">
            <a:avLst/>
          </a:prstGeom>
          <a:noFill/>
          <a:ln/>
        </p:spPr>
        <p:txBody>
          <a:bodyPr wrap="square" lIns="0" tIns="0" rIns="0" bIns="0" rtlCol="0" anchor="ctr"/>
          <a:lstStyle/>
          <a:p>
            <a:pPr indent="0" marL="0">
              <a:buNone/>
            </a:pPr>
            <a:r>
              <a:rPr lang="en-US" sz="1050" dirty="0">
                <a:solidFill>
                  <a:srgbClr val="5C6B63"/>
                </a:solidFill>
              </a:rPr>
              <a:t>Who pays: MKBANK (credit department / digital budget). Who owns: micro &amp; family-business credit department; IT deploys; mahalla agents and loan officers use it.</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Hard to copy in a weekend — and what comes next</a:t>
            </a:r>
            <a:endParaRPr lang="en-US" sz="2800" dirty="0"/>
          </a:p>
        </p:txBody>
      </p:sp>
      <p:sp>
        <p:nvSpPr>
          <p:cNvPr id="4" name="replication card"/>
          <p:cNvSpPr/>
          <p:nvPr/>
        </p:nvSpPr>
        <p:spPr>
          <a:xfrm>
            <a:off x="548640" y="1325880"/>
            <a:ext cx="5486400" cy="4892040"/>
          </a:xfrm>
          <a:prstGeom prst="roundRect">
            <a:avLst>
              <a:gd name="adj" fmla="val 1495"/>
            </a:avLst>
          </a:prstGeom>
          <a:solidFill>
            <a:srgbClr val="E9F1EC"/>
          </a:solidFill>
          <a:ln w="12700">
            <a:solidFill>
              <a:srgbClr val="E9F1EC"/>
            </a:solidFill>
            <a:prstDash val="solid"/>
          </a:ln>
        </p:spPr>
      </p:sp>
      <p:pic>
        <p:nvPicPr>
          <p:cNvPr id="5" name="lock icon" descr="preencoded.png">    </p:cNvPr>
          <p:cNvPicPr>
            <a:picLocks noChangeAspect="1"/>
          </p:cNvPicPr>
          <p:nvPr/>
        </p:nvPicPr>
        <p:blipFill>
          <a:blip r:embed="rId1"/>
          <a:stretch>
            <a:fillRect/>
          </a:stretch>
        </p:blipFill>
        <p:spPr>
          <a:xfrm>
            <a:off x="731520" y="1508760"/>
            <a:ext cx="365760" cy="365760"/>
          </a:xfrm>
          <a:prstGeom prst="rect">
            <a:avLst/>
          </a:prstGeom>
        </p:spPr>
      </p:pic>
      <p:sp>
        <p:nvSpPr>
          <p:cNvPr id="6" name="replication head"/>
          <p:cNvSpPr txBox="1"/>
          <p:nvPr/>
        </p:nvSpPr>
        <p:spPr>
          <a:xfrm>
            <a:off x="1188720" y="1463040"/>
            <a:ext cx="4663440" cy="457200"/>
          </a:xfrm>
          <a:prstGeom prst="rect">
            <a:avLst/>
          </a:prstGeom>
          <a:noFill/>
          <a:ln/>
        </p:spPr>
        <p:txBody>
          <a:bodyPr wrap="square" lIns="0" tIns="0" rIns="0" bIns="0" rtlCol="0" anchor="ctr"/>
          <a:lstStyle/>
          <a:p>
            <a:pPr indent="0" marL="0">
              <a:buNone/>
            </a:pPr>
            <a:r>
              <a:rPr lang="en-US" sz="1400" b="1" dirty="0">
                <a:solidFill>
                  <a:srgbClr val="1F4E3D"/>
                </a:solidFill>
              </a:rPr>
              <a:t>The replication test — what the same LLM tools do not give you</a:t>
            </a:r>
            <a:endParaRPr lang="en-US" sz="1400" dirty="0"/>
          </a:p>
        </p:txBody>
      </p:sp>
      <p:sp>
        <p:nvSpPr>
          <p:cNvPr id="7" name="bullets"/>
          <p:cNvSpPr txBox="1"/>
          <p:nvPr/>
        </p:nvSpPr>
        <p:spPr>
          <a:xfrm>
            <a:off x="731520" y="2057400"/>
            <a:ext cx="5120640" cy="40233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7201B"/>
                </a:solidFill>
              </a:rPr>
              <a:t>Statement parsers that learn columns from the data rows (two Uzbek layouts today, any text-layer PDF, XLSX, CSV) and reconcile the balance chain</a:t>
            </a:r>
            <a:endParaRPr lang="en-US" sz="1150" dirty="0"/>
          </a:p>
          <a:p>
            <a:pPr marL="342900" indent="-342900">
              <a:spcAft>
                <a:spcPts val="600"/>
              </a:spcAft>
              <a:buSzPct val="100000"/>
              <a:buChar char="•"/>
            </a:pPr>
            <a:r>
              <a:rPr lang="en-US" sz="1150" dirty="0">
                <a:solidFill>
                  <a:srgbClr val="17201B"/>
                </a:solidFill>
              </a:rPr>
              <a:t>A categoriser lexicon in Uzbek Latin, Cyrillic and Russian with counterparty-pattern rules — and the pilot plan to grow it on bank data</a:t>
            </a:r>
            <a:endParaRPr lang="en-US" sz="1150" dirty="0"/>
          </a:p>
          <a:p>
            <a:pPr marL="342900" indent="-342900">
              <a:spcAft>
                <a:spcPts val="600"/>
              </a:spcAft>
              <a:buSzPct val="100000"/>
              <a:buChar char="•"/>
            </a:pPr>
            <a:r>
              <a:rPr lang="en-US" sz="1150" dirty="0">
                <a:solidFill>
                  <a:srgbClr val="17201B"/>
                </a:solidFill>
              </a:rPr>
              <a:t>A rule engine mapped clause by clause to the live ПДН regulation, with its exemptions and the back-solved maximum amount</a:t>
            </a:r>
            <a:endParaRPr lang="en-US" sz="1150" dirty="0"/>
          </a:p>
          <a:p>
            <a:pPr marL="342900" indent="-342900">
              <a:spcAft>
                <a:spcPts val="600"/>
              </a:spcAft>
              <a:buSzPct val="100000"/>
              <a:buChar char="•"/>
            </a:pPr>
            <a:r>
              <a:rPr lang="en-US" sz="1150" dirty="0">
                <a:solidFill>
                  <a:srgbClr val="17201B"/>
                </a:solidFill>
              </a:rPr>
              <a:t>A memo verifier that makes unsourced numbers impossible — zero hallucination by construction, no LLM needed</a:t>
            </a:r>
            <a:endParaRPr lang="en-US" sz="1150" dirty="0"/>
          </a:p>
          <a:p>
            <a:pPr marL="342900" indent="-342900">
              <a:spcAft>
                <a:spcPts val="600"/>
              </a:spcAft>
              <a:buSzPct val="100000"/>
              <a:buChar char="•"/>
            </a:pPr>
            <a:r>
              <a:rPr lang="en-US" sz="1150" dirty="0">
                <a:solidFill>
                  <a:srgbClr val="17201B"/>
                </a:solidFill>
              </a:rPr>
              <a:t>A declared, calibrated synthetic population with rendered documents, a camera model and labelled tampering — a test bed the bank can keep using</a:t>
            </a:r>
            <a:endParaRPr lang="en-US" sz="1150" dirty="0"/>
          </a:p>
          <a:p>
            <a:pPr marL="342900" indent="-342900">
              <a:spcAft>
                <a:spcPts val="600"/>
              </a:spcAft>
              <a:buSzPct val="100000"/>
              <a:buChar char="•"/>
            </a:pPr>
            <a:r>
              <a:rPr lang="en-US" sz="1150" dirty="0">
                <a:solidFill>
                  <a:srgbClr val="17201B"/>
                </a:solidFill>
              </a:rPr>
              <a:t>Evaluation through the real app, reproducible with one command each</a:t>
            </a:r>
            <a:endParaRPr lang="en-US" sz="1150" dirty="0"/>
          </a:p>
        </p:txBody>
      </p:sp>
      <p:sp>
        <p:nvSpPr>
          <p:cNvPr id="8" name="next card"/>
          <p:cNvSpPr/>
          <p:nvPr/>
        </p:nvSpPr>
        <p:spPr>
          <a:xfrm>
            <a:off x="6309360" y="1325880"/>
            <a:ext cx="5394960" cy="4892040"/>
          </a:xfrm>
          <a:prstGeom prst="roundRect">
            <a:avLst>
              <a:gd name="adj" fmla="val 1495"/>
            </a:avLst>
          </a:prstGeom>
          <a:solidFill>
            <a:srgbClr val="E9F1EC"/>
          </a:solidFill>
          <a:ln w="12700">
            <a:solidFill>
              <a:srgbClr val="E9F1EC"/>
            </a:solidFill>
            <a:prstDash val="solid"/>
          </a:ln>
        </p:spPr>
      </p:sp>
      <p:pic>
        <p:nvPicPr>
          <p:cNvPr id="9" name="layers icon" descr="preencoded.png">    </p:cNvPr>
          <p:cNvPicPr>
            <a:picLocks noChangeAspect="1"/>
          </p:cNvPicPr>
          <p:nvPr/>
        </p:nvPicPr>
        <p:blipFill>
          <a:blip r:embed="rId2"/>
          <a:stretch>
            <a:fillRect/>
          </a:stretch>
        </p:blipFill>
        <p:spPr>
          <a:xfrm>
            <a:off x="6492240" y="1508760"/>
            <a:ext cx="365760" cy="365760"/>
          </a:xfrm>
          <a:prstGeom prst="rect">
            <a:avLst/>
          </a:prstGeom>
        </p:spPr>
      </p:pic>
      <p:sp>
        <p:nvSpPr>
          <p:cNvPr id="10" name="next head"/>
          <p:cNvSpPr txBox="1"/>
          <p:nvPr/>
        </p:nvSpPr>
        <p:spPr>
          <a:xfrm>
            <a:off x="6949440" y="1463040"/>
            <a:ext cx="4572000" cy="457200"/>
          </a:xfrm>
          <a:prstGeom prst="rect">
            <a:avLst/>
          </a:prstGeom>
          <a:noFill/>
          <a:ln/>
        </p:spPr>
        <p:txBody>
          <a:bodyPr wrap="square" lIns="0" tIns="0" rIns="0" bIns="0" rtlCol="0" anchor="ctr"/>
          <a:lstStyle/>
          <a:p>
            <a:pPr indent="0" marL="0">
              <a:buNone/>
            </a:pPr>
            <a:r>
              <a:rPr lang="en-US" sz="1400" b="1" dirty="0">
                <a:solidFill>
                  <a:srgbClr val="1F4E3D"/>
                </a:solidFill>
              </a:rPr>
              <a:t>Next steps</a:t>
            </a:r>
            <a:endParaRPr lang="en-US" sz="1400" dirty="0"/>
          </a:p>
        </p:txBody>
      </p:sp>
      <p:sp>
        <p:nvSpPr>
          <p:cNvPr id="11" name="bullets"/>
          <p:cNvSpPr txBox="1"/>
          <p:nvPr/>
        </p:nvSpPr>
        <p:spPr>
          <a:xfrm>
            <a:off x="6492240" y="2057400"/>
            <a:ext cx="5029200" cy="40233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7201B"/>
                </a:solidFill>
              </a:rPr>
              <a:t>Week 1–2: scanned-statement OCR page by page; lexicon growth on anonymised bank descriptions; Uzbek/Russian memo templates</a:t>
            </a:r>
            <a:endParaRPr lang="en-US" sz="1150" dirty="0"/>
          </a:p>
          <a:p>
            <a:pPr marL="342900" indent="-342900">
              <a:spcAft>
                <a:spcPts val="600"/>
              </a:spcAft>
              <a:buSzPct val="100000"/>
              <a:buChar char="•"/>
            </a:pPr>
            <a:r>
              <a:rPr lang="en-US" sz="1150" dirty="0">
                <a:solidFill>
                  <a:srgbClr val="17201B"/>
                </a:solidFill>
              </a:rPr>
              <a:t>Month 1: shadow mode in 5 branches; core-banking pull for MKBANK's own account holders; credit-bureau REST for obligations</a:t>
            </a:r>
            <a:endParaRPr lang="en-US" sz="1150" dirty="0"/>
          </a:p>
          <a:p>
            <a:pPr marL="342900" indent="-342900">
              <a:spcAft>
                <a:spcPts val="600"/>
              </a:spcAft>
              <a:buSzPct val="100000"/>
              <a:buChar char="•"/>
            </a:pPr>
            <a:r>
              <a:rPr lang="en-US" sz="1150" dirty="0">
                <a:solidFill>
                  <a:srgbClr val="17201B"/>
                </a:solidFill>
              </a:rPr>
              <a:t>Month 2–3: assisted mode; retrain the risk model on bank history inside the perimeter; set risk bands with the bank's risk appetite; fairness review by region</a:t>
            </a:r>
            <a:endParaRPr lang="en-US" sz="1150" dirty="0"/>
          </a:p>
          <a:p>
            <a:pPr marL="342900" indent="-342900">
              <a:spcAft>
                <a:spcPts val="600"/>
              </a:spcAft>
              <a:buSzPct val="100000"/>
              <a:buChar char="•"/>
            </a:pPr>
            <a:r>
              <a:rPr lang="en-US" sz="1150" dirty="0">
                <a:solidFill>
                  <a:srgbClr val="17201B"/>
                </a:solidFill>
              </a:rPr>
              <a:t>After the pilot: Central Bank conversation — the same engine computes ПДН uniformly for any lender, a supervisory check at zero marginal cost</a:t>
            </a:r>
            <a:endParaRPr lang="en-US" sz="1150" dirty="0"/>
          </a:p>
          <a:p>
            <a:pPr marL="342900" indent="-342900">
              <a:spcAft>
                <a:spcPts val="600"/>
              </a:spcAft>
              <a:buSzPct val="100000"/>
              <a:buChar char="•"/>
            </a:pPr>
            <a:r>
              <a:rPr lang="en-US" sz="1150" dirty="0">
                <a:solidFill>
                  <a:srgbClr val="17201B"/>
                </a:solidFill>
              </a:rPr>
              <a:t>Product scope today: Ommabop 2, Express, Business Online 2 (ПДН applies) and family-programme loans (exempt from the cap, capacity still assessed)</a:t>
            </a:r>
            <a:endParaRPr lang="en-US" sz="11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10881360" cy="1280160"/>
          </a:xfrm>
          <a:prstGeom prst="rect">
            <a:avLst/>
          </a:prstGeom>
          <a:noFill/>
          <a:ln/>
        </p:spPr>
        <p:txBody>
          <a:bodyPr wrap="square" lIns="0" tIns="0" rIns="0" bIns="0" rtlCol="0"/>
          <a:lstStyle/>
          <a:p>
            <a:pPr indent="0" marL="0">
              <a:buNone/>
            </a:pPr>
            <a:r>
              <a:rPr lang="en-US" sz="4400" b="1" dirty="0">
                <a:solidFill>
                  <a:srgbClr val="FFFFFF"/>
                </a:solidFill>
              </a:rPr>
              <a:t>Daromad</a:t>
            </a:r>
            <a:endParaRPr lang="en-US" sz="4400" dirty="0"/>
          </a:p>
        </p:txBody>
      </p:sp>
      <p:sp>
        <p:nvSpPr>
          <p:cNvPr id="4" name="Text 0"/>
          <p:cNvSpPr/>
          <p:nvPr>
            <p:ph idx="101" type="body" hasCustomPrompt="1"/>
          </p:nvPr>
        </p:nvSpPr>
        <p:spPr>
          <a:xfrm>
            <a:off x="640080" y="3474720"/>
            <a:ext cx="10881360" cy="2194560"/>
          </a:xfrm>
          <a:prstGeom prst="rect">
            <a:avLst/>
          </a:prstGeom>
          <a:noFill/>
          <a:ln/>
        </p:spPr>
        <p:txBody>
          <a:bodyPr wrap="square" lIns="0" tIns="0" rIns="0" bIns="0" rtlCol="0"/>
          <a:lstStyle/>
          <a:p>
            <a:pPr indent="0" marL="0">
              <a:buNone/>
            </a:pPr>
            <a:r>
              <a:rPr lang="en-US" sz="1800" dirty="0">
                <a:solidFill>
                  <a:srgbClr val="E9F1EC"/>
                </a:solidFill>
              </a:rPr>
              <a:t>Income evidence for borrowers who have no payslip — regulation-native, perimeter-native, verified.</a:t>
            </a:r>
            <a:endParaRPr lang="en-US" sz="1800" dirty="0"/>
          </a:p>
        </p:txBody>
      </p:sp>
      <p:sp>
        <p:nvSpPr>
          <p:cNvPr id="5" name="closing links"/>
          <p:cNvSpPr txBox="1"/>
          <p:nvPr/>
        </p:nvSpPr>
        <p:spPr>
          <a:xfrm>
            <a:off x="640080" y="4572000"/>
            <a:ext cx="10881360" cy="1371600"/>
          </a:xfrm>
          <a:prstGeom prst="rect">
            <a:avLst/>
          </a:prstGeom>
          <a:noFill/>
          <a:ln/>
        </p:spPr>
        <p:txBody>
          <a:bodyPr wrap="square" lIns="0" tIns="0" rIns="0" bIns="0" rtlCol="0" anchor="ctr"/>
          <a:lstStyle/>
          <a:p>
            <a:pPr indent="0" marL="0">
              <a:buNone/>
            </a:pPr>
            <a:r>
              <a:rPr lang="en-US" sz="1500" b="1" dirty="0">
                <a:solidFill>
                  <a:srgbClr val="8FB8A5"/>
                </a:solidFill>
              </a:rPr>
              <a:t>Live:  </a:t>
            </a:r>
            <a:pPr indent="0" marL="0">
              <a:buNone/>
            </a:pPr>
            <a:r>
              <a:rPr lang="en-US" sz="1500" dirty="0">
                <a:solidFill>
                  <a:srgbClr val="8FB8A5"/>
                </a:solidFill>
              </a:rPr>
              <a:t>https://tys-fintech.vercel.app
</a:t>
            </a:r>
            <a:pPr indent="0" marL="0">
              <a:buNone/>
            </a:pPr>
            <a:r>
              <a:rPr lang="en-US" sz="1500" b="1" dirty="0">
                <a:solidFill>
                  <a:srgbClr val="8FB8A5"/>
                </a:solidFill>
              </a:rPr>
              <a:t>Repo:  </a:t>
            </a:r>
            <a:pPr indent="0" marL="0">
              <a:buNone/>
            </a:pPr>
            <a:r>
              <a:rPr lang="en-US" sz="1500" dirty="0">
                <a:solidFill>
                  <a:srgbClr val="8FB8A5"/>
                </a:solidFill>
              </a:rPr>
              <a:t>https://github.com/hmunisbekk-droid/TYS-fintech
</a:t>
            </a:r>
            <a:pPr indent="0" marL="0">
              <a:buNone/>
            </a:pPr>
            <a:r>
              <a:rPr lang="en-US" sz="1500" b="1" dirty="0">
                <a:solidFill>
                  <a:srgbClr val="8FB8A5"/>
                </a:solidFill>
              </a:rPr>
              <a:t>Team TYS:  </a:t>
            </a:r>
            <a:pPr indent="0" marL="0">
              <a:buNone/>
            </a:pPr>
            <a:r>
              <a:rPr lang="en-US" sz="1500" dirty="0">
                <a:solidFill>
                  <a:srgbClr val="8FB8A5"/>
                </a:solidFill>
              </a:rPr>
              <a:t>Munisbek · Jahongir · Umida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Appendix A · ПДН rule engine, clause by clause</a:t>
            </a:r>
            <a:endParaRPr lang="en-US" sz="2800" dirty="0"/>
          </a:p>
        </p:txBody>
      </p:sp>
      <p:graphicFrame>
        <p:nvGraphicFramePr>
          <p:cNvPr id="12" name="clause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822960"/>
                <a:gridCol w="7680960"/>
                <a:gridCol w="2560320"/>
              </a:tblGrid>
              <a:tr h="384048">
                <a:tc>
                  <a:txBody>
                    <a:bodyPr/>
                    <a:lstStyle/>
                    <a:p>
                      <a:pPr indent="0" marL="0">
                        <a:buNone/>
                      </a:pPr>
                      <a:r>
                        <a:rPr lang="en-US" sz="900" b="1" dirty="0">
                          <a:solidFill>
                            <a:srgbClr val="FFFFFF"/>
                          </a:solidFill>
                        </a:rPr>
                        <a:t>Clause</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1F4E3D"/>
                    </a:solidFill>
                  </a:tcPr>
                </a:tc>
                <a:tc>
                  <a:txBody>
                    <a:bodyPr/>
                    <a:lstStyle/>
                    <a:p>
                      <a:pPr indent="0" marL="0">
                        <a:buNone/>
                      </a:pPr>
                      <a:r>
                        <a:rPr lang="en-US" sz="900" b="1" dirty="0">
                          <a:solidFill>
                            <a:srgbClr val="FFFFFF"/>
                          </a:solidFill>
                        </a:rPr>
                        <a:t>Rule as implemented</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1F4E3D"/>
                    </a:solidFill>
                  </a:tcPr>
                </a:tc>
                <a:tc>
                  <a:txBody>
                    <a:bodyPr/>
                    <a:lstStyle/>
                    <a:p>
                      <a:pPr indent="0" marL="0">
                        <a:buNone/>
                      </a:pPr>
                      <a:r>
                        <a:rPr lang="en-US" sz="900" b="1" dirty="0">
                          <a:solidFill>
                            <a:srgbClr val="FFFFFF"/>
                          </a:solidFill>
                        </a:rPr>
                        <a:t>Where it shows</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1F4E3D"/>
                    </a:solidFill>
                  </a:tcPr>
                </a:tc>
              </a:tr>
              <a:tr h="384048">
                <a:tc>
                  <a:txBody>
                    <a:bodyPr/>
                    <a:lstStyle/>
                    <a:p>
                      <a:pPr indent="0" marL="0">
                        <a:buNone/>
                      </a:pPr>
                      <a:r>
                        <a:rPr lang="en-US" sz="900" b="1" dirty="0">
                          <a:solidFill>
                            <a:srgbClr val="17201B"/>
                          </a:solidFill>
                        </a:rPr>
                        <a:t>cl.1</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900" dirty="0">
                          <a:solidFill>
                            <a:srgbClr val="17201B"/>
                          </a:solidFill>
                        </a:rPr>
                        <a:t>ПДН = average monthly payments on loans/microloans ÷ average monthly income (borrower + co-borrower)</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900" dirty="0">
                          <a:solidFill>
                            <a:srgbClr val="17201B"/>
                          </a:solidFill>
                        </a:rPr>
                        <a:t>formula panel</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7201B"/>
                          </a:solidFill>
                        </a:rPr>
                        <a:t>cl.2</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900" dirty="0">
                          <a:solidFill>
                            <a:srgbClr val="17201B"/>
                          </a:solidFill>
                        </a:rPr>
                        <a:t>Includes the application under review and all loan agreements with all lenders; co-borrower loans counted; excluded if amount + outstanding principal ≤ 50 BRV («…50 бараваридан ошмаганда»); 75 BRV for self-employed at MFOs; bank-level allowance: up to 15% of the number of loans to individuals may be issued outside the requirement — a quota the bank tracks, not a per-application rule</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900" dirty="0">
                          <a:solidFill>
                            <a:srgbClr val="17201B"/>
                          </a:solidFill>
                        </a:rPr>
                        <a:t>obligations table, exemption badge</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r>
              <a:tr h="384048">
                <a:tc>
                  <a:txBody>
                    <a:bodyPr/>
                    <a:lstStyle/>
                    <a:p>
                      <a:pPr indent="0" marL="0">
                        <a:buNone/>
                      </a:pPr>
                      <a:r>
                        <a:rPr lang="en-US" sz="900" b="1" dirty="0">
                          <a:solidFill>
                            <a:srgbClr val="17201B"/>
                          </a:solidFill>
                        </a:rPr>
                        <a:t>cl.4</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900" dirty="0">
                          <a:solidFill>
                            <a:srgbClr val="17201B"/>
                          </a:solidFill>
                        </a:rPr>
                        <a:t>Guarantor loans count only when payments are more than 30 days overdue («30 кундан ортиқ муддати ўтган тўловлари мавжуд бўлса»)</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900" dirty="0">
                          <a:solidFill>
                            <a:srgbClr val="17201B"/>
                          </a:solidFill>
                        </a:rPr>
                        <a:t>obligations table, DPD column</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7201B"/>
                          </a:solidFill>
                        </a:rPr>
                        <a:t>cl.4¹</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900" dirty="0">
                          <a:solidFill>
                            <a:srgbClr val="17201B"/>
                          </a:solidFill>
                        </a:rPr>
                        <a:t>Terms over 36 months: total payments spread over 36 («барча тўловлар 36 ойга тенг миқдорда тақсимланади»); mortgages over 180 months spread over 180</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900" dirty="0">
                          <a:solidFill>
                            <a:srgbClr val="17201B"/>
                          </a:solidFill>
                        </a:rPr>
                        <a:t>per-line note</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r>
              <a:tr h="384048">
                <a:tc>
                  <a:txBody>
                    <a:bodyPr/>
                    <a:lstStyle/>
                    <a:p>
                      <a:pPr indent="0" marL="0">
                        <a:buNone/>
                      </a:pPr>
                      <a:r>
                        <a:rPr lang="en-US" sz="900" b="1" dirty="0">
                          <a:solidFill>
                            <a:srgbClr val="17201B"/>
                          </a:solidFill>
                        </a:rPr>
                        <a:t>cl.6</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900" dirty="0">
                          <a:solidFill>
                            <a:srgbClr val="17201B"/>
                          </a:solidFill>
                        </a:rPr>
                        <a:t>Calculation date within 10 calendar days of the loan date</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900" dirty="0">
                          <a:solidFill>
                            <a:srgbClr val="17201B"/>
                          </a:solidFill>
                        </a:rPr>
                        <a:t>case date</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7201B"/>
                          </a:solidFill>
                        </a:rPr>
                        <a:t>cl.7</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900" dirty="0">
                          <a:solidFill>
                            <a:srgbClr val="17201B"/>
                          </a:solidFill>
                        </a:rPr>
                        <a:t>Average monthly income = arithmetic mean of the last 12 months; co-borrower income added</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900" dirty="0">
                          <a:solidFill>
                            <a:srgbClr val="17201B"/>
                          </a:solidFill>
                        </a:rPr>
                        <a:t>income base</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r>
              <a:tr h="384048">
                <a:tc>
                  <a:txBody>
                    <a:bodyPr/>
                    <a:lstStyle/>
                    <a:p>
                      <a:pPr indent="0" marL="0">
                        <a:buNone/>
                      </a:pPr>
                      <a:r>
                        <a:rPr lang="en-US" sz="900" b="1" dirty="0">
                          <a:solidFill>
                            <a:srgbClr val="17201B"/>
                          </a:solidFill>
                        </a:rPr>
                        <a:t>cl.9</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900" dirty="0">
                          <a:solidFill>
                            <a:srgbClr val="17201B"/>
                          </a:solidFill>
                        </a:rPr>
                        <a:t>Evidence: employer salary data, pension, funded-pension contributions, income credited to bank accounts, taxes paid, interest/dividends/rent; other data allowed</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900" dirty="0">
                          <a:solidFill>
                            <a:srgbClr val="17201B"/>
                          </a:solidFill>
                        </a:rPr>
                        <a:t>memo section 2</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7201B"/>
                          </a:solidFill>
                        </a:rPr>
                        <a:t>cl.10</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900" dirty="0">
                          <a:solidFill>
                            <a:srgbClr val="17201B"/>
                          </a:solidFill>
                        </a:rPr>
                        <a:t>Ratio ≤ 50% from 1 January 2025 (60% between 1 July 2024 and 1 January 2025)</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900" dirty="0">
                          <a:solidFill>
                            <a:srgbClr val="17201B"/>
                          </a:solidFill>
                        </a:rPr>
                        <a:t>cap, pass/fail</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r>
              <a:tr h="384048">
                <a:tc>
                  <a:txBody>
                    <a:bodyPr/>
                    <a:lstStyle/>
                    <a:p>
                      <a:pPr indent="0" marL="0">
                        <a:buNone/>
                      </a:pPr>
                      <a:r>
                        <a:rPr lang="en-US" sz="900" b="1" dirty="0">
                          <a:solidFill>
                            <a:srgbClr val="17201B"/>
                          </a:solidFill>
                        </a:rPr>
                        <a:t>cl.11</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900" dirty="0">
                          <a:solidFill>
                            <a:srgbClr val="17201B"/>
                          </a:solidFill>
                        </a:rPr>
                        <a:t>Family-entrepreneurship programme loans exempt from the ratio requirement</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900" dirty="0">
                          <a:solidFill>
                            <a:srgbClr val="17201B"/>
                          </a:solidFill>
                        </a:rPr>
                        <a:t>exemption badge</a:t>
                      </a:r>
                      <a:endParaRPr lang="en-US" sz="90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bl>
          </a:graphicData>
        </a:graphic>
      </p:graphicFrame>
      <p:sp>
        <p:nvSpPr>
          <p:cNvPr id="4" name="brv note"/>
          <p:cNvSpPr txBox="1"/>
          <p:nvPr/>
        </p:nvSpPr>
        <p:spPr>
          <a:xfrm>
            <a:off x="548640" y="5989320"/>
            <a:ext cx="10972800" cy="365760"/>
          </a:xfrm>
          <a:prstGeom prst="rect">
            <a:avLst/>
          </a:prstGeom>
          <a:noFill/>
          <a:ln/>
        </p:spPr>
        <p:txBody>
          <a:bodyPr wrap="square" lIns="0" tIns="0" rIns="0" bIns="0" rtlCol="0" anchor="ctr"/>
          <a:lstStyle/>
          <a:p>
            <a:pPr indent="0" marL="0">
              <a:buNone/>
            </a:pPr>
            <a:r>
              <a:rPr lang="en-US" sz="900" dirty="0">
                <a:solidFill>
                  <a:srgbClr val="5C6B63"/>
                </a:solidFill>
              </a:rPr>
              <a:t>BRV = 440,000 UZS from 1 September 2026 (previously 412,000); 50 BRV = 22,000,000 UZS. Clause mapping checked against lex.uz/docs/4654149 and 6809992 on 10 Oct 2026; quotes verbatim in docs/REGULATION_QUOTES.md.</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Appendix B · Failure cases, perimeter, human in the loop</a:t>
            </a:r>
            <a:endParaRPr lang="en-US" sz="2800" dirty="0"/>
          </a:p>
        </p:txBody>
      </p:sp>
      <p:sp>
        <p:nvSpPr>
          <p:cNvPr id="3" name="fail card"/>
          <p:cNvSpPr/>
          <p:nvPr/>
        </p:nvSpPr>
        <p:spPr>
          <a:xfrm>
            <a:off x="548640" y="1325880"/>
            <a:ext cx="5486400" cy="4846320"/>
          </a:xfrm>
          <a:prstGeom prst="roundRect">
            <a:avLst>
              <a:gd name="adj" fmla="val 1509"/>
            </a:avLst>
          </a:prstGeom>
          <a:solidFill>
            <a:srgbClr val="E9F1EC"/>
          </a:solidFill>
          <a:ln w="12700">
            <a:solidFill>
              <a:srgbClr val="E9F1EC"/>
            </a:solidFill>
            <a:prstDash val="solid"/>
          </a:ln>
        </p:spPr>
      </p:sp>
      <p:sp>
        <p:nvSpPr>
          <p:cNvPr id="4" name="fail head"/>
          <p:cNvSpPr txBox="1"/>
          <p:nvPr/>
        </p:nvSpPr>
        <p:spPr>
          <a:xfrm>
            <a:off x="731520" y="1463040"/>
            <a:ext cx="5120640" cy="365760"/>
          </a:xfrm>
          <a:prstGeom prst="rect">
            <a:avLst/>
          </a:prstGeom>
          <a:noFill/>
          <a:ln/>
        </p:spPr>
        <p:txBody>
          <a:bodyPr wrap="square" lIns="0" tIns="0" rIns="0" bIns="0" rtlCol="0" anchor="ctr"/>
          <a:lstStyle/>
          <a:p>
            <a:pPr indent="0" marL="0">
              <a:buNone/>
            </a:pPr>
            <a:r>
              <a:rPr lang="en-US" sz="1400" b="1" dirty="0">
                <a:solidFill>
                  <a:srgbClr val="1F4E3D"/>
                </a:solidFill>
              </a:rPr>
              <a:t>Known failure cases (also on the Model card page)</a:t>
            </a:r>
            <a:endParaRPr lang="en-US" sz="1400" dirty="0"/>
          </a:p>
        </p:txBody>
      </p:sp>
      <p:sp>
        <p:nvSpPr>
          <p:cNvPr id="5" name="bullets"/>
          <p:cNvSpPr txBox="1"/>
          <p:nvPr/>
        </p:nvSpPr>
        <p:spPr>
          <a:xfrm>
            <a:off x="731520" y="1920240"/>
            <a:ext cx="5120640" cy="41148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7201B"/>
                </a:solidFill>
              </a:rPr>
              <a:t>Scanned statements without a text layer: not OCR'd page by page yet — ask for the XLSX/CSV export</a:t>
            </a:r>
            <a:endParaRPr lang="en-US" sz="1150" dirty="0"/>
          </a:p>
          <a:p>
            <a:pPr marL="342900" indent="-342900">
              <a:spcAft>
                <a:spcPts val="600"/>
              </a:spcAft>
              <a:buSzPct val="100000"/>
              <a:buChar char="•"/>
            </a:pPr>
            <a:r>
              <a:rPr lang="en-US" sz="1150" dirty="0">
                <a:solidFill>
                  <a:srgbClr val="17201B"/>
                </a:solidFill>
              </a:rPr>
              <a:t>One signed amount column and no balance column: signs taken from keywords only</a:t>
            </a:r>
            <a:endParaRPr lang="en-US" sz="1150" dirty="0"/>
          </a:p>
          <a:p>
            <a:pPr marL="342900" indent="-342900">
              <a:spcAft>
                <a:spcPts val="600"/>
              </a:spcAft>
              <a:buSzPct val="100000"/>
              <a:buChar char="•"/>
            </a:pPr>
            <a:r>
              <a:rPr lang="en-US" sz="1150" dirty="0">
                <a:solidFill>
                  <a:srgbClr val="17201B"/>
                </a:solidFill>
              </a:rPr>
              <a:t>Merchant strings outside the lexicon (mixed scripts, transliteration) → default category, visible in the table</a:t>
            </a:r>
            <a:endParaRPr lang="en-US" sz="1150" dirty="0"/>
          </a:p>
          <a:p>
            <a:pPr marL="342900" indent="-342900">
              <a:spcAft>
                <a:spcPts val="600"/>
              </a:spcAft>
              <a:buSzPct val="100000"/>
              <a:buChar char="•"/>
            </a:pPr>
            <a:r>
              <a:rPr lang="en-US" sz="1150" dirty="0">
                <a:solidFill>
                  <a:srgbClr val="17201B"/>
                </a:solidFill>
              </a:rPr>
              <a:t>Dark or heavily skewed receipt photos: OCR confidence &lt; 60% → fields flagged for confirmation, never guessed</a:t>
            </a:r>
            <a:endParaRPr lang="en-US" sz="1150" dirty="0"/>
          </a:p>
          <a:p>
            <a:pPr marL="342900" indent="-342900">
              <a:spcAft>
                <a:spcPts val="600"/>
              </a:spcAft>
              <a:buSzPct val="100000"/>
              <a:buChar char="•"/>
            </a:pPr>
            <a:r>
              <a:rPr lang="en-US" sz="1150" dirty="0">
                <a:solidFill>
                  <a:srgbClr val="17201B"/>
                </a:solidFill>
              </a:rPr>
              <a:t>Cash-only businesses: nothing to reconstruct — the memo says so; the officer attests</a:t>
            </a:r>
            <a:endParaRPr lang="en-US" sz="1150" dirty="0"/>
          </a:p>
          <a:p>
            <a:pPr marL="342900" indent="-342900">
              <a:spcAft>
                <a:spcPts val="600"/>
              </a:spcAft>
              <a:buSzPct val="100000"/>
              <a:buChar char="•"/>
            </a:pPr>
            <a:r>
              <a:rPr lang="en-US" sz="1150" dirty="0">
                <a:solidFill>
                  <a:srgbClr val="17201B"/>
                </a:solidFill>
              </a:rPr>
              <a:t>Synthetic-to-real gap of the risk score until retrained inside the bank; risk bands are placeholders</a:t>
            </a:r>
            <a:endParaRPr lang="en-US" sz="1150" dirty="0"/>
          </a:p>
        </p:txBody>
      </p:sp>
      <p:sp>
        <p:nvSpPr>
          <p:cNvPr id="6" name="perimeter card b"/>
          <p:cNvSpPr/>
          <p:nvPr/>
        </p:nvSpPr>
        <p:spPr>
          <a:xfrm>
            <a:off x="6309360" y="1325880"/>
            <a:ext cx="5394960" cy="4846320"/>
          </a:xfrm>
          <a:prstGeom prst="roundRect">
            <a:avLst>
              <a:gd name="adj" fmla="val 1509"/>
            </a:avLst>
          </a:prstGeom>
          <a:solidFill>
            <a:srgbClr val="E9F1EC"/>
          </a:solidFill>
          <a:ln w="12700">
            <a:solidFill>
              <a:srgbClr val="E9F1EC"/>
            </a:solidFill>
            <a:prstDash val="solid"/>
          </a:ln>
        </p:spPr>
      </p:sp>
      <p:sp>
        <p:nvSpPr>
          <p:cNvPr id="7" name="perim head"/>
          <p:cNvSpPr txBox="1"/>
          <p:nvPr/>
        </p:nvSpPr>
        <p:spPr>
          <a:xfrm>
            <a:off x="6492240" y="1463040"/>
            <a:ext cx="5029200" cy="365760"/>
          </a:xfrm>
          <a:prstGeom prst="rect">
            <a:avLst/>
          </a:prstGeom>
          <a:noFill/>
          <a:ln/>
        </p:spPr>
        <p:txBody>
          <a:bodyPr wrap="square" lIns="0" tIns="0" rIns="0" bIns="0" rtlCol="0" anchor="ctr"/>
          <a:lstStyle/>
          <a:p>
            <a:pPr indent="0" marL="0">
              <a:buNone/>
            </a:pPr>
            <a:r>
              <a:rPr lang="en-US" sz="1400" b="1" dirty="0">
                <a:solidFill>
                  <a:srgbClr val="1F4E3D"/>
                </a:solidFill>
              </a:rPr>
              <a:t>Perimeter, audit, human in the loop</a:t>
            </a:r>
            <a:endParaRPr lang="en-US" sz="1400" dirty="0"/>
          </a:p>
        </p:txBody>
      </p:sp>
      <p:sp>
        <p:nvSpPr>
          <p:cNvPr id="8" name="bullets"/>
          <p:cNvSpPr txBox="1"/>
          <p:nvPr/>
        </p:nvSpPr>
        <p:spPr>
          <a:xfrm>
            <a:off x="6492240" y="1920240"/>
            <a:ext cx="5029200" cy="41148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7201B"/>
                </a:solidFill>
              </a:rPr>
              <a:t>Prototype: static site; documents are parsed in the browser and never transmitted; nothing is stored server-side</a:t>
            </a:r>
            <a:endParaRPr lang="en-US" sz="1150" dirty="0"/>
          </a:p>
          <a:p>
            <a:pPr marL="342900" indent="-342900">
              <a:spcAft>
                <a:spcPts val="600"/>
              </a:spcAft>
              <a:buSzPct val="100000"/>
              <a:buChar char="•"/>
            </a:pPr>
            <a:r>
              <a:rPr lang="en-US" sz="1150" dirty="0">
                <a:solidFill>
                  <a:srgbClr val="17201B"/>
                </a:solidFill>
              </a:rPr>
              <a:t>Production: same bundle on the bank's web server (Docker, no outbound network), SSO identity, audit log and cases in the bank DB</a:t>
            </a:r>
            <a:endParaRPr lang="en-US" sz="1150" dirty="0"/>
          </a:p>
          <a:p>
            <a:pPr marL="342900" indent="-342900">
              <a:spcAft>
                <a:spcPts val="600"/>
              </a:spcAft>
              <a:buSzPct val="100000"/>
              <a:buChar char="•"/>
            </a:pPr>
            <a:r>
              <a:rPr lang="en-US" sz="1150" dirty="0">
                <a:solidFill>
                  <a:srgbClr val="17201B"/>
                </a:solidFill>
              </a:rPr>
              <a:t>Own customers' statements pulled from core banking; uploads only for other banks' statements and wallets</a:t>
            </a:r>
            <a:endParaRPr lang="en-US" sz="1150" dirty="0"/>
          </a:p>
          <a:p>
            <a:pPr marL="342900" indent="-342900">
              <a:spcAft>
                <a:spcPts val="600"/>
              </a:spcAft>
              <a:buSzPct val="100000"/>
              <a:buChar char="•"/>
            </a:pPr>
            <a:r>
              <a:rPr lang="en-US" sz="1150" dirty="0">
                <a:solidFill>
                  <a:srgbClr val="17201B"/>
                </a:solidFill>
              </a:rPr>
              <a:t>Every analysis stamped with rule-engine, model and categoriser versions; hash-chained SHA-256 log; export with the case</a:t>
            </a:r>
            <a:endParaRPr lang="en-US" sz="1150" dirty="0"/>
          </a:p>
          <a:p>
            <a:pPr marL="342900" indent="-342900">
              <a:spcAft>
                <a:spcPts val="600"/>
              </a:spcAft>
              <a:buSzPct val="100000"/>
              <a:buChar char="•"/>
            </a:pPr>
            <a:r>
              <a:rPr lang="en-US" sz="1150" dirty="0">
                <a:solidFill>
                  <a:srgbClr val="17201B"/>
                </a:solidFill>
              </a:rPr>
              <a:t>The engine recommends; the officer decides; overrides require a reason; committee above branch limits</a:t>
            </a:r>
            <a:endParaRPr lang="en-US" sz="1150" dirty="0"/>
          </a:p>
          <a:p>
            <a:pPr marL="342900" indent="-342900">
              <a:spcAft>
                <a:spcPts val="600"/>
              </a:spcAft>
              <a:buSzPct val="100000"/>
              <a:buChar char="•"/>
            </a:pPr>
            <a:r>
              <a:rPr lang="en-US" sz="1150" dirty="0">
                <a:solidFill>
                  <a:srgbClr val="17201B"/>
                </a:solidFill>
              </a:rPr>
              <a:t>Personal data processed inside the bank with recorded consent; retention per bank policy; no gender or activity-type features in the model</a:t>
            </a:r>
            <a:endParaRPr lang="en-US" sz="11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2800" b="1" dirty="0">
                <a:solidFill>
                  <a:srgbClr val="1F4E3D"/>
                </a:solidFill>
              </a:rPr>
              <a:t>Appendix C · Data sources and licences</a:t>
            </a:r>
            <a:endParaRPr lang="en-US" sz="2800" dirty="0"/>
          </a:p>
        </p:txBody>
      </p:sp>
      <p:graphicFrame>
        <p:nvGraphicFramePr>
          <p:cNvPr id="14" name="data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572000"/>
                <a:gridCol w="2743200"/>
                <a:gridCol w="3749040"/>
              </a:tblGrid>
              <a:tr h="502920">
                <a:tc>
                  <a:txBody>
                    <a:bodyPr/>
                    <a:lstStyle/>
                    <a:p>
                      <a:pPr indent="0" marL="0">
                        <a:buNone/>
                      </a:pPr>
                      <a:r>
                        <a:rPr lang="en-US" sz="1050" b="1" dirty="0">
                          <a:solidFill>
                            <a:srgbClr val="FFFFFF"/>
                          </a:solidFill>
                        </a:rPr>
                        <a:t>Source</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1F4E3D"/>
                    </a:solidFill>
                  </a:tcPr>
                </a:tc>
                <a:tc>
                  <a:txBody>
                    <a:bodyPr/>
                    <a:lstStyle/>
                    <a:p>
                      <a:pPr indent="0" marL="0">
                        <a:buNone/>
                      </a:pPr>
                      <a:r>
                        <a:rPr lang="en-US" sz="1050" b="1" dirty="0">
                          <a:solidFill>
                            <a:srgbClr val="FFFFFF"/>
                          </a:solidFill>
                        </a:rPr>
                        <a:t>Used for</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1F4E3D"/>
                    </a:solidFill>
                  </a:tcPr>
                </a:tc>
                <a:tc>
                  <a:txBody>
                    <a:bodyPr/>
                    <a:lstStyle/>
                    <a:p>
                      <a:pPr indent="0" marL="0">
                        <a:buNone/>
                      </a:pPr>
                      <a:r>
                        <a:rPr lang="en-US" sz="1050" b="1" dirty="0">
                          <a:solidFill>
                            <a:srgbClr val="FFFFFF"/>
                          </a:solidFill>
                        </a:rPr>
                        <a:t>Licence / terms</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1F4E3D"/>
                    </a:solidFill>
                  </a:tcPr>
                </a:tc>
              </a:tr>
              <a:tr h="502920">
                <a:tc>
                  <a:txBody>
                    <a:bodyPr/>
                    <a:lstStyle/>
                    <a:p>
                      <a:pPr indent="0" marL="0">
                        <a:buNone/>
                      </a:pPr>
                      <a:r>
                        <a:rPr lang="en-US" sz="1050" dirty="0">
                          <a:solidFill>
                            <a:srgbClr val="17201B"/>
                          </a:solidFill>
                        </a:rPr>
                        <a:t>Daromad synthetic data set (synth/, seed 42)</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1050" dirty="0">
                          <a:solidFill>
                            <a:srgbClr val="17201B"/>
                          </a:solidFill>
                        </a:rPr>
                        <a:t>training, evaluation, demo samples</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1050" dirty="0">
                          <a:solidFill>
                            <a:srgbClr val="17201B"/>
                          </a:solidFill>
                        </a:rPr>
                        <a:t>MIT, this repo; generator and parameters declared; no real person</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502920">
                <a:tc>
                  <a:txBody>
                    <a:bodyPr/>
                    <a:lstStyle/>
                    <a:p>
                      <a:pPr indent="0" marL="0">
                        <a:buNone/>
                      </a:pPr>
                      <a:r>
                        <a:rPr lang="en-US" sz="1050" dirty="0">
                          <a:solidFill>
                            <a:srgbClr val="17201B"/>
                          </a:solidFill>
                        </a:rPr>
                        <a:t>Berka / PKDD'99 Financial data set (mirror github.com/jlacko/berka-dataset)</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1050" dirty="0">
                          <a:solidFill>
                            <a:srgbClr val="17201B"/>
                          </a:solidFill>
                        </a:rPr>
                        <a:t>offline methodology check</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1050" dirty="0">
                          <a:solidFill>
                            <a:srgbClr val="17201B"/>
                          </a:solidFill>
                        </a:rPr>
                        <a:t>academic challenge data, no licence stated; evaluation only, not redistributed</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r>
              <a:tr h="502920">
                <a:tc>
                  <a:txBody>
                    <a:bodyPr/>
                    <a:lstStyle/>
                    <a:p>
                      <a:pPr indent="0" marL="0">
                        <a:buNone/>
                      </a:pPr>
                      <a:r>
                        <a:rPr lang="en-US" sz="1050" dirty="0">
                          <a:solidFill>
                            <a:srgbClr val="17201B"/>
                          </a:solidFill>
                        </a:rPr>
                        <a:t>Tesseract tessdata_fast (uzb, uzb_cyrl, rus, eng); tesseract.js</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1050" dirty="0">
                          <a:solidFill>
                            <a:srgbClr val="17201B"/>
                          </a:solidFill>
                        </a:rPr>
                        <a:t>receipt OCR</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1050" dirty="0">
                          <a:solidFill>
                            <a:srgbClr val="17201B"/>
                          </a:solidFill>
                        </a:rPr>
                        <a:t>Apache 2.0</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502920">
                <a:tc>
                  <a:txBody>
                    <a:bodyPr/>
                    <a:lstStyle/>
                    <a:p>
                      <a:pPr indent="0" marL="0">
                        <a:buNone/>
                      </a:pPr>
                      <a:r>
                        <a:rPr lang="en-US" sz="1050" dirty="0">
                          <a:solidFill>
                            <a:srgbClr val="17201B"/>
                          </a:solidFill>
                        </a:rPr>
                        <a:t>pdf.js; SheetJS; Next.js; React</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1050" dirty="0">
                          <a:solidFill>
                            <a:srgbClr val="17201B"/>
                          </a:solidFill>
                        </a:rPr>
                        <a:t>parsing, application</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1050" dirty="0">
                          <a:solidFill>
                            <a:srgbClr val="17201B"/>
                          </a:solidFill>
                        </a:rPr>
                        <a:t>Apache 2.0 / MIT</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r>
              <a:tr h="502920">
                <a:tc>
                  <a:txBody>
                    <a:bodyPr/>
                    <a:lstStyle/>
                    <a:p>
                      <a:pPr indent="0" marL="0">
                        <a:buNone/>
                      </a:pPr>
                      <a:r>
                        <a:rPr lang="en-US" sz="1050" dirty="0">
                          <a:solidFill>
                            <a:srgbClr val="17201B"/>
                          </a:solidFill>
                        </a:rPr>
                        <a:t>XGBoost; scikit-learn; NumPy; pandas; OpenCV; Playwright; Jinja2; qrcode</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1050" dirty="0">
                          <a:solidFill>
                            <a:srgbClr val="17201B"/>
                          </a:solidFill>
                        </a:rPr>
                        <a:t>training, rendering, evaluation</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1050" dirty="0">
                          <a:solidFill>
                            <a:srgbClr val="17201B"/>
                          </a:solidFill>
                        </a:rPr>
                        <a:t>Apache 2.0 / BSD-3 / MIT</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r h="502920">
                <a:tc>
                  <a:txBody>
                    <a:bodyPr/>
                    <a:lstStyle/>
                    <a:p>
                      <a:pPr indent="0" marL="0">
                        <a:buNone/>
                      </a:pPr>
                      <a:r>
                        <a:rPr lang="en-US" sz="1050" dirty="0">
                          <a:solidFill>
                            <a:srgbClr val="17201B"/>
                          </a:solidFill>
                        </a:rPr>
                        <a:t>CBU regulation texts (lex.uz 4654149, 6809992)</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1050" dirty="0">
                          <a:solidFill>
                            <a:srgbClr val="17201B"/>
                          </a:solidFill>
                        </a:rPr>
                        <a:t>rule engine, citations</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c>
                  <a:txBody>
                    <a:bodyPr/>
                    <a:lstStyle/>
                    <a:p>
                      <a:pPr indent="0" marL="0">
                        <a:buNone/>
                      </a:pPr>
                      <a:r>
                        <a:rPr lang="en-US" sz="1050" dirty="0">
                          <a:solidFill>
                            <a:srgbClr val="17201B"/>
                          </a:solidFill>
                        </a:rPr>
                        <a:t>public legal information</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E9F1EC"/>
                    </a:solidFill>
                  </a:tcPr>
                </a:tc>
              </a:tr>
              <a:tr h="502920">
                <a:tc>
                  <a:txBody>
                    <a:bodyPr/>
                    <a:lstStyle/>
                    <a:p>
                      <a:pPr indent="0" marL="0">
                        <a:buNone/>
                      </a:pPr>
                      <a:r>
                        <a:rPr lang="en-US" sz="1050" dirty="0">
                          <a:solidFill>
                            <a:srgbClr val="17201B"/>
                          </a:solidFill>
                        </a:rPr>
                        <a:t>stat.uz wages; CBU statistics; MKBANK public pages (sponsored article, bank's own figures)</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1050" dirty="0">
                          <a:solidFill>
                            <a:srgbClr val="17201B"/>
                          </a:solidFill>
                        </a:rPr>
                        <a:t>calibration anchors, business case</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c>
                  <a:txBody>
                    <a:bodyPr/>
                    <a:lstStyle/>
                    <a:p>
                      <a:pPr indent="0" marL="0">
                        <a:buNone/>
                      </a:pPr>
                      <a:r>
                        <a:rPr lang="en-US" sz="1050" dirty="0">
                          <a:solidFill>
                            <a:srgbClr val="17201B"/>
                          </a:solidFill>
                        </a:rPr>
                        <a:t>public information, cited</a:t>
                      </a:r>
                      <a:endParaRPr lang="en-US" sz="1050" dirty="0"/>
                    </a:p>
                  </a:txBody>
                  <a:tcPr marL="91440" marR="91440" marT="45720" marB="45720">
                    <a:lnL w="6350" cap="flat" cmpd="sng" algn="ctr">
                      <a:solidFill>
                        <a:srgbClr val="E9F1EC"/>
                      </a:solidFill>
                      <a:prstDash val="solid"/>
                      <a:round/>
                      <a:headEnd type="none" w="med" len="med"/>
                      <a:tailEnd type="none" w="med" len="med"/>
                    </a:lnL>
                    <a:lnR w="6350" cap="flat" cmpd="sng" algn="ctr">
                      <a:solidFill>
                        <a:srgbClr val="E9F1EC"/>
                      </a:solidFill>
                      <a:prstDash val="solid"/>
                      <a:round/>
                      <a:headEnd type="none" w="med" len="med"/>
                      <a:tailEnd type="none" w="med" len="med"/>
                    </a:lnR>
                    <a:lnT w="6350" cap="flat" cmpd="sng" algn="ctr">
                      <a:solidFill>
                        <a:srgbClr val="E9F1EC"/>
                      </a:solidFill>
                      <a:prstDash val="solid"/>
                      <a:round/>
                      <a:headEnd type="none" w="med" len="med"/>
                      <a:tailEnd type="none" w="med" len="med"/>
                    </a:lnT>
                    <a:lnB w="6350" cap="flat" cmpd="sng" algn="ctr">
                      <a:solidFill>
                        <a:srgbClr val="E9F1EC"/>
                      </a:solidFill>
                      <a:prstDash val="solid"/>
                      <a:round/>
                      <a:headEnd type="none" w="med" len="med"/>
                      <a:tailEnd type="none" w="med" len="med"/>
                    </a:lnB>
                    <a:solidFill>
                      <a:srgbClr val="FFFFFF"/>
                    </a:solidFill>
                  </a:tcPr>
                </a:tc>
              </a:tr>
            </a:tbl>
          </a:graphicData>
        </a:graphic>
      </p:graphicFrame>
      <p:sp>
        <p:nvSpPr>
          <p:cNvPr id="4" name="compliance"/>
          <p:cNvSpPr txBox="1"/>
          <p:nvPr/>
        </p:nvSpPr>
        <p:spPr>
          <a:xfrm>
            <a:off x="548640" y="5486400"/>
            <a:ext cx="11064240" cy="731520"/>
          </a:xfrm>
          <a:prstGeom prst="rect">
            <a:avLst/>
          </a:prstGeom>
          <a:noFill/>
          <a:ln/>
        </p:spPr>
        <p:txBody>
          <a:bodyPr wrap="square" lIns="0" tIns="0" rIns="0" bIns="0" rtlCol="0" anchor="ctr"/>
          <a:lstStyle/>
          <a:p>
            <a:pPr indent="0" marL="0">
              <a:buNone/>
            </a:pPr>
            <a:r>
              <a:rPr lang="en-US" sz="1050" dirty="0">
                <a:solidFill>
                  <a:srgbClr val="17201B"/>
                </a:solidFill>
              </a:rPr>
              <a:t>Rules compliance: no hard-coded answers (every figure computed from uploaded documents at run time); no real personal or confidential data; all code written during the final by team TYS with LLM coding assistance (declared); deployment from the submitted repository; CI on every push.</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C6B63"/>
                </a:solidFill>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Daromad">
  <a:themeElements>
    <a:clrScheme name="Daromad">
      <a:dk1>
        <a:srgbClr val="17201B"/>
      </a:dk1>
      <a:lt1>
        <a:srgbClr val="FFFFFF"/>
      </a:lt1>
      <a:dk2>
        <a:srgbClr val="1F4E3D"/>
      </a:dk2>
      <a:lt2>
        <a:srgbClr val="E9F1EC"/>
      </a:lt2>
      <a:accent1>
        <a:srgbClr val="1F4E3D"/>
      </a:accent1>
      <a:accent2>
        <a:srgbClr val="D98E04"/>
      </a:accent2>
      <a:accent3>
        <a:srgbClr val="2E7D5B"/>
      </a:accent3>
      <a:accent4>
        <a:srgbClr val="5C6B63"/>
      </a:accent4>
      <a:accent5>
        <a:srgbClr val="B23A3A"/>
      </a:accent5>
      <a:accent6>
        <a:srgbClr val="8FB8A5"/>
      </a:accent6>
      <a:hlink>
        <a:srgbClr val="1F4E3D"/>
      </a:hlink>
      <a:folHlink>
        <a:srgbClr val="5C6B63"/>
      </a:folHlink>
    </a:clrScheme>
    <a:fontScheme name="Daroma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Daromad — Income Evidence Engine</dc:title>
  <dc:subject>FinTech / AI in Finance hackathon final</dc:subject>
  <dc:creator>Team TYS</dc:creator>
  <cp:lastModifiedBy>Team TYS</cp:lastModifiedBy>
  <cp:revision>1</cp:revision>
  <dcterms:created xsi:type="dcterms:W3CDTF">2026-10-10T13:23:01Z</dcterms:created>
  <dcterms:modified xsi:type="dcterms:W3CDTF">2026-10-10T13:23:01Z</dcterms:modified>
</cp:coreProperties>
</file>