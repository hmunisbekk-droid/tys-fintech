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73a72464-cffd-f2d0-5f82-6f91b86ff507}">
          <p14:sldIdLst>
            <p14:sldId id="256"/>
          </p14:sldIdLst>
        </p14:section>
        <p14:section name="Problem" id="{9f910ee0-c355-923d-5899-70d8fb4aa5fc}">
          <p14:sldIdLst>
            <p14:sldId id="257"/>
          </p14:sldIdLst>
        </p14:section>
        <p14:section name="Product" id="{3ccf97e0-c764-cb6e-8750-dca8d249e21b}">
          <p14:sldIdLst>
            <p14:sldId id="258"/>
            <p14:sldId id="259"/>
          </p14:sldIdLst>
        </p14:section>
        <p14:section name="Technology" id="{a8c08eea-f8c6-6a96-ca23-797117af12d4}">
          <p14:sldIdLst>
            <p14:sldId id="260"/>
            <p14:sldId id="261"/>
            <p14:sldId id="262"/>
          </p14:sldIdLst>
        </p14:section>
        <p14:section name="Business" id="{e6857768-a65f-c9b6-76de-8e7733ff7e9b}">
          <p14:sldIdLst>
            <p14:sldId id="263"/>
            <p14:sldId id="264"/>
          </p14:sldIdLst>
        </p14:section>
        <p14:section name="Closing" id="{97ba455c-33e2-be27-614e-0326440e6272}">
          <p14:sldIdLst>
            <p14:sldId id="265"/>
          </p14:sldIdLst>
        </p14:section>
        <p14:section name="Appendix" id="{100a785f-3589-9e6a-a741-f10bba8718c3}">
          <p14:sldIdLst>
            <p14:sldId id="266"/>
            <p14:sldId id="267"/>
            <p14:sldId id="268"/>
            <p14:sldId id="269"/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F4E3D"/>
                </a:solidFill>
                <a:latin typeface="+mn-lt"/>
              </a:defRPr>
            </a:pPr>
            <a:r>
              <a:rPr sz="1100" b="0" i="0" u="none" strike="noStrike">
                <a:solidFill>
                  <a:srgbClr val="1F4E3D"/>
                </a:solidFill>
                <a:latin typeface="+mn-lt"/>
              </a:rPr>
              <a:t>ROC-AUC: what the model adds over the ratio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Synthetic holdout</c:v>
                </c:pt>
              </c:strCache>
            </c:strRef>
          </c:tx>
          <c:spPr>
            <a:solidFill>
              <a:srgbClr val="8FB8A5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7201B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Ratio alone (ПДН)</c:v>
                  </c:pt>
                  <c:pt idx="1">
                    <c:v>Logistic regression</c:v>
                  </c:pt>
                  <c:pt idx="2">
                    <c:v>Boosted trees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0.9482157097288676</c:v>
                </c:pt>
                <c:pt idx="1">
                  <c:v>0.9628688197767145</c:v>
                </c:pt>
                <c:pt idx="2">
                  <c:v>0.9654106858054226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Real data (Berka)</c:v>
                </c:pt>
              </c:strCache>
            </c:strRef>
          </c:tx>
          <c:spPr>
            <a:solidFill>
              <a:srgbClr val="1F4E3D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7201B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Ratio alone (ПДН)</c:v>
                  </c:pt>
                  <c:pt idx="1">
                    <c:v>Logistic regression</c:v>
                  </c:pt>
                  <c:pt idx="2">
                    <c:v>Boosted trees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0.7351617680565048</c:v>
                </c:pt>
                <c:pt idx="1">
                  <c:v>0.8948507632718159</c:v>
                </c:pt>
                <c:pt idx="2">
                  <c:v>0.9021132376395533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900" u="none">
                  <a:solidFill>
                    <a:srgbClr val="17201B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C6B6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.5"/>
        </c:scaling>
        <c:delete val="0"/>
        <c:axPos val="l"/>
        <c:majorGridlines>
          <c:spPr>
            <a:ln w="12700" cap="flat">
              <a:solidFill>
                <a:srgbClr val="E9F1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C6B63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5C6B63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F4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103120"/>
            <a:ext cx="1088136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4400" b="1" dirty="0">
                <a:solidFill>
                  <a:srgbClr val="FFFFFF"/>
                </a:solidFill>
              </a:defRPr>
            </a:lvl1pPr>
          </a:lstStyle>
          <a:p>
            <a:pPr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474720"/>
            <a:ext cx="10881360" cy="21945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E9F1EC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  <p:sp>
        <p:nvSpPr>
          <p:cNvPr id="4" name="Text 0"/>
          <p:cNvSpPr/>
          <p:nvPr/>
        </p:nvSpPr>
        <p:spPr>
          <a:xfrm>
            <a:off x="64008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B8A5"/>
                </a:solidFill>
              </a:rPr>
              <a:t>team TYS · FinTech / AI in Finance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F4E3D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/>
        </p:nvSpPr>
        <p:spPr>
          <a:xfrm>
            <a:off x="548640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63"/>
                </a:solidFill>
              </a:rPr>
              <a:t>Daromad · team TYS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C6B6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C6B6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image" Target="../media/image-6-1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am name"/>
          <p:cNvSpPr txBox="1"/>
          <p:nvPr/>
        </p:nvSpPr>
        <p:spPr>
          <a:xfrm>
            <a:off x="640080" y="146304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</a:rPr>
              <a:t>Team TYS</a:t>
            </a:r>
            <a:endParaRPr lang="en-US" sz="6000" dirty="0"/>
          </a:p>
        </p:txBody>
      </p:sp>
      <p:sp>
        <p:nvSpPr>
          <p:cNvPr id="3" name="event"/>
          <p:cNvSpPr txBox="1"/>
          <p:nvPr/>
        </p:nvSpPr>
        <p:spPr>
          <a:xfrm>
            <a:off x="640080" y="256032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9F1EC"/>
                </a:solidFill>
              </a:rPr>
              <a:t>FinTech / AI in Finance · final defence</a:t>
            </a:r>
            <a:endParaRPr lang="en-US" sz="2600" dirty="0"/>
          </a:p>
        </p:txBody>
      </p:sp>
      <p:sp>
        <p:nvSpPr>
          <p:cNvPr id="4" name="mode pill"/>
          <p:cNvSpPr/>
          <p:nvPr/>
        </p:nvSpPr>
        <p:spPr>
          <a:xfrm>
            <a:off x="640080" y="3566160"/>
            <a:ext cx="6949440" cy="548640"/>
          </a:xfrm>
          <a:prstGeom prst="roundRect">
            <a:avLst>
              <a:gd name="adj" fmla="val 16667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5" name="mode"/>
          <p:cNvSpPr txBox="1"/>
          <p:nvPr/>
        </p:nvSpPr>
        <p:spPr>
          <a:xfrm>
            <a:off x="777240" y="356616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01B"/>
                </a:solidFill>
              </a:rPr>
              <a:t>Mode: Partner product — MKBANK, micro &amp; family-business credit department</a:t>
            </a:r>
            <a:endParaRPr lang="en-US" sz="1500" dirty="0"/>
          </a:p>
        </p:txBody>
      </p:sp>
      <p:sp>
        <p:nvSpPr>
          <p:cNvPr id="6" name="partners"/>
          <p:cNvSpPr txBox="1"/>
          <p:nvPr/>
        </p:nvSpPr>
        <p:spPr>
          <a:xfrm>
            <a:off x="640080" y="44805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9F1EC"/>
                </a:solidFill>
              </a:rPr>
              <a:t>Partners: MKBANK and the Central Bank of Uzbekistan · October 2026</a:t>
            </a:r>
            <a:endParaRPr lang="en-US" sz="1400" dirty="0"/>
          </a:p>
        </p:txBody>
      </p:sp>
      <p:sp>
        <p:nvSpPr>
          <p:cNvPr id="7" name="links"/>
          <p:cNvSpPr txBox="1"/>
          <p:nvPr/>
        </p:nvSpPr>
        <p:spPr>
          <a:xfrm>
            <a:off x="640080" y="50292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FB8A5"/>
                </a:solidFill>
              </a:rPr>
              <a:t>Live prototype  </a:t>
            </a:r>
            <a:pPr indent="0" marL="0">
              <a:buNone/>
            </a:pPr>
            <a:r>
              <a:rPr lang="en-US" sz="1300" dirty="0">
                <a:solidFill>
                  <a:srgbClr val="8FB8A5"/>
                </a:solidFill>
              </a:rPr>
              <a:t>https://tys-fintech.vercel.app    </a:t>
            </a:r>
            <a:pPr indent="0" marL="0">
              <a:buNone/>
            </a:pPr>
            <a:r>
              <a:rPr lang="en-US" sz="1300" b="1" dirty="0">
                <a:solidFill>
                  <a:srgbClr val="8FB8A5"/>
                </a:solidFill>
              </a:rPr>
              <a:t>Repository  </a:t>
            </a:r>
            <a:pPr indent="0" marL="0">
              <a:buNone/>
            </a:pPr>
            <a:r>
              <a:rPr lang="en-US" sz="1300" dirty="0">
                <a:solidFill>
                  <a:srgbClr val="8FB8A5"/>
                </a:solidFill>
              </a:rPr>
              <a:t>https://github.com/hmunisbekk-droid/TYS-fintech</a:t>
            </a:r>
            <a:endParaRPr lang="en-US" sz="1300" dirty="0"/>
          </a:p>
        </p:txBody>
      </p:sp>
      <p:sp>
        <p:nvSpPr>
          <p:cNvPr id="8" name="Text 0"/>
          <p:cNvSpPr/>
          <p:nvPr>
            <p:ph idx="100" type="title" hasCustomPrompt="1"/>
          </p:nvPr>
        </p:nvSpPr>
        <p:spPr>
          <a:xfrm>
            <a:off x="640080" y="2103120"/>
            <a:ext cx="10881360" cy="12801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4400" dirty="0"/>
          </a:p>
        </p:txBody>
      </p:sp>
      <p:sp>
        <p:nvSpPr>
          <p:cNvPr id="9" name="Text 0"/>
          <p:cNvSpPr/>
          <p:nvPr>
            <p:ph idx="101" type="body" hasCustomPrompt="1"/>
          </p:nvPr>
        </p:nvSpPr>
        <p:spPr>
          <a:xfrm>
            <a:off x="640080" y="3474720"/>
            <a:ext cx="10881360" cy="21945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3D"/>
                </a:solidFill>
              </a:rPr>
              <a:t>The regulation names the evidence — the self-employed have exactly one line</a:t>
            </a:r>
            <a:endParaRPr lang="en-US" sz="2800" dirty="0"/>
          </a:p>
        </p:txBody>
      </p:sp>
      <p:sp>
        <p:nvSpPr>
          <p:cNvPr id="3" name="list caption"/>
          <p:cNvSpPr txBox="1"/>
          <p:nvPr/>
        </p:nvSpPr>
        <p:spPr>
          <a:xfrm>
            <a:off x="548640" y="1280160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C6B63"/>
                </a:solidFill>
              </a:rPr>
              <a:t>CBU Regulation No. 3618 for banks, cl.19 — documented income; cl.18 — receipts on the borrower's accounts</a:t>
            </a:r>
            <a:endParaRPr lang="en-US" sz="1400" dirty="0"/>
          </a:p>
        </p:txBody>
      </p:sp>
      <p:sp>
        <p:nvSpPr>
          <p:cNvPr id="4" name="evidence 0"/>
          <p:cNvSpPr/>
          <p:nvPr/>
        </p:nvSpPr>
        <p:spPr>
          <a:xfrm>
            <a:off x="548640" y="1737360"/>
            <a:ext cx="6583680" cy="530352"/>
          </a:xfrm>
          <a:prstGeom prst="roundRect">
            <a:avLst>
              <a:gd name="adj" fmla="val 13793"/>
            </a:avLst>
          </a:prstGeom>
          <a:solidFill>
            <a:srgbClr val="E9F1EC"/>
          </a:solidFill>
          <a:ln w="12700">
            <a:solidFill>
              <a:srgbClr val="E9F1EC"/>
            </a:solidFill>
            <a:prstDash val="solid"/>
          </a:ln>
        </p:spPr>
      </p:sp>
      <p:pic>
        <p:nvPicPr>
          <p:cNvPr id="5" name="evidence icon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865376"/>
            <a:ext cx="274320" cy="274320"/>
          </a:xfrm>
          <a:prstGeom prst="rect">
            <a:avLst/>
          </a:prstGeom>
        </p:spPr>
      </p:pic>
      <p:sp>
        <p:nvSpPr>
          <p:cNvPr id="6" name="evidence text 0"/>
          <p:cNvSpPr txBox="1"/>
          <p:nvPr/>
        </p:nvSpPr>
        <p:spPr>
          <a:xfrm>
            <a:off x="1097280" y="1737360"/>
            <a:ext cx="5943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201B"/>
                </a:solidFill>
              </a:rPr>
              <a:t>Employer-confirmed salary</a:t>
            </a:r>
            <a:pPr indent="0" marL="0">
              <a:buNone/>
            </a:pPr>
            <a:r>
              <a:rPr lang="en-US" sz="1200" dirty="0">
                <a:solidFill>
                  <a:srgbClr val="17201B"/>
                </a:solidFill>
              </a:rPr>
              <a:t>  — no employer — the borrower is the business</a:t>
            </a:r>
            <a:endParaRPr lang="en-US" sz="1200" dirty="0"/>
          </a:p>
        </p:txBody>
      </p:sp>
      <p:sp>
        <p:nvSpPr>
          <p:cNvPr id="7" name="evidence 1"/>
          <p:cNvSpPr/>
          <p:nvPr/>
        </p:nvSpPr>
        <p:spPr>
          <a:xfrm>
            <a:off x="548640" y="2359152"/>
            <a:ext cx="6583680" cy="530352"/>
          </a:xfrm>
          <a:prstGeom prst="roundRect">
            <a:avLst>
              <a:gd name="adj" fmla="val 13793"/>
            </a:avLst>
          </a:prstGeom>
          <a:solidFill>
            <a:srgbClr val="E9F1EC"/>
          </a:solidFill>
          <a:ln w="12700">
            <a:solidFill>
              <a:srgbClr val="E9F1EC"/>
            </a:solidFill>
            <a:prstDash val="solid"/>
          </a:ln>
        </p:spPr>
      </p:sp>
      <p:pic>
        <p:nvPicPr>
          <p:cNvPr id="8" name="evidence icon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487168"/>
            <a:ext cx="274320" cy="274320"/>
          </a:xfrm>
          <a:prstGeom prst="rect">
            <a:avLst/>
          </a:prstGeom>
        </p:spPr>
      </p:pic>
      <p:sp>
        <p:nvSpPr>
          <p:cNvPr id="9" name="evidence text 1"/>
          <p:cNvSpPr txBox="1"/>
          <p:nvPr/>
        </p:nvSpPr>
        <p:spPr>
          <a:xfrm>
            <a:off x="1097280" y="2359152"/>
            <a:ext cx="5943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201B"/>
                </a:solidFill>
              </a:rPr>
              <a:t>Pension</a:t>
            </a:r>
            <a:pPr indent="0" marL="0">
              <a:buNone/>
            </a:pPr>
            <a:r>
              <a:rPr lang="en-US" sz="1200" dirty="0">
                <a:solidFill>
                  <a:srgbClr val="17201B"/>
                </a:solidFill>
              </a:rPr>
              <a:t>  — working-age applicant, not a pensioner</a:t>
            </a:r>
            <a:endParaRPr lang="en-US" sz="1200" dirty="0"/>
          </a:p>
        </p:txBody>
      </p:sp>
      <p:sp>
        <p:nvSpPr>
          <p:cNvPr id="10" name="evidence 2"/>
          <p:cNvSpPr/>
          <p:nvPr/>
        </p:nvSpPr>
        <p:spPr>
          <a:xfrm>
            <a:off x="548640" y="2980944"/>
            <a:ext cx="6583680" cy="530352"/>
          </a:xfrm>
          <a:prstGeom prst="roundRect">
            <a:avLst>
              <a:gd name="adj" fmla="val 13793"/>
            </a:avLst>
          </a:prstGeom>
          <a:solidFill>
            <a:srgbClr val="E9F1EC"/>
          </a:solidFill>
          <a:ln w="12700">
            <a:solidFill>
              <a:srgbClr val="E9F1EC"/>
            </a:solidFill>
            <a:prstDash val="solid"/>
          </a:ln>
        </p:spPr>
      </p:sp>
      <p:pic>
        <p:nvPicPr>
          <p:cNvPr id="11" name="evidence icon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108960"/>
            <a:ext cx="274320" cy="274320"/>
          </a:xfrm>
          <a:prstGeom prst="rect">
            <a:avLst/>
          </a:prstGeom>
        </p:spPr>
      </p:pic>
      <p:sp>
        <p:nvSpPr>
          <p:cNvPr id="12" name="evidence text 2"/>
          <p:cNvSpPr txBox="1"/>
          <p:nvPr/>
        </p:nvSpPr>
        <p:spPr>
          <a:xfrm>
            <a:off x="1097280" y="2980944"/>
            <a:ext cx="5943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201B"/>
                </a:solidFill>
              </a:rPr>
              <a:t>Funded-pension contributions</a:t>
            </a:r>
            <a:pPr indent="0" marL="0">
              <a:buNone/>
            </a:pPr>
            <a:r>
              <a:rPr lang="en-US" sz="1200" dirty="0">
                <a:solidFill>
                  <a:srgbClr val="17201B"/>
                </a:solidFill>
              </a:rPr>
              <a:t>  — none: contributions come through an employer</a:t>
            </a:r>
            <a:endParaRPr lang="en-US" sz="1200" dirty="0"/>
          </a:p>
        </p:txBody>
      </p:sp>
      <p:sp>
        <p:nvSpPr>
          <p:cNvPr id="13" name="evidence 3"/>
          <p:cNvSpPr/>
          <p:nvPr/>
        </p:nvSpPr>
        <p:spPr>
          <a:xfrm>
            <a:off x="548640" y="3602736"/>
            <a:ext cx="6583680" cy="530352"/>
          </a:xfrm>
          <a:prstGeom prst="roundRect">
            <a:avLst>
              <a:gd name="adj" fmla="val 13793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14" name="evidence icon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3730752"/>
            <a:ext cx="274320" cy="274320"/>
          </a:xfrm>
          <a:prstGeom prst="rect">
            <a:avLst/>
          </a:prstGeom>
        </p:spPr>
      </p:pic>
      <p:sp>
        <p:nvSpPr>
          <p:cNvPr id="15" name="evidence text 3"/>
          <p:cNvSpPr txBox="1"/>
          <p:nvPr/>
        </p:nvSpPr>
        <p:spPr>
          <a:xfrm>
            <a:off x="1097280" y="3602736"/>
            <a:ext cx="5943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201B"/>
                </a:solidFill>
              </a:rPr>
              <a:t>Receipts credited to the borrower's bank accounts (cl.18)</a:t>
            </a:r>
            <a:pPr indent="0" marL="0">
              <a:buNone/>
            </a:pPr>
            <a:r>
              <a:rPr lang="en-US" sz="1350" dirty="0">
                <a:solidFill>
                  <a:srgbClr val="17201B"/>
                </a:solidFill>
              </a:rPr>
              <a:t>  — the only line a self-employed borrower has</a:t>
            </a:r>
            <a:endParaRPr lang="en-US" sz="1350" dirty="0"/>
          </a:p>
        </p:txBody>
      </p:sp>
      <p:sp>
        <p:nvSpPr>
          <p:cNvPr id="16" name="evidence 4"/>
          <p:cNvSpPr/>
          <p:nvPr/>
        </p:nvSpPr>
        <p:spPr>
          <a:xfrm>
            <a:off x="548640" y="4224528"/>
            <a:ext cx="6583680" cy="530352"/>
          </a:xfrm>
          <a:prstGeom prst="roundRect">
            <a:avLst>
              <a:gd name="adj" fmla="val 13793"/>
            </a:avLst>
          </a:prstGeom>
          <a:solidFill>
            <a:srgbClr val="E9F1EC"/>
          </a:solidFill>
          <a:ln w="12700">
            <a:solidFill>
              <a:srgbClr val="E9F1EC"/>
            </a:solidFill>
            <a:prstDash val="solid"/>
          </a:ln>
        </p:spPr>
      </p:sp>
      <p:pic>
        <p:nvPicPr>
          <p:cNvPr id="17" name="evidence icon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4352544"/>
            <a:ext cx="274320" cy="274320"/>
          </a:xfrm>
          <a:prstGeom prst="rect">
            <a:avLst/>
          </a:prstGeom>
        </p:spPr>
      </p:pic>
      <p:sp>
        <p:nvSpPr>
          <p:cNvPr id="18" name="evidence text 4"/>
          <p:cNvSpPr txBox="1"/>
          <p:nvPr/>
        </p:nvSpPr>
        <p:spPr>
          <a:xfrm>
            <a:off x="1097280" y="4224528"/>
            <a:ext cx="5943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201B"/>
                </a:solidFill>
              </a:rPr>
              <a:t>Tax data incl. the annual income declaration</a:t>
            </a:r>
            <a:pPr indent="0" marL="0">
              <a:buNone/>
            </a:pPr>
            <a:r>
              <a:rPr lang="en-US" sz="1200" dirty="0">
                <a:solidFill>
                  <a:srgbClr val="17201B"/>
                </a:solidFill>
              </a:rPr>
              <a:t>  — self-employed income is untaxed; no declaration is filed</a:t>
            </a:r>
            <a:endParaRPr lang="en-US" sz="1200" dirty="0"/>
          </a:p>
        </p:txBody>
      </p:sp>
      <p:sp>
        <p:nvSpPr>
          <p:cNvPr id="19" name="evidence 5"/>
          <p:cNvSpPr/>
          <p:nvPr/>
        </p:nvSpPr>
        <p:spPr>
          <a:xfrm>
            <a:off x="548640" y="4846320"/>
            <a:ext cx="6583680" cy="530352"/>
          </a:xfrm>
          <a:prstGeom prst="roundRect">
            <a:avLst>
              <a:gd name="adj" fmla="val 13793"/>
            </a:avLst>
          </a:prstGeom>
          <a:solidFill>
            <a:srgbClr val="E9F1EC"/>
          </a:solidFill>
          <a:ln w="12700">
            <a:solidFill>
              <a:srgbClr val="E9F1EC"/>
            </a:solidFill>
            <a:prstDash val="solid"/>
          </a:ln>
        </p:spPr>
      </p:sp>
      <p:pic>
        <p:nvPicPr>
          <p:cNvPr id="20" name="evidence icon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4974336"/>
            <a:ext cx="274320" cy="274320"/>
          </a:xfrm>
          <a:prstGeom prst="rect">
            <a:avLst/>
          </a:prstGeom>
        </p:spPr>
      </p:pic>
      <p:sp>
        <p:nvSpPr>
          <p:cNvPr id="21" name="evidence text 5"/>
          <p:cNvSpPr txBox="1"/>
          <p:nvPr/>
        </p:nvSpPr>
        <p:spPr>
          <a:xfrm>
            <a:off x="1097280" y="4846320"/>
            <a:ext cx="5943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201B"/>
                </a:solidFill>
              </a:rPr>
              <a:t>Interest, dividends, rental income</a:t>
            </a:r>
            <a:pPr indent="0" marL="0">
              <a:buNone/>
            </a:pPr>
            <a:r>
              <a:rPr lang="en-US" sz="1200" dirty="0">
                <a:solidFill>
                  <a:srgbClr val="17201B"/>
                </a:solidFill>
              </a:rPr>
              <a:t>  — rarely applicable; easy to document when it is</a:t>
            </a:r>
            <a:endParaRPr lang="en-US" sz="1200" dirty="0"/>
          </a:p>
        </p:txBody>
      </p:sp>
      <p:sp>
        <p:nvSpPr>
          <p:cNvPr id="22" name="tile ПДН limit for bank loans (cl.3); income = mean of 6–12 months of receipts (cl.13, cl.18); 50–100% only inside a 15% quota"/>
          <p:cNvSpPr/>
          <p:nvPr/>
        </p:nvSpPr>
        <p:spPr>
          <a:xfrm>
            <a:off x="7589520" y="1371600"/>
            <a:ext cx="4023360" cy="1051560"/>
          </a:xfrm>
          <a:prstGeom prst="roundRect">
            <a:avLst>
              <a:gd name="adj" fmla="val 6957"/>
            </a:avLst>
          </a:prstGeom>
          <a:solidFill>
            <a:srgbClr val="1F4E3D"/>
          </a:solidFill>
          <a:ln w="12700">
            <a:solidFill>
              <a:srgbClr val="1F4E3D"/>
            </a:solidFill>
            <a:prstDash val="solid"/>
          </a:ln>
        </p:spPr>
      </p:sp>
      <p:sp>
        <p:nvSpPr>
          <p:cNvPr id="23" name="tile value ПДН limit for bank loans (cl.3); income = mean of 6–12 months of receipts (cl.13, cl.18); 50–100% only inside a 15% quota"/>
          <p:cNvSpPr txBox="1"/>
          <p:nvPr/>
        </p:nvSpPr>
        <p:spPr>
          <a:xfrm>
            <a:off x="7726680" y="1444752"/>
            <a:ext cx="3749040" cy="578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50% limit</a:t>
            </a:r>
            <a:endParaRPr lang="en-US" sz="2800" dirty="0"/>
          </a:p>
        </p:txBody>
      </p:sp>
      <p:sp>
        <p:nvSpPr>
          <p:cNvPr id="24" name="tile label ПДН limit for bank loans (cl.3); income = mean of 6–12 months of receipts (cl.13, cl.18); 50–100% only inside a 15% quota"/>
          <p:cNvSpPr txBox="1"/>
          <p:nvPr/>
        </p:nvSpPr>
        <p:spPr>
          <a:xfrm>
            <a:off x="7726680" y="1981505"/>
            <a:ext cx="3749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FB8A5"/>
                </a:solidFill>
              </a:rPr>
              <a:t>ПДН limit for bank loans (cl.3); income = mean of 6–12 months of receipts (cl.13, cl.18); 50–100% only inside a 15% quota</a:t>
            </a:r>
            <a:endParaRPr lang="en-US" sz="1100" dirty="0"/>
          </a:p>
        </p:txBody>
      </p:sp>
      <p:sp>
        <p:nvSpPr>
          <p:cNvPr id="25" name="tile projects MKBANK plans under its lending programmes in 2026 (47,975 micro-projects financed in 2025); 1,062 mahalla agents"/>
          <p:cNvSpPr/>
          <p:nvPr/>
        </p:nvSpPr>
        <p:spPr>
          <a:xfrm>
            <a:off x="7589520" y="2606040"/>
            <a:ext cx="4023360" cy="1051560"/>
          </a:xfrm>
          <a:prstGeom prst="roundRect">
            <a:avLst>
              <a:gd name="adj" fmla="val 6957"/>
            </a:avLst>
          </a:prstGeom>
          <a:solidFill>
            <a:srgbClr val="1F4E3D"/>
          </a:solidFill>
          <a:ln w="12700">
            <a:solidFill>
              <a:srgbClr val="1F4E3D"/>
            </a:solidFill>
            <a:prstDash val="solid"/>
          </a:ln>
        </p:spPr>
      </p:sp>
      <p:sp>
        <p:nvSpPr>
          <p:cNvPr id="26" name="tile value projects MKBANK plans under its lending programmes in 2026 (47,975 micro-projects financed in 2025); 1,062 mahalla agents"/>
          <p:cNvSpPr txBox="1"/>
          <p:nvPr/>
        </p:nvSpPr>
        <p:spPr>
          <a:xfrm>
            <a:off x="7726680" y="2679192"/>
            <a:ext cx="3749040" cy="578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~140,000</a:t>
            </a:r>
            <a:endParaRPr lang="en-US" sz="2800" dirty="0"/>
          </a:p>
        </p:txBody>
      </p:sp>
      <p:sp>
        <p:nvSpPr>
          <p:cNvPr id="27" name="tile label projects MKBANK plans under its lending programmes in 2026 (47,975 micro-projects financed in 2025); 1,062 mahalla agents"/>
          <p:cNvSpPr txBox="1"/>
          <p:nvPr/>
        </p:nvSpPr>
        <p:spPr>
          <a:xfrm>
            <a:off x="7726680" y="3215945"/>
            <a:ext cx="3749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FB8A5"/>
                </a:solidFill>
              </a:rPr>
              <a:t>projects MKBANK plans under its lending programmes in 2026 (47,975 micro-projects financed in 2025); 1,062 mahalla agents</a:t>
            </a:r>
            <a:endParaRPr lang="en-US" sz="1100" dirty="0"/>
          </a:p>
        </p:txBody>
      </p:sp>
      <p:sp>
        <p:nvSpPr>
          <p:cNvPr id="28" name="tile an officer's manual reading of 12 months of statements per application (our estimate; pilot measures it)"/>
          <p:cNvSpPr/>
          <p:nvPr/>
        </p:nvSpPr>
        <p:spPr>
          <a:xfrm>
            <a:off x="7589520" y="3840480"/>
            <a:ext cx="4023360" cy="1051560"/>
          </a:xfrm>
          <a:prstGeom prst="roundRect">
            <a:avLst>
              <a:gd name="adj" fmla="val 6957"/>
            </a:avLst>
          </a:prstGeom>
          <a:solidFill>
            <a:srgbClr val="E9F1EC"/>
          </a:solidFill>
          <a:ln w="12700">
            <a:solidFill>
              <a:srgbClr val="E9F1EC"/>
            </a:solidFill>
            <a:prstDash val="solid"/>
          </a:ln>
        </p:spPr>
      </p:sp>
      <p:sp>
        <p:nvSpPr>
          <p:cNvPr id="29" name="tile value an officer&amp;apos;s manual reading of 12 months of statements per application (our estimate; pilot measures it)"/>
          <p:cNvSpPr txBox="1"/>
          <p:nvPr/>
        </p:nvSpPr>
        <p:spPr>
          <a:xfrm>
            <a:off x="7726680" y="3913632"/>
            <a:ext cx="3749040" cy="578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3D"/>
                </a:solidFill>
              </a:rPr>
              <a:t>60–90 min</a:t>
            </a:r>
            <a:endParaRPr lang="en-US" sz="2800" dirty="0"/>
          </a:p>
        </p:txBody>
      </p:sp>
      <p:sp>
        <p:nvSpPr>
          <p:cNvPr id="30" name="tile label an officer&amp;apos;s manual reading of 12 months of statements per application (our estimate; pilot measures it)"/>
          <p:cNvSpPr txBox="1"/>
          <p:nvPr/>
        </p:nvSpPr>
        <p:spPr>
          <a:xfrm>
            <a:off x="7726680" y="4450385"/>
            <a:ext cx="3749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C6B63"/>
                </a:solidFill>
              </a:rPr>
              <a:t>an officer's manual reading of 12 months of statements per application (our estimate; pilot measures it)</a:t>
            </a:r>
            <a:endParaRPr lang="en-US" sz="1100" dirty="0"/>
          </a:p>
        </p:txBody>
      </p:sp>
      <p:sp>
        <p:nvSpPr>
          <p:cNvPr id="31" name="tile of official income records for ~790k registered self-employed (untaxed, unfiled, no cash register required)"/>
          <p:cNvSpPr/>
          <p:nvPr/>
        </p:nvSpPr>
        <p:spPr>
          <a:xfrm>
            <a:off x="7589520" y="5074920"/>
            <a:ext cx="4023360" cy="1051560"/>
          </a:xfrm>
          <a:prstGeom prst="roundRect">
            <a:avLst>
              <a:gd name="adj" fmla="val 6957"/>
            </a:avLst>
          </a:prstGeom>
          <a:solidFill>
            <a:srgbClr val="E9F1EC"/>
          </a:solidFill>
          <a:ln w="12700">
            <a:solidFill>
              <a:srgbClr val="E9F1EC"/>
            </a:solidFill>
            <a:prstDash val="solid"/>
          </a:ln>
        </p:spPr>
      </p:sp>
      <p:sp>
        <p:nvSpPr>
          <p:cNvPr id="32" name="tile value of official income records for ~790k registered self-employed (untaxed, unfiled, no cash register required)"/>
          <p:cNvSpPr txBox="1"/>
          <p:nvPr/>
        </p:nvSpPr>
        <p:spPr>
          <a:xfrm>
            <a:off x="7726680" y="5148072"/>
            <a:ext cx="3749040" cy="5783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3D"/>
                </a:solidFill>
              </a:rPr>
              <a:t>0 lines</a:t>
            </a:r>
            <a:endParaRPr lang="en-US" sz="2800" dirty="0"/>
          </a:p>
        </p:txBody>
      </p:sp>
      <p:sp>
        <p:nvSpPr>
          <p:cNvPr id="33" name="tile label of official income records for ~790k registered self-employed (untaxed, unfiled, no cash register required)"/>
          <p:cNvSpPr txBox="1"/>
          <p:nvPr/>
        </p:nvSpPr>
        <p:spPr>
          <a:xfrm>
            <a:off x="7726680" y="5684825"/>
            <a:ext cx="3749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C6B63"/>
                </a:solidFill>
              </a:rPr>
              <a:t>of official income records for ~790k registered self-employed (untaxed, unfiled, no cash register required)</a:t>
            </a:r>
            <a:endParaRPr lang="en-US" sz="1100" dirty="0"/>
          </a:p>
        </p:txBody>
      </p:sp>
      <p:sp>
        <p:nvSpPr>
          <p:cNvPr id="34" name="sources"/>
          <p:cNvSpPr txBox="1"/>
          <p:nvPr/>
        </p:nvSpPr>
        <p:spPr>
          <a:xfrm>
            <a:off x="548640" y="6172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63"/>
                </a:solidFill>
              </a:rPr>
              <a:t>Sources: CBU Regulation No. 3618 (Board decision 7/3, 8 Apr 2025; lex.uz/uz/docs/7491592) · spot.uz 27 Mar 2026 (MKBANK, bank's own figures) · yuz.uz (self-employed registrations, 2021) — full list in Appendix D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C6B6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3D"/>
                </a:solidFill>
              </a:rPr>
              <a:t>What the officer gets in under five seconds</a:t>
            </a:r>
            <a:endParaRPr lang="en-US" sz="2800" dirty="0"/>
          </a:p>
        </p:txBody>
      </p:sp>
      <p:pic>
        <p:nvPicPr>
          <p:cNvPr id="3" name="screenshot income and pdn" descr="/home/claude/daromad/deck/img/income_pd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7863840" cy="2743200"/>
          </a:xfrm>
          <a:prstGeom prst="rect">
            <a:avLst/>
          </a:prstGeom>
        </p:spPr>
      </p:pic>
      <p:pic>
        <p:nvPicPr>
          <p:cNvPr id="4" name="screenshot memo" descr="/home/claude/daromad/deck/img/mem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206240"/>
            <a:ext cx="7863840" cy="2103120"/>
          </a:xfrm>
          <a:prstGeom prst="rect">
            <a:avLst/>
          </a:prstGeom>
        </p:spPr>
      </p:pic>
      <p:sp>
        <p:nvSpPr>
          <p:cNvPr id="5" name="got circle 0"/>
          <p:cNvSpPr/>
          <p:nvPr/>
        </p:nvSpPr>
        <p:spPr>
          <a:xfrm>
            <a:off x="8686800" y="1371600"/>
            <a:ext cx="457200" cy="457200"/>
          </a:xfrm>
          <a:prstGeom prst="ellipse">
            <a:avLst/>
          </a:prstGeom>
          <a:solidFill>
            <a:srgbClr val="1F4E3D"/>
          </a:solidFill>
          <a:ln w="12700">
            <a:solidFill>
              <a:srgbClr val="1F4E3D"/>
            </a:solidFill>
            <a:prstDash val="solid"/>
          </a:ln>
        </p:spPr>
      </p:sp>
      <p:pic>
        <p:nvPicPr>
          <p:cNvPr id="6" name="got icon 0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240" y="1463040"/>
            <a:ext cx="274320" cy="274320"/>
          </a:xfrm>
          <a:prstGeom prst="rect">
            <a:avLst/>
          </a:prstGeom>
        </p:spPr>
      </p:pic>
      <p:sp>
        <p:nvSpPr>
          <p:cNvPr id="7" name="got head 0"/>
          <p:cNvSpPr txBox="1"/>
          <p:nvPr/>
        </p:nvSpPr>
        <p:spPr>
          <a:xfrm>
            <a:off x="9281160" y="132588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E3D"/>
                </a:solidFill>
              </a:rPr>
              <a:t>Regulatory income</a:t>
            </a:r>
            <a:endParaRPr lang="en-US" sz="1400" dirty="0"/>
          </a:p>
        </p:txBody>
      </p:sp>
      <p:sp>
        <p:nvSpPr>
          <p:cNvPr id="8" name="got text 0"/>
          <p:cNvSpPr txBox="1"/>
          <p:nvPr/>
        </p:nvSpPr>
        <p:spPr>
          <a:xfrm>
            <a:off x="9281160" y="1709928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201B"/>
                </a:solidFill>
              </a:rPr>
              <a:t>cl.13 mean of 6–12 months (median option, cl.14) of account receipts (cl.18); own-card transfers, loan proceeds, refunds and cash deposits excluded</a:t>
            </a:r>
            <a:endParaRPr lang="en-US" sz="1050" dirty="0"/>
          </a:p>
        </p:txBody>
      </p:sp>
      <p:sp>
        <p:nvSpPr>
          <p:cNvPr id="9" name="got circle 1"/>
          <p:cNvSpPr/>
          <p:nvPr/>
        </p:nvSpPr>
        <p:spPr>
          <a:xfrm>
            <a:off x="8686800" y="2633472"/>
            <a:ext cx="457200" cy="457200"/>
          </a:xfrm>
          <a:prstGeom prst="ellipse">
            <a:avLst/>
          </a:prstGeom>
          <a:solidFill>
            <a:srgbClr val="1F4E3D"/>
          </a:solidFill>
          <a:ln w="12700">
            <a:solidFill>
              <a:srgbClr val="1F4E3D"/>
            </a:solidFill>
            <a:prstDash val="solid"/>
          </a:ln>
        </p:spPr>
      </p:sp>
      <p:pic>
        <p:nvPicPr>
          <p:cNvPr id="10" name="got icon 1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78240" y="2724912"/>
            <a:ext cx="274320" cy="274320"/>
          </a:xfrm>
          <a:prstGeom prst="rect">
            <a:avLst/>
          </a:prstGeom>
        </p:spPr>
      </p:pic>
      <p:sp>
        <p:nvSpPr>
          <p:cNvPr id="11" name="got head 1"/>
          <p:cNvSpPr txBox="1"/>
          <p:nvPr/>
        </p:nvSpPr>
        <p:spPr>
          <a:xfrm>
            <a:off x="9281160" y="2587752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E3D"/>
                </a:solidFill>
              </a:rPr>
              <a:t>ПДН with citations</a:t>
            </a:r>
            <a:endParaRPr lang="en-US" sz="1400" dirty="0"/>
          </a:p>
        </p:txBody>
      </p:sp>
      <p:sp>
        <p:nvSpPr>
          <p:cNvPr id="12" name="got text 1"/>
          <p:cNvSpPr txBox="1"/>
          <p:nvPr/>
        </p:nvSpPr>
        <p:spPr>
          <a:xfrm>
            <a:off x="9281160" y="297180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201B"/>
                </a:solidFill>
              </a:rPr>
              <a:t>36/60/180-month spreading, guarantor rule, cl.4 exemptions, 50% limit, the 50–100% quota band and the new-self-employed quota (cl.3), maximum affordable amount</a:t>
            </a:r>
            <a:endParaRPr lang="en-US" sz="1050" dirty="0"/>
          </a:p>
        </p:txBody>
      </p:sp>
      <p:sp>
        <p:nvSpPr>
          <p:cNvPr id="13" name="got circle 2"/>
          <p:cNvSpPr/>
          <p:nvPr/>
        </p:nvSpPr>
        <p:spPr>
          <a:xfrm>
            <a:off x="8686800" y="3895344"/>
            <a:ext cx="457200" cy="457200"/>
          </a:xfrm>
          <a:prstGeom prst="ellipse">
            <a:avLst/>
          </a:prstGeom>
          <a:solidFill>
            <a:srgbClr val="1F4E3D"/>
          </a:solidFill>
          <a:ln w="12700">
            <a:solidFill>
              <a:srgbClr val="1F4E3D"/>
            </a:solidFill>
            <a:prstDash val="solid"/>
          </a:ln>
        </p:spPr>
      </p:sp>
      <p:pic>
        <p:nvPicPr>
          <p:cNvPr id="14" name="got icon 2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78240" y="3986784"/>
            <a:ext cx="274320" cy="274320"/>
          </a:xfrm>
          <a:prstGeom prst="rect">
            <a:avLst/>
          </a:prstGeom>
        </p:spPr>
      </p:pic>
      <p:sp>
        <p:nvSpPr>
          <p:cNvPr id="15" name="got head 2"/>
          <p:cNvSpPr txBox="1"/>
          <p:nvPr/>
        </p:nvSpPr>
        <p:spPr>
          <a:xfrm>
            <a:off x="9281160" y="3849624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E3D"/>
                </a:solidFill>
              </a:rPr>
              <a:t>Integrity report</a:t>
            </a:r>
            <a:endParaRPr lang="en-US" sz="1400" dirty="0"/>
          </a:p>
        </p:txBody>
      </p:sp>
      <p:sp>
        <p:nvSpPr>
          <p:cNvPr id="16" name="got text 2"/>
          <p:cNvSpPr txBox="1"/>
          <p:nvPr/>
        </p:nvSpPr>
        <p:spPr>
          <a:xfrm>
            <a:off x="9281160" y="4233672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201B"/>
                </a:solidFill>
              </a:rPr>
              <a:t>balance chain, duplicates, coverage, gaps, pre-application spikes, circular transfers, holder match</a:t>
            </a:r>
            <a:endParaRPr lang="en-US" sz="1050" dirty="0"/>
          </a:p>
        </p:txBody>
      </p:sp>
      <p:sp>
        <p:nvSpPr>
          <p:cNvPr id="17" name="got circle 3"/>
          <p:cNvSpPr/>
          <p:nvPr/>
        </p:nvSpPr>
        <p:spPr>
          <a:xfrm>
            <a:off x="8686800" y="5157216"/>
            <a:ext cx="457200" cy="457200"/>
          </a:xfrm>
          <a:prstGeom prst="ellipse">
            <a:avLst/>
          </a:prstGeom>
          <a:solidFill>
            <a:srgbClr val="1F4E3D"/>
          </a:solidFill>
          <a:ln w="12700">
            <a:solidFill>
              <a:srgbClr val="1F4E3D"/>
            </a:solidFill>
            <a:prstDash val="solid"/>
          </a:ln>
        </p:spPr>
      </p:sp>
      <p:pic>
        <p:nvPicPr>
          <p:cNvPr id="18" name="got icon 3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78240" y="5248656"/>
            <a:ext cx="274320" cy="274320"/>
          </a:xfrm>
          <a:prstGeom prst="rect">
            <a:avLst/>
          </a:prstGeom>
        </p:spPr>
      </p:pic>
      <p:sp>
        <p:nvSpPr>
          <p:cNvPr id="19" name="got head 3"/>
          <p:cNvSpPr txBox="1"/>
          <p:nvPr/>
        </p:nvSpPr>
        <p:spPr>
          <a:xfrm>
            <a:off x="9281160" y="5111496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E3D"/>
                </a:solidFill>
              </a:rPr>
              <a:t>Verified memo</a:t>
            </a:r>
            <a:endParaRPr lang="en-US" sz="1400" dirty="0"/>
          </a:p>
        </p:txBody>
      </p:sp>
      <p:sp>
        <p:nvSpPr>
          <p:cNvPr id="20" name="got text 3"/>
          <p:cNvSpPr txBox="1"/>
          <p:nvPr/>
        </p:nvSpPr>
        <p:spPr>
          <a:xfrm>
            <a:off x="9281160" y="5495544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201B"/>
                </a:solidFill>
              </a:rPr>
              <a:t>every number traces to its source — statement lines (click to open them), a clause, or the model; the verifier refuses unsourced numbers; hash-chained audit log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C6B6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3D"/>
                </a:solidFill>
              </a:rPr>
              <a:t>Live demo — on our samples and on anything you upload</a:t>
            </a:r>
            <a:endParaRPr lang="en-US" sz="2800" dirty="0"/>
          </a:p>
        </p:txBody>
      </p:sp>
      <p:sp>
        <p:nvSpPr>
          <p:cNvPr id="3" name="url box"/>
          <p:cNvSpPr/>
          <p:nvPr/>
        </p:nvSpPr>
        <p:spPr>
          <a:xfrm>
            <a:off x="548640" y="1325880"/>
            <a:ext cx="5577840" cy="1188720"/>
          </a:xfrm>
          <a:prstGeom prst="roundRect">
            <a:avLst>
              <a:gd name="adj" fmla="val 7692"/>
            </a:avLst>
          </a:prstGeom>
          <a:solidFill>
            <a:srgbClr val="1F4E3D"/>
          </a:solidFill>
          <a:ln w="12700">
            <a:solidFill>
              <a:srgbClr val="1F4E3D"/>
            </a:solidFill>
            <a:prstDash val="solid"/>
          </a:ln>
        </p:spPr>
      </p:sp>
      <p:pic>
        <p:nvPicPr>
          <p:cNvPr id="4" name="glob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691640"/>
            <a:ext cx="457200" cy="457200"/>
          </a:xfrm>
          <a:prstGeom prst="rect">
            <a:avLst/>
          </a:prstGeom>
        </p:spPr>
      </p:pic>
      <p:sp>
        <p:nvSpPr>
          <p:cNvPr id="5" name="url"/>
          <p:cNvSpPr txBox="1"/>
          <p:nvPr/>
        </p:nvSpPr>
        <p:spPr>
          <a:xfrm>
            <a:off x="1325880" y="1371600"/>
            <a:ext cx="4663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B8A5"/>
                </a:solidFill>
              </a:rPr>
              <a:t>Open on your laptop or phone
</a:t>
            </a:r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https://tys-fintech.vercel.app</a:t>
            </a:r>
            <a:endParaRPr lang="en-US" sz="1200" dirty="0"/>
          </a:p>
        </p:txBody>
      </p:sp>
      <p:sp>
        <p:nvSpPr>
          <p:cNvPr id="6" name="demo steps"/>
          <p:cNvSpPr txBox="1"/>
          <p:nvPr/>
        </p:nvSpPr>
        <p:spPr>
          <a:xfrm>
            <a:off x="548640" y="2697480"/>
            <a:ext cx="55778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17201B"/>
                </a:solidFill>
              </a:rPr>
              <a:t>1.  Load sample A — statement PDF, Soliq certificate, receipt photo parse in the tab (no server, no API)</a:t>
            </a:r>
            <a:endParaRPr lang="en-US" sz="12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17201B"/>
                </a:solidFill>
              </a:rPr>
              <a:t>2.  Income series, ПДН with clause citations, maximum affordable amount; drag the slider to cross the 50% limit</a:t>
            </a:r>
            <a:endParaRPr lang="en-US" sz="12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17201B"/>
                </a:solidFill>
              </a:rPr>
              <a:t>3.  Integrity checks and risk score with drivers; click any evidence link to see the statement line</a:t>
            </a:r>
            <a:endParaRPr lang="en-US" sz="12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17201B"/>
                </a:solidFill>
              </a:rPr>
              <a:t>4.  Memo: verifier badge shows how many numbers were checked and that none is unsourced</a:t>
            </a:r>
            <a:endParaRPr lang="en-US" sz="12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17201B"/>
                </a:solidFill>
              </a:rPr>
              <a:t>5.  Record the decision; export the case with its hash-chained audit log</a:t>
            </a:r>
            <a:endParaRPr lang="en-US" sz="12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17201B"/>
                </a:solidFill>
              </a:rPr>
              <a:t>6.  Then: Load tampered statement — the balance chain breaks at the inflated inflow; upload your own documents</a:t>
            </a:r>
            <a:endParaRPr lang="en-US" sz="1250" dirty="0"/>
          </a:p>
        </p:txBody>
      </p:sp>
      <p:pic>
        <p:nvPicPr>
          <p:cNvPr id="7" name="screenshot integrity" descr="/home/claude/daromad/deck/img/integrity_ris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325880"/>
            <a:ext cx="5303520" cy="2313432"/>
          </a:xfrm>
          <a:prstGeom prst="rect">
            <a:avLst/>
          </a:prstGeom>
        </p:spPr>
      </p:pic>
      <p:pic>
        <p:nvPicPr>
          <p:cNvPr id="8" name="screenshot tamper" descr="/home/claude/daromad/deck/img/tampe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3794760"/>
            <a:ext cx="3108960" cy="1600200"/>
          </a:xfrm>
          <a:prstGeom prst="rect">
            <a:avLst/>
          </a:prstGeom>
        </p:spPr>
      </p:pic>
      <p:pic>
        <p:nvPicPr>
          <p:cNvPr id="9" name="qr site" descr="/home/claude/daromad/deck/img/qr_s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92640" y="3703320"/>
            <a:ext cx="1828800" cy="1828800"/>
          </a:xfrm>
          <a:prstGeom prst="rect">
            <a:avLst/>
          </a:prstGeom>
        </p:spPr>
      </p:pic>
      <p:sp>
        <p:nvSpPr>
          <p:cNvPr id="10" name="qr caption"/>
          <p:cNvSpPr txBox="1"/>
          <p:nvPr/>
        </p:nvSpPr>
        <p:spPr>
          <a:xfrm>
            <a:off x="6400800" y="557784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63"/>
                </a:solidFill>
              </a:rPr>
              <a:t>Scan to open the live prototype on your phone (New case → Load sample A)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C6B6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3D"/>
                </a:solidFill>
              </a:rPr>
              <a:t>Seven components, one optional language model, zero API keys</a:t>
            </a:r>
            <a:endParaRPr lang="en-US" sz="2800" dirty="0"/>
          </a:p>
        </p:txBody>
      </p:sp>
      <p:sp>
        <p:nvSpPr>
          <p:cNvPr id="3" name="component 0"/>
          <p:cNvSpPr/>
          <p:nvPr/>
        </p:nvSpPr>
        <p:spPr>
          <a:xfrm>
            <a:off x="548640" y="1325880"/>
            <a:ext cx="2697480" cy="1828800"/>
          </a:xfrm>
          <a:prstGeom prst="roundRect">
            <a:avLst>
              <a:gd name="adj" fmla="val 4000"/>
            </a:avLst>
          </a:prstGeom>
          <a:solidFill>
            <a:srgbClr val="E9F1EC"/>
          </a:solidFill>
          <a:ln w="12700">
            <a:solidFill>
              <a:srgbClr val="E9F1EC"/>
            </a:solidFill>
            <a:prstDash val="solid"/>
          </a:ln>
        </p:spPr>
      </p:sp>
      <p:sp>
        <p:nvSpPr>
          <p:cNvPr id="4" name="comp circle 0"/>
          <p:cNvSpPr/>
          <p:nvPr/>
        </p:nvSpPr>
        <p:spPr>
          <a:xfrm>
            <a:off x="685800" y="1463040"/>
            <a:ext cx="457200" cy="457200"/>
          </a:xfrm>
          <a:prstGeom prst="ellipse">
            <a:avLst/>
          </a:prstGeom>
          <a:solidFill>
            <a:srgbClr val="1F4E3D"/>
          </a:solidFill>
          <a:ln w="12700">
            <a:solidFill>
              <a:srgbClr val="1F4E3D"/>
            </a:solidFill>
            <a:prstDash val="solid"/>
          </a:ln>
        </p:spPr>
      </p:sp>
      <p:pic>
        <p:nvPicPr>
          <p:cNvPr id="5" name="comp icon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554480"/>
            <a:ext cx="274320" cy="274320"/>
          </a:xfrm>
          <a:prstGeom prst="rect">
            <a:avLst/>
          </a:prstGeom>
        </p:spPr>
      </p:pic>
      <p:sp>
        <p:nvSpPr>
          <p:cNvPr id="6" name="comp head 0"/>
          <p:cNvSpPr txBox="1"/>
          <p:nvPr/>
        </p:nvSpPr>
        <p:spPr>
          <a:xfrm>
            <a:off x="1234440" y="146304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E3D"/>
                </a:solidFill>
              </a:rPr>
              <a:t>1 · Intake</a:t>
            </a:r>
            <a:endParaRPr lang="en-US" sz="1400" dirty="0"/>
          </a:p>
        </p:txBody>
      </p:sp>
      <p:sp>
        <p:nvSpPr>
          <p:cNvPr id="7" name="comp text 0"/>
          <p:cNvSpPr txBox="1"/>
          <p:nvPr/>
        </p:nvSpPr>
        <p:spPr>
          <a:xfrm>
            <a:off x="685800" y="2011680"/>
            <a:ext cx="2423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201B"/>
                </a:solidFill>
              </a:rPr>
              <a:t>pdf.js with coordinates; XLSX/CSV; tesseract.js OCR uzb+rus+eng, self-hosted; field confidence, tap-to-confirm</a:t>
            </a:r>
            <a:endParaRPr lang="en-US" sz="1050" dirty="0"/>
          </a:p>
        </p:txBody>
      </p:sp>
      <p:sp>
        <p:nvSpPr>
          <p:cNvPr id="8" name="component 1"/>
          <p:cNvSpPr/>
          <p:nvPr/>
        </p:nvSpPr>
        <p:spPr>
          <a:xfrm>
            <a:off x="3383280" y="1325880"/>
            <a:ext cx="2697480" cy="1828800"/>
          </a:xfrm>
          <a:prstGeom prst="roundRect">
            <a:avLst>
              <a:gd name="adj" fmla="val 4000"/>
            </a:avLst>
          </a:prstGeom>
          <a:solidFill>
            <a:srgbClr val="E9F1EC"/>
          </a:solidFill>
          <a:ln w="12700">
            <a:solidFill>
              <a:srgbClr val="E9F1EC"/>
            </a:solidFill>
            <a:prstDash val="solid"/>
          </a:ln>
        </p:spPr>
      </p:sp>
      <p:sp>
        <p:nvSpPr>
          <p:cNvPr id="9" name="comp circle 1"/>
          <p:cNvSpPr/>
          <p:nvPr/>
        </p:nvSpPr>
        <p:spPr>
          <a:xfrm>
            <a:off x="3520440" y="1463040"/>
            <a:ext cx="457200" cy="457200"/>
          </a:xfrm>
          <a:prstGeom prst="ellipse">
            <a:avLst/>
          </a:prstGeom>
          <a:solidFill>
            <a:srgbClr val="1F4E3D"/>
          </a:solidFill>
          <a:ln w="12700">
            <a:solidFill>
              <a:srgbClr val="1F4E3D"/>
            </a:solidFill>
            <a:prstDash val="solid"/>
          </a:ln>
        </p:spPr>
      </p:sp>
      <p:pic>
        <p:nvPicPr>
          <p:cNvPr id="10" name="comp icon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11880" y="1554480"/>
            <a:ext cx="274320" cy="274320"/>
          </a:xfrm>
          <a:prstGeom prst="rect">
            <a:avLst/>
          </a:prstGeom>
        </p:spPr>
      </p:pic>
      <p:sp>
        <p:nvSpPr>
          <p:cNvPr id="11" name="comp head 1"/>
          <p:cNvSpPr txBox="1"/>
          <p:nvPr/>
        </p:nvSpPr>
        <p:spPr>
          <a:xfrm>
            <a:off x="4069080" y="146304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E3D"/>
                </a:solidFill>
              </a:rPr>
              <a:t>2 · Categoriser</a:t>
            </a:r>
            <a:endParaRPr lang="en-US" sz="1400" dirty="0"/>
          </a:p>
        </p:txBody>
      </p:sp>
      <p:sp>
        <p:nvSpPr>
          <p:cNvPr id="12" name="comp text 1"/>
          <p:cNvSpPr txBox="1"/>
          <p:nvPr/>
        </p:nvSpPr>
        <p:spPr>
          <a:xfrm>
            <a:off x="3520440" y="2011680"/>
            <a:ext cx="2423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201B"/>
                </a:solidFill>
              </a:rPr>
              <a:t>multilingual rules + counterparty patterns (recurring payer → family; same mask both ways → own card)</a:t>
            </a:r>
            <a:endParaRPr lang="en-US" sz="1050" dirty="0"/>
          </a:p>
        </p:txBody>
      </p:sp>
      <p:sp>
        <p:nvSpPr>
          <p:cNvPr id="13" name="component 2"/>
          <p:cNvSpPr/>
          <p:nvPr/>
        </p:nvSpPr>
        <p:spPr>
          <a:xfrm>
            <a:off x="6217920" y="1325880"/>
            <a:ext cx="2697480" cy="1828800"/>
          </a:xfrm>
          <a:prstGeom prst="roundRect">
            <a:avLst>
              <a:gd name="adj" fmla="val 4000"/>
            </a:avLst>
          </a:prstGeom>
          <a:solidFill>
            <a:srgbClr val="E9F1EC"/>
          </a:solidFill>
          <a:ln w="12700">
            <a:solidFill>
              <a:srgbClr val="E9F1EC"/>
            </a:solidFill>
            <a:prstDash val="solid"/>
          </a:ln>
        </p:spPr>
      </p:sp>
      <p:sp>
        <p:nvSpPr>
          <p:cNvPr id="14" name="comp circle 2"/>
          <p:cNvSpPr/>
          <p:nvPr/>
        </p:nvSpPr>
        <p:spPr>
          <a:xfrm>
            <a:off x="6355080" y="1463040"/>
            <a:ext cx="457200" cy="457200"/>
          </a:xfrm>
          <a:prstGeom prst="ellipse">
            <a:avLst/>
          </a:prstGeom>
          <a:solidFill>
            <a:srgbClr val="1F4E3D"/>
          </a:solidFill>
          <a:ln w="12700">
            <a:solidFill>
              <a:srgbClr val="1F4E3D"/>
            </a:solidFill>
            <a:prstDash val="solid"/>
          </a:ln>
        </p:spPr>
      </p:sp>
      <p:pic>
        <p:nvPicPr>
          <p:cNvPr id="15" name="comp icon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6520" y="1554480"/>
            <a:ext cx="274320" cy="274320"/>
          </a:xfrm>
          <a:prstGeom prst="rect">
            <a:avLst/>
          </a:prstGeom>
        </p:spPr>
      </p:pic>
      <p:sp>
        <p:nvSpPr>
          <p:cNvPr id="16" name="comp head 2"/>
          <p:cNvSpPr txBox="1"/>
          <p:nvPr/>
        </p:nvSpPr>
        <p:spPr>
          <a:xfrm>
            <a:off x="6903720" y="146304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E3D"/>
                </a:solidFill>
              </a:rPr>
              <a:t>3 · Cash-flow</a:t>
            </a:r>
            <a:endParaRPr lang="en-US" sz="1400" dirty="0"/>
          </a:p>
        </p:txBody>
      </p:sp>
      <p:sp>
        <p:nvSpPr>
          <p:cNvPr id="17" name="comp text 2"/>
          <p:cNvSpPr txBox="1"/>
          <p:nvPr/>
        </p:nvSpPr>
        <p:spPr>
          <a:xfrm>
            <a:off x="6355080" y="2011680"/>
            <a:ext cx="2423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201B"/>
                </a:solidFill>
              </a:rPr>
              <a:t>12-month series; 18 features identical in TypeScript and Python (parity test)</a:t>
            </a:r>
            <a:endParaRPr lang="en-US" sz="1050" dirty="0"/>
          </a:p>
        </p:txBody>
      </p:sp>
      <p:sp>
        <p:nvSpPr>
          <p:cNvPr id="18" name="component 3"/>
          <p:cNvSpPr/>
          <p:nvPr/>
        </p:nvSpPr>
        <p:spPr>
          <a:xfrm>
            <a:off x="9052560" y="1325880"/>
            <a:ext cx="2697480" cy="1828800"/>
          </a:xfrm>
          <a:prstGeom prst="roundRect">
            <a:avLst>
              <a:gd name="adj" fmla="val 4000"/>
            </a:avLst>
          </a:prstGeom>
          <a:solidFill>
            <a:srgbClr val="E9F1EC"/>
          </a:solidFill>
          <a:ln w="12700">
            <a:solidFill>
              <a:srgbClr val="E9F1EC"/>
            </a:solidFill>
            <a:prstDash val="solid"/>
          </a:ln>
        </p:spPr>
      </p:sp>
      <p:sp>
        <p:nvSpPr>
          <p:cNvPr id="19" name="comp circle 3"/>
          <p:cNvSpPr/>
          <p:nvPr/>
        </p:nvSpPr>
        <p:spPr>
          <a:xfrm>
            <a:off x="9189720" y="1463040"/>
            <a:ext cx="457200" cy="457200"/>
          </a:xfrm>
          <a:prstGeom prst="ellipse">
            <a:avLst/>
          </a:prstGeom>
          <a:solidFill>
            <a:srgbClr val="1F4E3D"/>
          </a:solidFill>
          <a:ln w="12700">
            <a:solidFill>
              <a:srgbClr val="1F4E3D"/>
            </a:solidFill>
            <a:prstDash val="solid"/>
          </a:ln>
        </p:spPr>
      </p:sp>
      <p:pic>
        <p:nvPicPr>
          <p:cNvPr id="20" name="comp icon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81160" y="1554480"/>
            <a:ext cx="274320" cy="274320"/>
          </a:xfrm>
          <a:prstGeom prst="rect">
            <a:avLst/>
          </a:prstGeom>
        </p:spPr>
      </p:pic>
      <p:sp>
        <p:nvSpPr>
          <p:cNvPr id="21" name="comp head 3"/>
          <p:cNvSpPr txBox="1"/>
          <p:nvPr/>
        </p:nvSpPr>
        <p:spPr>
          <a:xfrm>
            <a:off x="9738360" y="146304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E3D"/>
                </a:solidFill>
              </a:rPr>
              <a:t>4 · Rule engine</a:t>
            </a:r>
            <a:endParaRPr lang="en-US" sz="1400" dirty="0"/>
          </a:p>
        </p:txBody>
      </p:sp>
      <p:sp>
        <p:nvSpPr>
          <p:cNvPr id="22" name="comp text 3"/>
          <p:cNvSpPr txBox="1"/>
          <p:nvPr/>
        </p:nvSpPr>
        <p:spPr>
          <a:xfrm>
            <a:off x="9189720" y="2011680"/>
            <a:ext cx="2423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201B"/>
                </a:solidFill>
              </a:rPr>
              <a:t>ПДН clause by clause (Regulation 3618): 36/60/180-month spreading, guarantor rule, cl.4 exemptions, 50% limit, 15% quota bands, back-solved amount</a:t>
            </a:r>
            <a:endParaRPr lang="en-US" sz="1050" dirty="0"/>
          </a:p>
        </p:txBody>
      </p:sp>
      <p:sp>
        <p:nvSpPr>
          <p:cNvPr id="23" name="component 4"/>
          <p:cNvSpPr/>
          <p:nvPr/>
        </p:nvSpPr>
        <p:spPr>
          <a:xfrm>
            <a:off x="548640" y="3337560"/>
            <a:ext cx="2697480" cy="1828800"/>
          </a:xfrm>
          <a:prstGeom prst="roundRect">
            <a:avLst>
              <a:gd name="adj" fmla="val 4000"/>
            </a:avLst>
          </a:prstGeom>
          <a:solidFill>
            <a:srgbClr val="E9F1EC"/>
          </a:solidFill>
          <a:ln w="12700">
            <a:solidFill>
              <a:srgbClr val="E9F1EC"/>
            </a:solidFill>
            <a:prstDash val="solid"/>
          </a:ln>
        </p:spPr>
      </p:sp>
      <p:sp>
        <p:nvSpPr>
          <p:cNvPr id="24" name="comp circle 4"/>
          <p:cNvSpPr/>
          <p:nvPr/>
        </p:nvSpPr>
        <p:spPr>
          <a:xfrm>
            <a:off x="685800" y="3474720"/>
            <a:ext cx="457200" cy="457200"/>
          </a:xfrm>
          <a:prstGeom prst="ellipse">
            <a:avLst/>
          </a:prstGeom>
          <a:solidFill>
            <a:srgbClr val="1F4E3D"/>
          </a:solidFill>
          <a:ln w="12700">
            <a:solidFill>
              <a:srgbClr val="1F4E3D"/>
            </a:solidFill>
            <a:prstDash val="solid"/>
          </a:ln>
        </p:spPr>
      </p:sp>
      <p:pic>
        <p:nvPicPr>
          <p:cNvPr id="25" name="comp icon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3566160"/>
            <a:ext cx="274320" cy="274320"/>
          </a:xfrm>
          <a:prstGeom prst="rect">
            <a:avLst/>
          </a:prstGeom>
        </p:spPr>
      </p:pic>
      <p:sp>
        <p:nvSpPr>
          <p:cNvPr id="26" name="comp head 4"/>
          <p:cNvSpPr txBox="1"/>
          <p:nvPr/>
        </p:nvSpPr>
        <p:spPr>
          <a:xfrm>
            <a:off x="1234440" y="347472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E3D"/>
                </a:solidFill>
              </a:rPr>
              <a:t>5 · Risk model</a:t>
            </a:r>
            <a:endParaRPr lang="en-US" sz="1400" dirty="0"/>
          </a:p>
        </p:txBody>
      </p:sp>
      <p:sp>
        <p:nvSpPr>
          <p:cNvPr id="27" name="comp text 4"/>
          <p:cNvSpPr txBox="1"/>
          <p:nvPr/>
        </p:nvSpPr>
        <p:spPr>
          <a:xfrm>
            <a:off x="685800" y="4023360"/>
            <a:ext cx="2423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201B"/>
                </a:solidFill>
              </a:rPr>
              <a:t>XGBoost, monotone constraints, JSON trees evaluated in the browser; attributions vs portfolio median</a:t>
            </a:r>
            <a:endParaRPr lang="en-US" sz="1050" dirty="0"/>
          </a:p>
        </p:txBody>
      </p:sp>
      <p:sp>
        <p:nvSpPr>
          <p:cNvPr id="28" name="component 5"/>
          <p:cNvSpPr/>
          <p:nvPr/>
        </p:nvSpPr>
        <p:spPr>
          <a:xfrm>
            <a:off x="3383280" y="3337560"/>
            <a:ext cx="2697480" cy="1828800"/>
          </a:xfrm>
          <a:prstGeom prst="roundRect">
            <a:avLst>
              <a:gd name="adj" fmla="val 4000"/>
            </a:avLst>
          </a:prstGeom>
          <a:solidFill>
            <a:srgbClr val="E9F1EC"/>
          </a:solidFill>
          <a:ln w="12700">
            <a:solidFill>
              <a:srgbClr val="E9F1EC"/>
            </a:solidFill>
            <a:prstDash val="solid"/>
          </a:ln>
        </p:spPr>
      </p:sp>
      <p:sp>
        <p:nvSpPr>
          <p:cNvPr id="29" name="comp circle 5"/>
          <p:cNvSpPr/>
          <p:nvPr/>
        </p:nvSpPr>
        <p:spPr>
          <a:xfrm>
            <a:off x="3520440" y="3474720"/>
            <a:ext cx="457200" cy="457200"/>
          </a:xfrm>
          <a:prstGeom prst="ellipse">
            <a:avLst/>
          </a:prstGeom>
          <a:solidFill>
            <a:srgbClr val="1F4E3D"/>
          </a:solidFill>
          <a:ln w="12700">
            <a:solidFill>
              <a:srgbClr val="1F4E3D"/>
            </a:solidFill>
            <a:prstDash val="solid"/>
          </a:ln>
        </p:spPr>
      </p:sp>
      <p:pic>
        <p:nvPicPr>
          <p:cNvPr id="30" name="comp icon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11880" y="3566160"/>
            <a:ext cx="274320" cy="274320"/>
          </a:xfrm>
          <a:prstGeom prst="rect">
            <a:avLst/>
          </a:prstGeom>
        </p:spPr>
      </p:pic>
      <p:sp>
        <p:nvSpPr>
          <p:cNvPr id="31" name="comp head 5"/>
          <p:cNvSpPr txBox="1"/>
          <p:nvPr/>
        </p:nvSpPr>
        <p:spPr>
          <a:xfrm>
            <a:off x="4069080" y="347472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E3D"/>
                </a:solidFill>
              </a:rPr>
              <a:t>6 · Integrity</a:t>
            </a:r>
            <a:endParaRPr lang="en-US" sz="1400" dirty="0"/>
          </a:p>
        </p:txBody>
      </p:sp>
      <p:sp>
        <p:nvSpPr>
          <p:cNvPr id="32" name="comp text 5"/>
          <p:cNvSpPr txBox="1"/>
          <p:nvPr/>
        </p:nvSpPr>
        <p:spPr>
          <a:xfrm>
            <a:off x="3520440" y="4023360"/>
            <a:ext cx="2423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201B"/>
                </a:solidFill>
              </a:rPr>
              <a:t>balance chain, duplicates, coverage, gaps, round-sum spikes, circular transfers, holder match</a:t>
            </a:r>
            <a:endParaRPr lang="en-US" sz="1050" dirty="0"/>
          </a:p>
        </p:txBody>
      </p:sp>
      <p:sp>
        <p:nvSpPr>
          <p:cNvPr id="33" name="component 6"/>
          <p:cNvSpPr/>
          <p:nvPr/>
        </p:nvSpPr>
        <p:spPr>
          <a:xfrm>
            <a:off x="6217920" y="3337560"/>
            <a:ext cx="2697480" cy="1828800"/>
          </a:xfrm>
          <a:prstGeom prst="roundRect">
            <a:avLst>
              <a:gd name="adj" fmla="val 4000"/>
            </a:avLst>
          </a:prstGeom>
          <a:solidFill>
            <a:srgbClr val="E9F1EC"/>
          </a:solidFill>
          <a:ln w="12700">
            <a:solidFill>
              <a:srgbClr val="E9F1EC"/>
            </a:solidFill>
            <a:prstDash val="solid"/>
          </a:ln>
        </p:spPr>
      </p:sp>
      <p:sp>
        <p:nvSpPr>
          <p:cNvPr id="34" name="comp circle 6"/>
          <p:cNvSpPr/>
          <p:nvPr/>
        </p:nvSpPr>
        <p:spPr>
          <a:xfrm>
            <a:off x="6355080" y="3474720"/>
            <a:ext cx="457200" cy="457200"/>
          </a:xfrm>
          <a:prstGeom prst="ellipse">
            <a:avLst/>
          </a:prstGeom>
          <a:solidFill>
            <a:srgbClr val="1F4E3D"/>
          </a:solidFill>
          <a:ln w="12700">
            <a:solidFill>
              <a:srgbClr val="1F4E3D"/>
            </a:solidFill>
            <a:prstDash val="solid"/>
          </a:ln>
        </p:spPr>
      </p:sp>
      <p:pic>
        <p:nvPicPr>
          <p:cNvPr id="35" name="comp icon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46520" y="3566160"/>
            <a:ext cx="274320" cy="274320"/>
          </a:xfrm>
          <a:prstGeom prst="rect">
            <a:avLst/>
          </a:prstGeom>
        </p:spPr>
      </p:pic>
      <p:sp>
        <p:nvSpPr>
          <p:cNvPr id="36" name="comp head 6"/>
          <p:cNvSpPr txBox="1"/>
          <p:nvPr/>
        </p:nvSpPr>
        <p:spPr>
          <a:xfrm>
            <a:off x="6903720" y="347472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E3D"/>
                </a:solidFill>
              </a:rPr>
              <a:t>7 · Memo + audit</a:t>
            </a:r>
            <a:endParaRPr lang="en-US" sz="1400" dirty="0"/>
          </a:p>
        </p:txBody>
      </p:sp>
      <p:sp>
        <p:nvSpPr>
          <p:cNvPr id="37" name="comp text 6"/>
          <p:cNvSpPr txBox="1"/>
          <p:nvPr/>
        </p:nvSpPr>
        <p:spPr>
          <a:xfrm>
            <a:off x="6355080" y="4023360"/>
            <a:ext cx="2423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201B"/>
                </a:solidFill>
              </a:rPr>
              <a:t>template from a fact table; verifier rejects unsourced numbers; SHA-256 hash-chained log</a:t>
            </a:r>
            <a:endParaRPr lang="en-US" sz="1050" dirty="0"/>
          </a:p>
        </p:txBody>
      </p:sp>
      <p:sp>
        <p:nvSpPr>
          <p:cNvPr id="38" name="perimeter card"/>
          <p:cNvSpPr/>
          <p:nvPr/>
        </p:nvSpPr>
        <p:spPr>
          <a:xfrm>
            <a:off x="9052560" y="3337560"/>
            <a:ext cx="2697480" cy="1828800"/>
          </a:xfrm>
          <a:prstGeom prst="roundRect">
            <a:avLst>
              <a:gd name="adj" fmla="val 4000"/>
            </a:avLst>
          </a:prstGeom>
          <a:solidFill>
            <a:srgbClr val="1F4E3D"/>
          </a:solidFill>
          <a:ln w="12700">
            <a:solidFill>
              <a:srgbClr val="1F4E3D"/>
            </a:solidFill>
            <a:prstDash val="solid"/>
          </a:ln>
        </p:spPr>
      </p:sp>
      <p:pic>
        <p:nvPicPr>
          <p:cNvPr id="39" name="perimeter icon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89720" y="3474720"/>
            <a:ext cx="320040" cy="320040"/>
          </a:xfrm>
          <a:prstGeom prst="rect">
            <a:avLst/>
          </a:prstGeom>
        </p:spPr>
      </p:pic>
      <p:sp>
        <p:nvSpPr>
          <p:cNvPr id="40" name="perimeter head"/>
          <p:cNvSpPr txBox="1"/>
          <p:nvPr/>
        </p:nvSpPr>
        <p:spPr>
          <a:xfrm>
            <a:off x="9601200" y="342900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Perimeter</a:t>
            </a:r>
            <a:endParaRPr lang="en-US" sz="1400" dirty="0"/>
          </a:p>
        </p:txBody>
      </p:sp>
      <p:sp>
        <p:nvSpPr>
          <p:cNvPr id="41" name="perimeter text"/>
          <p:cNvSpPr txBox="1"/>
          <p:nvPr/>
        </p:nvSpPr>
        <p:spPr>
          <a:xfrm>
            <a:off x="9189720" y="3886200"/>
            <a:ext cx="2468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9F1EC"/>
                </a:solidFill>
              </a:rPr>
              <a:t>Prototype: static site, every byte of a document stays in the browser. Production: the same bundle on the bank's server, SSO, audit log in the bank DB, core-banking pull for own customers. LLM optional, narrative only, behind the same verifier.</a:t>
            </a:r>
            <a:endParaRPr lang="en-US" sz="1000" dirty="0"/>
          </a:p>
        </p:txBody>
      </p:sp>
      <p:sp>
        <p:nvSpPr>
          <p:cNvPr id="42" name="speed"/>
          <p:cNvSpPr txBox="1"/>
          <p:nvPr/>
        </p:nvSpPr>
        <p:spPr>
          <a:xfrm>
            <a:off x="548640" y="53492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E3D"/>
                </a:solidFill>
              </a:rPr>
              <a:t>Speed: statement 1.2–1.8 s · receipt OCR 1.6 s · everything else &lt; 50 ms · marginal cost per application: zero</a:t>
            </a:r>
            <a:endParaRPr lang="en-US" sz="1200" dirty="0"/>
          </a:p>
        </p:txBody>
      </p:sp>
      <p:sp>
        <p:nvSpPr>
          <p:cNvPr id="43" name="hitl"/>
          <p:cNvSpPr txBox="1"/>
          <p:nvPr/>
        </p:nvSpPr>
        <p:spPr>
          <a:xfrm>
            <a:off x="548640" y="57150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201B"/>
                </a:solidFill>
              </a:rPr>
              <a:t>Human in the loop: the engine recommends and computes the maximum affordable amount; the officer decides; an override needs a reason, written into the chain.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C6B6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3D"/>
                </a:solidFill>
              </a:rPr>
              <a:t>Measured through the real app, not typed into a slide</a:t>
            </a:r>
            <a:endParaRPr lang="en-US" sz="2800" dirty="0"/>
          </a:p>
        </p:txBody>
      </p:sp>
      <p:sp>
        <p:nvSpPr>
          <p:cNvPr id="3" name="tile generator PDFs: exact rows, balance chain reconciled (2 layouts, RU/UZ)"/>
          <p:cNvSpPr/>
          <p:nvPr/>
        </p:nvSpPr>
        <p:spPr>
          <a:xfrm>
            <a:off x="548640" y="1325880"/>
            <a:ext cx="2103120" cy="1353312"/>
          </a:xfrm>
          <a:prstGeom prst="roundRect">
            <a:avLst>
              <a:gd name="adj" fmla="val 5405"/>
            </a:avLst>
          </a:prstGeom>
          <a:solidFill>
            <a:srgbClr val="E9F1EC"/>
          </a:solidFill>
          <a:ln w="12700">
            <a:solidFill>
              <a:srgbClr val="E9F1EC"/>
            </a:solidFill>
            <a:prstDash val="solid"/>
          </a:ln>
        </p:spPr>
      </p:sp>
      <p:sp>
        <p:nvSpPr>
          <p:cNvPr id="4" name="tile value generator PDFs: exact rows, balance chain reconciled (2 layouts, RU/UZ)"/>
          <p:cNvSpPr txBox="1"/>
          <p:nvPr/>
        </p:nvSpPr>
        <p:spPr>
          <a:xfrm>
            <a:off x="685800" y="1399032"/>
            <a:ext cx="1828800" cy="7443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3D"/>
                </a:solidFill>
              </a:rPr>
              <a:t>60/60</a:t>
            </a:r>
            <a:endParaRPr lang="en-US" sz="2400" dirty="0"/>
          </a:p>
        </p:txBody>
      </p:sp>
      <p:sp>
        <p:nvSpPr>
          <p:cNvPr id="5" name="tile label generator PDFs: exact rows, balance chain reconciled (2 layouts, RU/UZ)"/>
          <p:cNvSpPr txBox="1"/>
          <p:nvPr/>
        </p:nvSpPr>
        <p:spPr>
          <a:xfrm>
            <a:off x="685800" y="2110801"/>
            <a:ext cx="1828800" cy="541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C6B63"/>
                </a:solidFill>
              </a:rPr>
              <a:t>generator PDFs: exact rows, balance chain reconciled (2 layouts, RU/UZ)</a:t>
            </a:r>
            <a:endParaRPr lang="en-US" sz="900" dirty="0"/>
          </a:p>
        </p:txBody>
      </p:sp>
      <p:sp>
        <p:nvSpPr>
          <p:cNvPr id="6" name="tile unseen layouts exact — CSV/XLSX/TSV variants incl. a wallet export (list on the model card)"/>
          <p:cNvSpPr/>
          <p:nvPr/>
        </p:nvSpPr>
        <p:spPr>
          <a:xfrm>
            <a:off x="2788920" y="1325880"/>
            <a:ext cx="2103120" cy="1353312"/>
          </a:xfrm>
          <a:prstGeom prst="roundRect">
            <a:avLst>
              <a:gd name="adj" fmla="val 5405"/>
            </a:avLst>
          </a:prstGeom>
          <a:solidFill>
            <a:srgbClr val="E9F1EC"/>
          </a:solidFill>
          <a:ln w="12700">
            <a:solidFill>
              <a:srgbClr val="E9F1EC"/>
            </a:solidFill>
            <a:prstDash val="solid"/>
          </a:ln>
        </p:spPr>
      </p:sp>
      <p:sp>
        <p:nvSpPr>
          <p:cNvPr id="7" name="tile value unseen layouts exact — CSV/XLSX/TSV variants incl. a wallet export (list on the model card)"/>
          <p:cNvSpPr txBox="1"/>
          <p:nvPr/>
        </p:nvSpPr>
        <p:spPr>
          <a:xfrm>
            <a:off x="2926080" y="1399032"/>
            <a:ext cx="1828800" cy="7443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3D"/>
                </a:solidFill>
              </a:rPr>
              <a:t>8/8</a:t>
            </a:r>
            <a:endParaRPr lang="en-US" sz="2400" dirty="0"/>
          </a:p>
        </p:txBody>
      </p:sp>
      <p:sp>
        <p:nvSpPr>
          <p:cNvPr id="8" name="tile label unseen layouts exact — CSV/XLSX/TSV variants incl. a wallet export (list on the model card)"/>
          <p:cNvSpPr txBox="1"/>
          <p:nvPr/>
        </p:nvSpPr>
        <p:spPr>
          <a:xfrm>
            <a:off x="2926080" y="2110801"/>
            <a:ext cx="1828800" cy="541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C6B63"/>
                </a:solidFill>
              </a:rPr>
              <a:t>unseen layouts exact — CSV/XLSX/TSV variants incl. a wallet export (list on the model card)</a:t>
            </a:r>
            <a:endParaRPr lang="en-US" sz="900" dirty="0"/>
          </a:p>
        </p:txBody>
      </p:sp>
      <p:sp>
        <p:nvSpPr>
          <p:cNvPr id="9" name="tile tampered statements caught, 4 tamper types; 0 false alarms on clean ones"/>
          <p:cNvSpPr/>
          <p:nvPr/>
        </p:nvSpPr>
        <p:spPr>
          <a:xfrm>
            <a:off x="5029200" y="1325880"/>
            <a:ext cx="2103120" cy="1353312"/>
          </a:xfrm>
          <a:prstGeom prst="roundRect">
            <a:avLst>
              <a:gd name="adj" fmla="val 5405"/>
            </a:avLst>
          </a:prstGeom>
          <a:solidFill>
            <a:srgbClr val="E9F1EC"/>
          </a:solidFill>
          <a:ln w="12700">
            <a:solidFill>
              <a:srgbClr val="E9F1EC"/>
            </a:solidFill>
            <a:prstDash val="solid"/>
          </a:ln>
        </p:spPr>
      </p:sp>
      <p:sp>
        <p:nvSpPr>
          <p:cNvPr id="10" name="tile value tampered statements caught, 4 tamper types; 0 false alarms on clean ones"/>
          <p:cNvSpPr txBox="1"/>
          <p:nvPr/>
        </p:nvSpPr>
        <p:spPr>
          <a:xfrm>
            <a:off x="5166360" y="1399032"/>
            <a:ext cx="1828800" cy="7443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3D"/>
                </a:solidFill>
              </a:rPr>
              <a:t>40/40</a:t>
            </a:r>
            <a:endParaRPr lang="en-US" sz="2400" dirty="0"/>
          </a:p>
        </p:txBody>
      </p:sp>
      <p:sp>
        <p:nvSpPr>
          <p:cNvPr id="11" name="tile label tampered statements caught, 4 tamper types; 0 false alarms on clean ones"/>
          <p:cNvSpPr txBox="1"/>
          <p:nvPr/>
        </p:nvSpPr>
        <p:spPr>
          <a:xfrm>
            <a:off x="5166360" y="2110801"/>
            <a:ext cx="1828800" cy="541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C6B63"/>
                </a:solidFill>
              </a:rPr>
              <a:t>tampered statements caught, 4 tamper types; 0 false alarms on clean ones</a:t>
            </a:r>
            <a:endParaRPr lang="en-US" sz="900" dirty="0"/>
          </a:p>
        </p:txBody>
      </p:sp>
      <p:sp>
        <p:nvSpPr>
          <p:cNvPr id="12" name="tile receipt OCR total exact, 60 camera-augmented photos; INN 100%, date 97%"/>
          <p:cNvSpPr/>
          <p:nvPr/>
        </p:nvSpPr>
        <p:spPr>
          <a:xfrm>
            <a:off x="548640" y="2788920"/>
            <a:ext cx="2103120" cy="1353312"/>
          </a:xfrm>
          <a:prstGeom prst="roundRect">
            <a:avLst>
              <a:gd name="adj" fmla="val 5405"/>
            </a:avLst>
          </a:prstGeom>
          <a:solidFill>
            <a:srgbClr val="E9F1EC"/>
          </a:solidFill>
          <a:ln w="12700">
            <a:solidFill>
              <a:srgbClr val="E9F1EC"/>
            </a:solidFill>
            <a:prstDash val="solid"/>
          </a:ln>
        </p:spPr>
      </p:sp>
      <p:sp>
        <p:nvSpPr>
          <p:cNvPr id="13" name="tile value receipt OCR total exact, 60 camera-augmented photos; INN 100%, date 97%"/>
          <p:cNvSpPr txBox="1"/>
          <p:nvPr/>
        </p:nvSpPr>
        <p:spPr>
          <a:xfrm>
            <a:off x="685800" y="2862072"/>
            <a:ext cx="1828800" cy="7443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3D"/>
                </a:solidFill>
              </a:rPr>
              <a:t>95%</a:t>
            </a:r>
            <a:endParaRPr lang="en-US" sz="2400" dirty="0"/>
          </a:p>
        </p:txBody>
      </p:sp>
      <p:sp>
        <p:nvSpPr>
          <p:cNvPr id="14" name="tile label receipt OCR total exact, 60 camera-augmented photos; INN 100%, date 97%"/>
          <p:cNvSpPr txBox="1"/>
          <p:nvPr/>
        </p:nvSpPr>
        <p:spPr>
          <a:xfrm>
            <a:off x="685800" y="3573841"/>
            <a:ext cx="1828800" cy="541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C6B63"/>
                </a:solidFill>
              </a:rPr>
              <a:t>receipt OCR total exact, 60 camera-augmented photos; INN 100%, date 97%</a:t>
            </a:r>
            <a:endParaRPr lang="en-US" sz="900" dirty="0"/>
          </a:p>
        </p:txBody>
      </p:sp>
      <p:sp>
        <p:nvSpPr>
          <p:cNvPr id="15" name="tile ROC-AUC, synthetic holdout n=500; logistic 0.963, ratio alone 0.948"/>
          <p:cNvSpPr/>
          <p:nvPr/>
        </p:nvSpPr>
        <p:spPr>
          <a:xfrm>
            <a:off x="2788920" y="2788920"/>
            <a:ext cx="2103120" cy="1353312"/>
          </a:xfrm>
          <a:prstGeom prst="roundRect">
            <a:avLst>
              <a:gd name="adj" fmla="val 5405"/>
            </a:avLst>
          </a:prstGeom>
          <a:solidFill>
            <a:srgbClr val="1F4E3D"/>
          </a:solidFill>
          <a:ln w="12700">
            <a:solidFill>
              <a:srgbClr val="1F4E3D"/>
            </a:solidFill>
            <a:prstDash val="solid"/>
          </a:ln>
        </p:spPr>
      </p:sp>
      <p:sp>
        <p:nvSpPr>
          <p:cNvPr id="16" name="tile value ROC-AUC, synthetic holdout n=500; logistic 0.963, ratio alone 0.948"/>
          <p:cNvSpPr txBox="1"/>
          <p:nvPr/>
        </p:nvSpPr>
        <p:spPr>
          <a:xfrm>
            <a:off x="2926080" y="2862072"/>
            <a:ext cx="1828800" cy="7443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0.965</a:t>
            </a:r>
            <a:endParaRPr lang="en-US" sz="2400" dirty="0"/>
          </a:p>
        </p:txBody>
      </p:sp>
      <p:sp>
        <p:nvSpPr>
          <p:cNvPr id="17" name="tile label ROC-AUC, synthetic holdout n=500; logistic 0.963, ratio alone 0.948"/>
          <p:cNvSpPr txBox="1"/>
          <p:nvPr/>
        </p:nvSpPr>
        <p:spPr>
          <a:xfrm>
            <a:off x="2926080" y="3573841"/>
            <a:ext cx="1828800" cy="541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FB8A5"/>
                </a:solidFill>
              </a:rPr>
              <a:t>ROC-AUC, synthetic holdout n=500; logistic 0.963, ratio alone 0.948</a:t>
            </a:r>
            <a:endParaRPr lang="en-US" sz="900" dirty="0"/>
          </a:p>
        </p:txBody>
      </p:sp>
      <p:sp>
        <p:nvSpPr>
          <p:cNvPr id="18" name="tile ROC-AUC, real bank data (Berka, 443 loans, 44 bad; 95% CI ≈ 0.86–0.94); ratio alone 0.735"/>
          <p:cNvSpPr/>
          <p:nvPr/>
        </p:nvSpPr>
        <p:spPr>
          <a:xfrm>
            <a:off x="5029200" y="2788920"/>
            <a:ext cx="2103120" cy="1353312"/>
          </a:xfrm>
          <a:prstGeom prst="roundRect">
            <a:avLst>
              <a:gd name="adj" fmla="val 5405"/>
            </a:avLst>
          </a:prstGeom>
          <a:solidFill>
            <a:srgbClr val="1F4E3D"/>
          </a:solidFill>
          <a:ln w="12700">
            <a:solidFill>
              <a:srgbClr val="1F4E3D"/>
            </a:solidFill>
            <a:prstDash val="solid"/>
          </a:ln>
        </p:spPr>
      </p:sp>
      <p:sp>
        <p:nvSpPr>
          <p:cNvPr id="19" name="tile value ROC-AUC, real bank data (Berka, 443 loans, 44 bad; 95% CI ≈ 0.86–0.94); ratio alone 0.735"/>
          <p:cNvSpPr txBox="1"/>
          <p:nvPr/>
        </p:nvSpPr>
        <p:spPr>
          <a:xfrm>
            <a:off x="5166360" y="2862072"/>
            <a:ext cx="1828800" cy="7443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0.902</a:t>
            </a:r>
            <a:endParaRPr lang="en-US" sz="2400" dirty="0"/>
          </a:p>
        </p:txBody>
      </p:sp>
      <p:sp>
        <p:nvSpPr>
          <p:cNvPr id="20" name="tile label ROC-AUC, real bank data (Berka, 443 loans, 44 bad; 95% CI ≈ 0.86–0.94); ratio alone 0.735"/>
          <p:cNvSpPr txBox="1"/>
          <p:nvPr/>
        </p:nvSpPr>
        <p:spPr>
          <a:xfrm>
            <a:off x="5166360" y="3573841"/>
            <a:ext cx="1828800" cy="541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FB8A5"/>
                </a:solidFill>
              </a:rPr>
              <a:t>ROC-AUC, real bank data (Berka, 443 loans, 44 bad; 95% CI ≈ 0.86–0.94); ratio alone 0.735</a:t>
            </a:r>
            <a:endParaRPr lang="en-US" sz="9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7406640" y="1325880"/>
          <a:ext cx="42976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reading"/>
          <p:cNvSpPr txBox="1"/>
          <p:nvPr/>
        </p:nvSpPr>
        <p:spPr>
          <a:xfrm>
            <a:off x="548640" y="434340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7201B"/>
                </a:solidFill>
              </a:rPr>
              <a:t>Honest reading: on synthetic data the ratio already carries most of the signal by construction; on real statements the cash-flow features add +0.17 AUC over the ratio, and logistic regression comes close to the trees — we ship the trees for the monotone constraints and non-linear thresholds, not for the last 0.01. Categoriser: 99.96% on 10,481 lines of the generator's own vocabulary — will fall on real data. Memo verifier: 0 unsourced numbers across a 300-scenario sweep (amounts × terms × products × borrowers), enforced at run time.</a:t>
            </a:r>
            <a:endParaRPr lang="en-US" sz="1000" dirty="0"/>
          </a:p>
        </p:txBody>
      </p:sp>
      <p:pic>
        <p:nvPicPr>
          <p:cNvPr id="23" name="screenshot eval" descr="/home/claude/daromad/deck/img/eval_kpi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5257800"/>
            <a:ext cx="5852160" cy="1097280"/>
          </a:xfrm>
          <a:prstGeom prst="rect">
            <a:avLst/>
          </a:prstGeom>
        </p:spPr>
      </p:pic>
      <p:sp>
        <p:nvSpPr>
          <p:cNvPr id="24" name="provenance"/>
          <p:cNvSpPr txBox="1"/>
          <p:nvPr/>
        </p:nvSpPr>
        <p:spPr>
          <a:xfrm>
            <a:off x="7406640" y="4343400"/>
            <a:ext cx="4297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63"/>
                </a:solidFill>
              </a:rPr>
              <a:t>All numbers are read from JSON produced by ml/train.py, ml/berka_validate.py, npm test and tests/*_eval.py (see the Model card page).</a:t>
            </a:r>
            <a:endParaRPr lang="en-US" sz="1000" dirty="0"/>
          </a:p>
        </p:txBody>
      </p:sp>
      <p:sp>
        <p:nvSpPr>
          <p:cNvPr id="25" name="caveat"/>
          <p:cNvSpPr txBox="1"/>
          <p:nvPr/>
        </p:nvSpPr>
        <p:spPr>
          <a:xfrm>
            <a:off x="7406640" y="5120640"/>
            <a:ext cx="4297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3A3A"/>
                </a:solidFill>
              </a:rPr>
              <a:t>Caveat on the slide, not in the footnote: the risk score is advisory until retrained on the bank's own history inside the perimeter — that is the pilot's first deliverable.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C6B6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3D"/>
                </a:solidFill>
              </a:rPr>
              <a:t>No partner data, so we built a declared generator</a:t>
            </a:r>
            <a:endParaRPr lang="en-US" sz="2800" dirty="0"/>
          </a:p>
        </p:txBody>
      </p:sp>
      <p:sp>
        <p:nvSpPr>
          <p:cNvPr id="3" name="gen num bg 0"/>
          <p:cNvSpPr/>
          <p:nvPr/>
        </p:nvSpPr>
        <p:spPr>
          <a:xfrm>
            <a:off x="548640" y="1371600"/>
            <a:ext cx="502920" cy="50292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4" name="gen num 0"/>
          <p:cNvSpPr txBox="1"/>
          <p:nvPr/>
        </p:nvSpPr>
        <p:spPr>
          <a:xfrm>
            <a:off x="548640" y="1371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201B"/>
                </a:solidFill>
              </a:rPr>
              <a:t>1</a:t>
            </a:r>
            <a:endParaRPr lang="en-US" sz="1600" dirty="0"/>
          </a:p>
        </p:txBody>
      </p:sp>
      <p:sp>
        <p:nvSpPr>
          <p:cNvPr id="5" name="gen head 0"/>
          <p:cNvSpPr txBox="1"/>
          <p:nvPr/>
        </p:nvSpPr>
        <p:spPr>
          <a:xfrm>
            <a:off x="1188720" y="1325880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E3D"/>
                </a:solidFill>
              </a:rPr>
              <a:t>Archetypes</a:t>
            </a:r>
            <a:endParaRPr lang="en-US" sz="1400" dirty="0"/>
          </a:p>
        </p:txBody>
      </p:sp>
      <p:sp>
        <p:nvSpPr>
          <p:cNvPr id="6" name="gen text 0"/>
          <p:cNvSpPr txBox="1"/>
          <p:nvPr/>
        </p:nvSpPr>
        <p:spPr>
          <a:xfrm>
            <a:off x="1188720" y="1655064"/>
            <a:ext cx="5669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201B"/>
                </a:solidFill>
              </a:rPr>
              <a:t>10 trades (tailor, taxi, dehkan farmer, grocer, reseller, tutor…) with declared seasonality, customer counts, channel mix, expense structure</a:t>
            </a:r>
            <a:endParaRPr lang="en-US" sz="1050" dirty="0"/>
          </a:p>
        </p:txBody>
      </p:sp>
      <p:sp>
        <p:nvSpPr>
          <p:cNvPr id="7" name="gen num bg 1"/>
          <p:cNvSpPr/>
          <p:nvPr/>
        </p:nvSpPr>
        <p:spPr>
          <a:xfrm>
            <a:off x="548640" y="2331720"/>
            <a:ext cx="502920" cy="50292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8" name="gen num 1"/>
          <p:cNvSpPr txBox="1"/>
          <p:nvPr/>
        </p:nvSpPr>
        <p:spPr>
          <a:xfrm>
            <a:off x="548640" y="2331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201B"/>
                </a:solidFill>
              </a:rPr>
              <a:t>2</a:t>
            </a:r>
            <a:endParaRPr lang="en-US" sz="1600" dirty="0"/>
          </a:p>
        </p:txBody>
      </p:sp>
      <p:sp>
        <p:nvSpPr>
          <p:cNvPr id="9" name="gen head 1"/>
          <p:cNvSpPr txBox="1"/>
          <p:nvPr/>
        </p:nvSpPr>
        <p:spPr>
          <a:xfrm>
            <a:off x="1188720" y="2286000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E3D"/>
                </a:solidFill>
              </a:rPr>
              <a:t>Simulation</a:t>
            </a:r>
            <a:endParaRPr lang="en-US" sz="1400" dirty="0"/>
          </a:p>
        </p:txBody>
      </p:sp>
      <p:sp>
        <p:nvSpPr>
          <p:cNvPr id="10" name="gen text 1"/>
          <p:cNvSpPr txBox="1"/>
          <p:nvPr/>
        </p:nvSpPr>
        <p:spPr>
          <a:xfrm>
            <a:off x="1188720" y="2615184"/>
            <a:ext cx="5669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201B"/>
                </a:solidFill>
              </a:rPr>
              <a:t>2,000 borrowers · 5,689,589 transactions · existing loans with annuity schedules · shocks · default label from a latent affordability score (10.5% rate)</a:t>
            </a:r>
            <a:endParaRPr lang="en-US" sz="1050" dirty="0"/>
          </a:p>
        </p:txBody>
      </p:sp>
      <p:sp>
        <p:nvSpPr>
          <p:cNvPr id="11" name="gen num bg 2"/>
          <p:cNvSpPr/>
          <p:nvPr/>
        </p:nvSpPr>
        <p:spPr>
          <a:xfrm>
            <a:off x="548640" y="3291840"/>
            <a:ext cx="502920" cy="50292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12" name="gen num 2"/>
          <p:cNvSpPr txBox="1"/>
          <p:nvPr/>
        </p:nvSpPr>
        <p:spPr>
          <a:xfrm>
            <a:off x="548640" y="3291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201B"/>
                </a:solidFill>
              </a:rPr>
              <a:t>3</a:t>
            </a:r>
            <a:endParaRPr lang="en-US" sz="1600" dirty="0"/>
          </a:p>
        </p:txBody>
      </p:sp>
      <p:sp>
        <p:nvSpPr>
          <p:cNvPr id="13" name="gen head 2"/>
          <p:cNvSpPr txBox="1"/>
          <p:nvPr/>
        </p:nvSpPr>
        <p:spPr>
          <a:xfrm>
            <a:off x="1188720" y="3246120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E3D"/>
                </a:solidFill>
              </a:rPr>
              <a:t>Rendering</a:t>
            </a:r>
            <a:endParaRPr lang="en-US" sz="1400" dirty="0"/>
          </a:p>
        </p:txBody>
      </p:sp>
      <p:sp>
        <p:nvSpPr>
          <p:cNvPr id="14" name="gen text 2"/>
          <p:cNvSpPr txBox="1"/>
          <p:nvPr/>
        </p:nvSpPr>
        <p:spPr>
          <a:xfrm>
            <a:off x="1188720" y="3575304"/>
            <a:ext cx="5669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201B"/>
                </a:solidFill>
              </a:rPr>
              <a:t>60 statement sets as PDF (text layer) + XLSX + CSV in RU and UZ layouts; 180 fiscal receipts; Soliq-style certificates with QR</a:t>
            </a:r>
            <a:endParaRPr lang="en-US" sz="1050" dirty="0"/>
          </a:p>
        </p:txBody>
      </p:sp>
      <p:sp>
        <p:nvSpPr>
          <p:cNvPr id="15" name="gen num bg 3"/>
          <p:cNvSpPr/>
          <p:nvPr/>
        </p:nvSpPr>
        <p:spPr>
          <a:xfrm>
            <a:off x="548640" y="4251960"/>
            <a:ext cx="502920" cy="50292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16" name="gen num 3"/>
          <p:cNvSpPr txBox="1"/>
          <p:nvPr/>
        </p:nvSpPr>
        <p:spPr>
          <a:xfrm>
            <a:off x="548640" y="42519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201B"/>
                </a:solidFill>
              </a:rPr>
              <a:t>4</a:t>
            </a:r>
            <a:endParaRPr lang="en-US" sz="1600" dirty="0"/>
          </a:p>
        </p:txBody>
      </p:sp>
      <p:sp>
        <p:nvSpPr>
          <p:cNvPr id="17" name="gen head 3"/>
          <p:cNvSpPr txBox="1"/>
          <p:nvPr/>
        </p:nvSpPr>
        <p:spPr>
          <a:xfrm>
            <a:off x="1188720" y="4206240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E3D"/>
                </a:solidFill>
              </a:rPr>
              <a:t>Camera model</a:t>
            </a:r>
            <a:endParaRPr lang="en-US" sz="1400" dirty="0"/>
          </a:p>
        </p:txBody>
      </p:sp>
      <p:sp>
        <p:nvSpPr>
          <p:cNvPr id="18" name="gen text 3"/>
          <p:cNvSpPr txBox="1"/>
          <p:nvPr/>
        </p:nvSpPr>
        <p:spPr>
          <a:xfrm>
            <a:off x="1188720" y="4535424"/>
            <a:ext cx="5669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201B"/>
                </a:solidFill>
              </a:rPr>
              <a:t>perspective, rotation, lighting gradient, blur, sensor noise, JPEG — then measured through the same OCR the officer uses</a:t>
            </a:r>
            <a:endParaRPr lang="en-US" sz="1050" dirty="0"/>
          </a:p>
        </p:txBody>
      </p:sp>
      <p:sp>
        <p:nvSpPr>
          <p:cNvPr id="19" name="gen num bg 4"/>
          <p:cNvSpPr/>
          <p:nvPr/>
        </p:nvSpPr>
        <p:spPr>
          <a:xfrm>
            <a:off x="548640" y="5212080"/>
            <a:ext cx="502920" cy="50292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20" name="gen num 4"/>
          <p:cNvSpPr txBox="1"/>
          <p:nvPr/>
        </p:nvSpPr>
        <p:spPr>
          <a:xfrm>
            <a:off x="548640" y="5212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201B"/>
                </a:solidFill>
              </a:rPr>
              <a:t>5</a:t>
            </a:r>
            <a:endParaRPr lang="en-US" sz="1600" dirty="0"/>
          </a:p>
        </p:txBody>
      </p:sp>
      <p:sp>
        <p:nvSpPr>
          <p:cNvPr id="21" name="gen head 4"/>
          <p:cNvSpPr txBox="1"/>
          <p:nvPr/>
        </p:nvSpPr>
        <p:spPr>
          <a:xfrm>
            <a:off x="1188720" y="5166360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E3D"/>
                </a:solidFill>
              </a:rPr>
              <a:t>Tampering</a:t>
            </a:r>
            <a:endParaRPr lang="en-US" sz="1400" dirty="0"/>
          </a:p>
        </p:txBody>
      </p:sp>
      <p:sp>
        <p:nvSpPr>
          <p:cNvPr id="22" name="gen text 4"/>
          <p:cNvSpPr txBox="1"/>
          <p:nvPr/>
        </p:nvSpPr>
        <p:spPr>
          <a:xfrm>
            <a:off x="1188720" y="5495544"/>
            <a:ext cx="5669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201B"/>
                </a:solidFill>
              </a:rPr>
              <a:t>40 statements: inflated inflow, deleted debit, duplicated row, window dressing — labelled for the integrity evaluation</a:t>
            </a:r>
            <a:endParaRPr lang="en-US" sz="1050" dirty="0"/>
          </a:p>
        </p:txBody>
      </p:sp>
      <p:pic>
        <p:nvPicPr>
          <p:cNvPr id="23" name="statement thumbnail" descr="/home/claude/daromad/deck/img/stmt-0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1325880"/>
            <a:ext cx="2286000" cy="3236976"/>
          </a:xfrm>
          <a:prstGeom prst="rect">
            <a:avLst/>
          </a:prstGeom>
        </p:spPr>
      </p:pic>
      <p:pic>
        <p:nvPicPr>
          <p:cNvPr id="24" name="receipt photo" descr="/home/claude/daromad/deck/img/receipt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6920" y="1325880"/>
            <a:ext cx="2057400" cy="2258568"/>
          </a:xfrm>
          <a:prstGeom prst="rect">
            <a:avLst/>
          </a:prstGeom>
        </p:spPr>
      </p:pic>
      <p:sp>
        <p:nvSpPr>
          <p:cNvPr id="25" name="image caption"/>
          <p:cNvSpPr txBox="1"/>
          <p:nvPr/>
        </p:nvSpPr>
        <p:spPr>
          <a:xfrm>
            <a:off x="7223760" y="4709160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63"/>
                </a:solidFill>
              </a:rPr>
              <a:t>Synthetic statement (Humo-style layout, Russian labels) and a camera-augmented synthetic fiscal receipt. No real person is represented; names come from a short public list, card numbers are random and masked.</a:t>
            </a:r>
            <a:endParaRPr lang="en-US" sz="1000" dirty="0"/>
          </a:p>
        </p:txBody>
      </p:sp>
      <p:sp>
        <p:nvSpPr>
          <p:cNvPr id="26" name="regen cmd"/>
          <p:cNvSpPr txBox="1"/>
          <p:nvPr/>
        </p:nvSpPr>
        <p:spPr>
          <a:xfrm>
            <a:off x="7223760" y="562356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4E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Regenerate:  python -m synth.cli --n 2000 --render 60 --receipts 180 --tamper 40 --seed 42</a:t>
            </a:r>
            <a:endParaRPr lang="en-US" sz="1000" dirty="0"/>
          </a:p>
        </p:txBody>
      </p:sp>
      <p:sp>
        <p:nvSpPr>
          <p:cNvPr id="27" name="berka note"/>
          <p:cNvSpPr txBox="1"/>
          <p:nvPr/>
        </p:nvSpPr>
        <p:spPr>
          <a:xfrm>
            <a:off x="548640" y="6172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63"/>
                </a:solidFill>
              </a:rPr>
              <a:t>Also: methodology check on real anonymised bank data (Berka, PKDD'99) — not redistributed, downloaded by script.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C6B6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3D"/>
                </a:solidFill>
              </a:rPr>
              <a:t>Pilot: three months, five branches, fifty mahalla agents</a:t>
            </a:r>
            <a:endParaRPr lang="en-US" sz="2800" dirty="0"/>
          </a:p>
        </p:txBody>
      </p:sp>
      <p:sp>
        <p:nvSpPr>
          <p:cNvPr id="3" name="cost caption"/>
          <p:cNvSpPr txBox="1"/>
          <p:nvPr/>
        </p:nvSpPr>
        <p:spPr>
          <a:xfrm>
            <a:off x="548640" y="128016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C6B63"/>
                </a:solidFill>
              </a:rPr>
              <a:t>Cost to build and run the pilot (assumptions, UZS)</a:t>
            </a:r>
            <a:endParaRPr lang="en-US" sz="1400" dirty="0"/>
          </a:p>
        </p:txBody>
      </p:sp>
      <p:graphicFrame>
        <p:nvGraphicFramePr>
          <p:cNvPr id="9" name="cost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566928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2377440"/>
                <a:gridCol w="100584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Line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Assumption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3-month cost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3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7201B"/>
                          </a:solidFill>
                        </a:rPr>
                        <a:t>Team: 3 engineers/analysts (TYS)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7201B"/>
                          </a:solidFill>
                        </a:rPr>
                        <a:t>3 × 3 months × 15M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7201B"/>
                          </a:solidFill>
                        </a:rPr>
                        <a:t>135M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7201B"/>
                          </a:solidFill>
                        </a:rPr>
                        <a:t>Bank credit analyst, part-time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7201B"/>
                          </a:solidFill>
                        </a:rPr>
                        <a:t>0.5 FTE × 3 months × 15M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7201B"/>
                          </a:solidFill>
                        </a:rPr>
                        <a:t>22.5M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7201B"/>
                          </a:solidFill>
                        </a:rPr>
                        <a:t>Infrastructure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7201B"/>
                          </a:solidFill>
                        </a:rPr>
                        <a:t>1 VM in the bank DC, no GPU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7201B"/>
                          </a:solidFill>
                        </a:rPr>
                        <a:t>≈ 3M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7201B"/>
                          </a:solidFill>
                        </a:rPr>
                        <a:t>Integration (core banking, bureau)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7201B"/>
                          </a:solidFill>
                        </a:rPr>
                        <a:t>bank IT, 20 person-days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7201B"/>
                          </a:solidFill>
                        </a:rPr>
                        <a:t>≈ 30M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7201B"/>
                          </a:solidFill>
                        </a:rPr>
                        <a:t>Data, licences, API spend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7201B"/>
                          </a:solidFill>
                        </a:rPr>
                        <a:t>none — open-source, no external API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7201B"/>
                          </a:solidFill>
                        </a:rPr>
                        <a:t>0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7201B"/>
                          </a:solidFill>
                        </a:rPr>
                        <a:t>Total pilot (≈ $15k)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1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1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7201B"/>
                          </a:solidFill>
                        </a:rPr>
                        <a:t>≈ 190M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1EC"/>
                    </a:solidFill>
                  </a:tcPr>
                </a:tc>
              </a:tr>
            </a:tbl>
          </a:graphicData>
        </a:graphic>
      </p:graphicFrame>
      <p:sp>
        <p:nvSpPr>
          <p:cNvPr id="5" name="run cost"/>
          <p:cNvSpPr txBox="1"/>
          <p:nvPr/>
        </p:nvSpPr>
        <p:spPr>
          <a:xfrm>
            <a:off x="548640" y="4343400"/>
            <a:ext cx="5669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7201B"/>
                </a:solidFill>
              </a:rPr>
              <a:t>Running cost per application: zero marginal (static bundle; no API, no GPU). Optional narrative LLM on one on-prem GPU: well under 1 US cent per application.</a:t>
            </a:r>
            <a:endParaRPr lang="en-US" sz="1050" dirty="0"/>
          </a:p>
        </p:txBody>
      </p:sp>
      <p:sp>
        <p:nvSpPr>
          <p:cNvPr id="6" name="timeline"/>
          <p:cNvSpPr txBox="1"/>
          <p:nvPr/>
        </p:nvSpPr>
        <p:spPr>
          <a:xfrm>
            <a:off x="548640" y="4983480"/>
            <a:ext cx="5669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7201B"/>
                </a:solidFill>
              </a:rPr>
              <a:t>Timeline: month 1 shadow mode (engine runs beside the manual process; we measure minutes and agreement) · months 2–3 assisted mode (officer works from the memo) · success metrics: minutes per application, agreement with committee, override rate, ПДН audit findings, retrained model AUC on bank history.</a:t>
            </a:r>
            <a:endParaRPr lang="en-US" sz="1050" dirty="0"/>
          </a:p>
        </p:txBody>
      </p:sp>
      <p:sp>
        <p:nvSpPr>
          <p:cNvPr id="7" name="value caption"/>
          <p:cNvSpPr txBox="1"/>
          <p:nvPr/>
        </p:nvSpPr>
        <p:spPr>
          <a:xfrm>
            <a:off x="6492240" y="128016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C6B63"/>
                </a:solidFill>
              </a:rPr>
              <a:t>Value — the officer-hours formula (every term is a slider)</a:t>
            </a:r>
            <a:endParaRPr lang="en-US" sz="1400" dirty="0"/>
          </a:p>
        </p:txBody>
      </p:sp>
      <p:sp>
        <p:nvSpPr>
          <p:cNvPr id="8" name="tile document handling per application, before → with Daromad (assumption 1; the pilot measures it)"/>
          <p:cNvSpPr/>
          <p:nvPr/>
        </p:nvSpPr>
        <p:spPr>
          <a:xfrm>
            <a:off x="6492240" y="1691640"/>
            <a:ext cx="2514600" cy="1097280"/>
          </a:xfrm>
          <a:prstGeom prst="roundRect">
            <a:avLst>
              <a:gd name="adj" fmla="val 6667"/>
            </a:avLst>
          </a:prstGeom>
          <a:solidFill>
            <a:srgbClr val="E9F1EC"/>
          </a:solidFill>
          <a:ln w="12700">
            <a:solidFill>
              <a:srgbClr val="E9F1EC"/>
            </a:solidFill>
            <a:prstDash val="solid"/>
          </a:ln>
        </p:spPr>
      </p:sp>
      <p:sp>
        <p:nvSpPr>
          <p:cNvPr id="9" name="tile value document handling per application, before → with Daromad (assumption 1; the pilot measures it)"/>
          <p:cNvSpPr txBox="1"/>
          <p:nvPr/>
        </p:nvSpPr>
        <p:spPr>
          <a:xfrm>
            <a:off x="6629400" y="1764792"/>
            <a:ext cx="2240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4E3D"/>
                </a:solidFill>
              </a:rPr>
              <a:t>90 → 25 min</a:t>
            </a:r>
            <a:endParaRPr lang="en-US" sz="2200" dirty="0"/>
          </a:p>
        </p:txBody>
      </p:sp>
      <p:sp>
        <p:nvSpPr>
          <p:cNvPr id="10" name="tile label document handling per application, before → with Daromad (assumption 1; the pilot measures it)"/>
          <p:cNvSpPr txBox="1"/>
          <p:nvPr/>
        </p:nvSpPr>
        <p:spPr>
          <a:xfrm>
            <a:off x="6629400" y="2328062"/>
            <a:ext cx="2240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C6B63"/>
                </a:solidFill>
              </a:rPr>
              <a:t>document handling per application, before → with Daromad (assumption 1; the pilot measures it)</a:t>
            </a:r>
            <a:endParaRPr lang="en-US" sz="950" dirty="0"/>
          </a:p>
        </p:txBody>
      </p:sp>
      <p:sp>
        <p:nvSpPr>
          <p:cNvPr id="11" name="tile addressable applications: 30% of MKBANK's 140,000 micro-projects (bank's own 2026 target) — those outside the cl.4-exempt family programme (assumption 2)"/>
          <p:cNvSpPr/>
          <p:nvPr/>
        </p:nvSpPr>
        <p:spPr>
          <a:xfrm>
            <a:off x="9189720" y="1691640"/>
            <a:ext cx="2514600" cy="1097280"/>
          </a:xfrm>
          <a:prstGeom prst="roundRect">
            <a:avLst>
              <a:gd name="adj" fmla="val 6667"/>
            </a:avLst>
          </a:prstGeom>
          <a:solidFill>
            <a:srgbClr val="E9F1EC"/>
          </a:solidFill>
          <a:ln w="12700">
            <a:solidFill>
              <a:srgbClr val="E9F1EC"/>
            </a:solidFill>
            <a:prstDash val="solid"/>
          </a:ln>
        </p:spPr>
      </p:sp>
      <p:sp>
        <p:nvSpPr>
          <p:cNvPr id="12" name="tile value addressable applications: 30% of MKBANK&amp;apos;s 140,000 micro-projects (bank&amp;apos;s own 2026 target) — those outside the cl.4-exempt family programme (assumption 2)"/>
          <p:cNvSpPr txBox="1"/>
          <p:nvPr/>
        </p:nvSpPr>
        <p:spPr>
          <a:xfrm>
            <a:off x="9326880" y="1764792"/>
            <a:ext cx="2240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4E3D"/>
                </a:solidFill>
              </a:rPr>
              <a:t>≈ 42,000 / yr</a:t>
            </a:r>
            <a:endParaRPr lang="en-US" sz="2200" dirty="0"/>
          </a:p>
        </p:txBody>
      </p:sp>
      <p:sp>
        <p:nvSpPr>
          <p:cNvPr id="13" name="tile label addressable applications: 30% of MKBANK&amp;apos;s 140,000 micro-projects (bank&amp;apos;s own 2026 target) — those outside the cl.4-exempt family programme (assumption 2)"/>
          <p:cNvSpPr txBox="1"/>
          <p:nvPr/>
        </p:nvSpPr>
        <p:spPr>
          <a:xfrm>
            <a:off x="9326880" y="2328062"/>
            <a:ext cx="2240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C6B63"/>
                </a:solidFill>
              </a:rPr>
              <a:t>addressable applications: 30% of MKBANK's 140,000 micro-projects (bank's own 2026 target) — those outside the cl.4-exempt family programme (assumption 2)</a:t>
            </a:r>
            <a:endParaRPr lang="en-US" sz="850" dirty="0"/>
          </a:p>
        </p:txBody>
      </p:sp>
      <p:sp>
        <p:nvSpPr>
          <p:cNvPr id="14" name="tile officer-hours saved per year = 42,000 × 65 min ≈ 23 FTE-years at 2,000 h"/>
          <p:cNvSpPr/>
          <p:nvPr/>
        </p:nvSpPr>
        <p:spPr>
          <a:xfrm>
            <a:off x="6492240" y="2926080"/>
            <a:ext cx="2514600" cy="1097280"/>
          </a:xfrm>
          <a:prstGeom prst="roundRect">
            <a:avLst>
              <a:gd name="adj" fmla="val 6667"/>
            </a:avLst>
          </a:prstGeom>
          <a:solidFill>
            <a:srgbClr val="1F4E3D"/>
          </a:solidFill>
          <a:ln w="12700">
            <a:solidFill>
              <a:srgbClr val="1F4E3D"/>
            </a:solidFill>
            <a:prstDash val="solid"/>
          </a:ln>
        </p:spPr>
      </p:sp>
      <p:sp>
        <p:nvSpPr>
          <p:cNvPr id="15" name="tile value officer-hours saved per year = 42,000 × 65 min ≈ 23 FTE-years at 2,000 h"/>
          <p:cNvSpPr txBox="1"/>
          <p:nvPr/>
        </p:nvSpPr>
        <p:spPr>
          <a:xfrm>
            <a:off x="6629400" y="2999232"/>
            <a:ext cx="2240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≈ 45,000 h</a:t>
            </a:r>
            <a:endParaRPr lang="en-US" sz="2200" dirty="0"/>
          </a:p>
        </p:txBody>
      </p:sp>
      <p:sp>
        <p:nvSpPr>
          <p:cNvPr id="16" name="tile label officer-hours saved per year = 42,000 × 65 min ≈ 23 FTE-years at 2,000 h"/>
          <p:cNvSpPr txBox="1"/>
          <p:nvPr/>
        </p:nvSpPr>
        <p:spPr>
          <a:xfrm>
            <a:off x="6629400" y="3562502"/>
            <a:ext cx="2240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FB8A5"/>
                </a:solidFill>
              </a:rPr>
              <a:t>officer-hours saved per year = 42,000 × 65 min ≈ 23 FTE-years at 2,000 h</a:t>
            </a:r>
            <a:endParaRPr lang="en-US" sz="950" dirty="0"/>
          </a:p>
        </p:txBody>
      </p:sp>
      <p:sp>
        <p:nvSpPr>
          <p:cNvPr id="17" name="tile 23 FTE × 15M/month × 12 — officer time only; at a 10% addressable share ≈ 1.4 bn"/>
          <p:cNvSpPr/>
          <p:nvPr/>
        </p:nvSpPr>
        <p:spPr>
          <a:xfrm>
            <a:off x="9189720" y="2926080"/>
            <a:ext cx="2514600" cy="1097280"/>
          </a:xfrm>
          <a:prstGeom prst="roundRect">
            <a:avLst>
              <a:gd name="adj" fmla="val 6667"/>
            </a:avLst>
          </a:prstGeom>
          <a:solidFill>
            <a:srgbClr val="1F4E3D"/>
          </a:solidFill>
          <a:ln w="12700">
            <a:solidFill>
              <a:srgbClr val="1F4E3D"/>
            </a:solidFill>
            <a:prstDash val="solid"/>
          </a:ln>
        </p:spPr>
      </p:sp>
      <p:sp>
        <p:nvSpPr>
          <p:cNvPr id="18" name="tile value 23 FTE × 15M/month × 12 — officer time only; at a 10% addressable share ≈ 1.4 bn"/>
          <p:cNvSpPr txBox="1"/>
          <p:nvPr/>
        </p:nvSpPr>
        <p:spPr>
          <a:xfrm>
            <a:off x="9326880" y="2999232"/>
            <a:ext cx="2240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≈ 4.1 bn UZS/yr</a:t>
            </a:r>
            <a:endParaRPr lang="en-US" sz="2000" dirty="0"/>
          </a:p>
        </p:txBody>
      </p:sp>
      <p:sp>
        <p:nvSpPr>
          <p:cNvPr id="19" name="tile label 23 FTE × 15M/month × 12 — officer time only; at a 10% addressable share ≈ 1.4 bn"/>
          <p:cNvSpPr txBox="1"/>
          <p:nvPr/>
        </p:nvSpPr>
        <p:spPr>
          <a:xfrm>
            <a:off x="9326880" y="3562502"/>
            <a:ext cx="2240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FB8A5"/>
                </a:solidFill>
              </a:rPr>
              <a:t>23 FTE × 15M/month × 12 — officer time only; at a 10% addressable share ≈ 1.4 bn</a:t>
            </a:r>
            <a:endParaRPr lang="en-US" sz="950" dirty="0"/>
          </a:p>
        </p:txBody>
      </p:sp>
      <p:sp>
        <p:nvSpPr>
          <p:cNvPr id="20" name="payback"/>
          <p:cNvSpPr txBox="1"/>
          <p:nvPr/>
        </p:nvSpPr>
        <p:spPr>
          <a:xfrm>
            <a:off x="6492240" y="4160520"/>
            <a:ext cx="5212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7201B"/>
                </a:solidFill>
              </a:rPr>
              <a:t>Payback: </a:t>
            </a:r>
            <a:pPr indent="0" marL="0">
              <a:buNone/>
            </a:pPr>
            <a:r>
              <a:rPr lang="en-US" sz="1050" dirty="0">
                <a:solidFill>
                  <a:srgbClr val="17201B"/>
                </a:solidFill>
              </a:rPr>
              <a:t>the ≈ 190M pilot itself (5 of 181 branches, 3 months) does not pay back — it measures the two assumptions. After roll-out the saving of ≈ 4.1 bn/yr repays the pilot within its first month; at a 10% addressable share, within two months. Not counted: faster time-to-decision for the borrower, fewer ПДН compliance findings, better risk selection — claimed only after the pilot measures them.</a:t>
            </a:r>
            <a:endParaRPr lang="en-US" sz="1050" dirty="0"/>
          </a:p>
        </p:txBody>
      </p:sp>
      <p:sp>
        <p:nvSpPr>
          <p:cNvPr id="21" name="owner"/>
          <p:cNvSpPr txBox="1"/>
          <p:nvPr/>
        </p:nvSpPr>
        <p:spPr>
          <a:xfrm>
            <a:off x="6492240" y="5577840"/>
            <a:ext cx="5212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63"/>
                </a:solidFill>
              </a:rPr>
              <a:t>Who pays: MKBANK (credit department / digital budget). Who owns: micro &amp; family-business credit department; IT deploys; mahalla agents and loan officers use it.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C6B6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3D"/>
                </a:solidFill>
              </a:rPr>
              <a:t>Hard to copy in a weekend — and what comes next</a:t>
            </a:r>
            <a:endParaRPr lang="en-US" sz="2800" dirty="0"/>
          </a:p>
        </p:txBody>
      </p:sp>
      <p:sp>
        <p:nvSpPr>
          <p:cNvPr id="3" name="replication card"/>
          <p:cNvSpPr/>
          <p:nvPr/>
        </p:nvSpPr>
        <p:spPr>
          <a:xfrm>
            <a:off x="548640" y="1325880"/>
            <a:ext cx="5486400" cy="4892040"/>
          </a:xfrm>
          <a:prstGeom prst="roundRect">
            <a:avLst>
              <a:gd name="adj" fmla="val 1495"/>
            </a:avLst>
          </a:prstGeom>
          <a:solidFill>
            <a:srgbClr val="E9F1EC"/>
          </a:solidFill>
          <a:ln w="12700">
            <a:solidFill>
              <a:srgbClr val="E9F1EC"/>
            </a:solidFill>
            <a:prstDash val="solid"/>
          </a:ln>
        </p:spPr>
      </p:sp>
      <p:pic>
        <p:nvPicPr>
          <p:cNvPr id="4" name="lock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508760"/>
            <a:ext cx="365760" cy="365760"/>
          </a:xfrm>
          <a:prstGeom prst="rect">
            <a:avLst/>
          </a:prstGeom>
        </p:spPr>
      </p:pic>
      <p:sp>
        <p:nvSpPr>
          <p:cNvPr id="5" name="replication head"/>
          <p:cNvSpPr txBox="1"/>
          <p:nvPr/>
        </p:nvSpPr>
        <p:spPr>
          <a:xfrm>
            <a:off x="1188720" y="146304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E3D"/>
                </a:solidFill>
              </a:rPr>
              <a:t>The replication test — what the same LLM tools do not give you</a:t>
            </a:r>
            <a:endParaRPr lang="en-US" sz="1400" dirty="0"/>
          </a:p>
        </p:txBody>
      </p:sp>
      <p:sp>
        <p:nvSpPr>
          <p:cNvPr id="6" name="bullets"/>
          <p:cNvSpPr txBox="1"/>
          <p:nvPr/>
        </p:nvSpPr>
        <p:spPr>
          <a:xfrm>
            <a:off x="731520" y="2057400"/>
            <a:ext cx="512064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7201B"/>
                </a:solidFill>
              </a:rPr>
              <a:t>Statement parsers that learn columns from the data rows (two Uzbek layouts today, any text-layer PDF, XLSX, CSV) and reconcile the balance chain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7201B"/>
                </a:solidFill>
              </a:rPr>
              <a:t>A categoriser lexicon in Uzbek Latin, Cyrillic and Russian with counterparty-pattern rules — and the pilot plan to grow it on bank data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7201B"/>
                </a:solidFill>
              </a:rPr>
              <a:t>A rule engine mapped clause by clause to the live bank regulation (No. 3618), with its exemptions, quota bands and the back-solved maximum amount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7201B"/>
                </a:solidFill>
              </a:rPr>
              <a:t>A memo verifier that makes unsourced numbers impossible — zero hallucination by construction, no LLM needed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7201B"/>
                </a:solidFill>
              </a:rPr>
              <a:t>A declared, calibrated synthetic population with rendered documents, a camera model and labelled tampering — a test bed the bank can keep using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7201B"/>
                </a:solidFill>
              </a:rPr>
              <a:t>Evaluation through the real app, reproducible with one command each</a:t>
            </a:r>
            <a:endParaRPr lang="en-US" sz="1150" dirty="0"/>
          </a:p>
        </p:txBody>
      </p:sp>
      <p:sp>
        <p:nvSpPr>
          <p:cNvPr id="7" name="next card"/>
          <p:cNvSpPr/>
          <p:nvPr/>
        </p:nvSpPr>
        <p:spPr>
          <a:xfrm>
            <a:off x="6309360" y="1325880"/>
            <a:ext cx="5394960" cy="4892040"/>
          </a:xfrm>
          <a:prstGeom prst="roundRect">
            <a:avLst>
              <a:gd name="adj" fmla="val 1495"/>
            </a:avLst>
          </a:prstGeom>
          <a:solidFill>
            <a:srgbClr val="E9F1EC"/>
          </a:solidFill>
          <a:ln w="12700">
            <a:solidFill>
              <a:srgbClr val="E9F1EC"/>
            </a:solidFill>
            <a:prstDash val="solid"/>
          </a:ln>
        </p:spPr>
      </p:sp>
      <p:pic>
        <p:nvPicPr>
          <p:cNvPr id="8" name="layers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508760"/>
            <a:ext cx="365760" cy="365760"/>
          </a:xfrm>
          <a:prstGeom prst="rect">
            <a:avLst/>
          </a:prstGeom>
        </p:spPr>
      </p:pic>
      <p:sp>
        <p:nvSpPr>
          <p:cNvPr id="9" name="next head"/>
          <p:cNvSpPr txBox="1"/>
          <p:nvPr/>
        </p:nvSpPr>
        <p:spPr>
          <a:xfrm>
            <a:off x="6949440" y="14630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E3D"/>
                </a:solidFill>
              </a:rPr>
              <a:t>Next steps</a:t>
            </a:r>
            <a:endParaRPr lang="en-US" sz="1400" dirty="0"/>
          </a:p>
        </p:txBody>
      </p:sp>
      <p:sp>
        <p:nvSpPr>
          <p:cNvPr id="10" name="bullets"/>
          <p:cNvSpPr txBox="1"/>
          <p:nvPr/>
        </p:nvSpPr>
        <p:spPr>
          <a:xfrm>
            <a:off x="6492240" y="2057400"/>
            <a:ext cx="502920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7201B"/>
                </a:solidFill>
              </a:rPr>
              <a:t>Week 1–2: scanned-statement OCR page by page; lexicon growth on anonymised bank descriptions; Uzbek/Russian memo templates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7201B"/>
                </a:solidFill>
              </a:rPr>
              <a:t>Month 1: shadow mode in 5 branches; core-banking pull for MKBANK's own account holders; credit-bureau REST for obligations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7201B"/>
                </a:solidFill>
              </a:rPr>
              <a:t>Month 2–3: assisted mode; retrain the risk model on bank history inside the perimeter; set risk bands with the bank's risk appetite; fairness review by region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7201B"/>
                </a:solidFill>
              </a:rPr>
              <a:t>After the pilot: Central Bank conversation — the same engine computes ПДН uniformly for any lender, a supervisory check at zero marginal cost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7201B"/>
                </a:solidFill>
              </a:rPr>
              <a:t>Product scope today: Ommabop 2, Express, Business Online 2 (ПДН applies) and family-programme loans (exempt from the cap, capacity still assessed)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C6B6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103120"/>
            <a:ext cx="10881360" cy="12801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Daromad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474720"/>
            <a:ext cx="10881360" cy="21945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800" dirty="0">
                <a:solidFill>
                  <a:srgbClr val="E9F1EC"/>
                </a:solidFill>
              </a:rPr>
              <a:t>Income evidence for borrowers who have no payslip — regulation-native, perimeter-native, verified.</a:t>
            </a:r>
            <a:endParaRPr lang="en-US" sz="1800" dirty="0"/>
          </a:p>
        </p:txBody>
      </p:sp>
      <p:sp>
        <p:nvSpPr>
          <p:cNvPr id="4" name="closing links"/>
          <p:cNvSpPr txBox="1"/>
          <p:nvPr/>
        </p:nvSpPr>
        <p:spPr>
          <a:xfrm>
            <a:off x="640080" y="4572000"/>
            <a:ext cx="10881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FB8A5"/>
                </a:solidFill>
              </a:rPr>
              <a:t>Live:  </a:t>
            </a:r>
            <a:pPr indent="0" marL="0">
              <a:buNone/>
            </a:pPr>
            <a:r>
              <a:rPr lang="en-US" sz="1500" dirty="0">
                <a:solidFill>
                  <a:srgbClr val="8FB8A5"/>
                </a:solidFill>
              </a:rPr>
              <a:t>https://tys-fintech.vercel.app
</a:t>
            </a:r>
            <a:pPr indent="0" marL="0">
              <a:buNone/>
            </a:pPr>
            <a:r>
              <a:rPr lang="en-US" sz="1500" b="1" dirty="0">
                <a:solidFill>
                  <a:srgbClr val="8FB8A5"/>
                </a:solidFill>
              </a:rPr>
              <a:t>Repo:  </a:t>
            </a:r>
            <a:pPr indent="0" marL="0">
              <a:buNone/>
            </a:pPr>
            <a:r>
              <a:rPr lang="en-US" sz="1500" dirty="0">
                <a:solidFill>
                  <a:srgbClr val="8FB8A5"/>
                </a:solidFill>
              </a:rPr>
              <a:t>https://github.com/hmunisbekk-droid/TYS-fintech
</a:t>
            </a:r>
            <a:pPr indent="0" marL="0">
              <a:buNone/>
            </a:pPr>
            <a:r>
              <a:rPr lang="en-US" sz="1500" b="1" dirty="0">
                <a:solidFill>
                  <a:srgbClr val="8FB8A5"/>
                </a:solidFill>
              </a:rPr>
              <a:t>Team TYS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3D"/>
                </a:solidFill>
              </a:rPr>
              <a:t>Appendix A · ПДН rule engine, clause by clause</a:t>
            </a:r>
            <a:endParaRPr lang="en-US" sz="2800" dirty="0"/>
          </a:p>
        </p:txBody>
      </p:sp>
      <p:graphicFrame>
        <p:nvGraphicFramePr>
          <p:cNvPr id="12" name="clause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7680960"/>
                <a:gridCol w="25603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Clause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Rule as implemented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Where it shows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3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7201B"/>
                          </a:solidFill>
                        </a:rPr>
                        <a:t>cl.2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7201B"/>
                          </a:solidFill>
                        </a:rPr>
                        <a:t>ПДН = average monthly payments on loans (microloans) ÷ average monthly income («ўртача ойлик тўловлари миқдорининг … ўртача ойлик даромадига нисбати»)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7201B"/>
                          </a:solidFill>
                        </a:rPr>
                        <a:t>formula panel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7201B"/>
                          </a:solidFill>
                        </a:rPr>
                        <a:t>cl.3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1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7201B"/>
                          </a:solidFill>
                        </a:rPr>
                        <a:t>Ratio ≤ 50% («50 фоиздан ошмаслиги лозим»). Up to 15% of outstanding loans may carry up to 100% (amendment 31/9, 2025) — bank-level quota → committee. Self-employed registered &lt; 6 months: income-generating loans within 15% without the ratio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1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7201B"/>
                          </a:solidFill>
                        </a:rPr>
                        <a:t>status: pass / quota / fail; cl.3 ¶4 badge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1E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7201B"/>
                          </a:solidFill>
                        </a:rPr>
                        <a:t>cl.4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7201B"/>
                          </a:solidFill>
                        </a:rPr>
                        <a:t>Not applicable to loans to individual entrepreneurs, family-entrepreneurship programmes and education loans («татбиқ этилмайди»)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7201B"/>
                          </a:solidFill>
                        </a:rPr>
                        <a:t>exemption badge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7201B"/>
                          </a:solidFill>
                        </a:rPr>
                        <a:t>cl.7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1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7201B"/>
                          </a:solidFill>
                        </a:rPr>
                        <a:t>All agreements with all lenders incl. the application under review; co-borrower loans counted; guarantor loans only when &gt; 30 days overdue («30 кундан ортиқ муддати ўтган»)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1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7201B"/>
                          </a:solidFill>
                        </a:rPr>
                        <a:t>obligations table, DPD column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1E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7201B"/>
                          </a:solidFill>
                        </a:rPr>
                        <a:t>cl.8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7201B"/>
                          </a:solidFill>
                        </a:rPr>
                        <a:t>Annuity spreading: microloan &gt; 36 months → 36; other loan &gt; 60 → 60; mortgage &gt; 180 → 180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7201B"/>
                          </a:solidFill>
                        </a:rPr>
                        <a:t>per-line note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7201B"/>
                          </a:solidFill>
                        </a:rPr>
                        <a:t>cl.12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1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7201B"/>
                          </a:solidFill>
                        </a:rPr>
                        <a:t>No more than 3 working days between the calculation and the issue («3 иш кунидан ошмаслиги керак»)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1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7201B"/>
                          </a:solidFill>
                        </a:rPr>
                        <a:t>case date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1E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7201B"/>
                          </a:solidFill>
                        </a:rPr>
                        <a:t>cl.13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7201B"/>
                          </a:solidFill>
                        </a:rPr>
                        <a:t>Average income over a continuous 6–12-month period («камида 6 ой … 12 ойдан ошмаган»): 1/12 of the last 12 months, or 1/n for 6–11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7201B"/>
                          </a:solidFill>
                        </a:rPr>
                        <a:t>income base, months used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7201B"/>
                          </a:solidFill>
                        </a:rPr>
                        <a:t>cl.14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1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7201B"/>
                          </a:solidFill>
                        </a:rPr>
                        <a:t>The median may replace the mean when it is lower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1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7201B"/>
                          </a:solidFill>
                        </a:rPr>
                        <a:t>median switch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1E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7201B"/>
                          </a:solidFill>
                        </a:rPr>
                        <a:t>cl.18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7201B"/>
                          </a:solidFill>
                        </a:rPr>
                        <a:t>Receipts credited to the borrower's and co-borrower's bank accounts count as income («банк ҳисобварақларига тушган тушумларини инобатга олади»)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7201B"/>
                          </a:solidFill>
                        </a:rPr>
                        <a:t>statement-based income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7201B"/>
                          </a:solidFill>
                        </a:rPr>
                        <a:t>cl.19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1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7201B"/>
                          </a:solidFill>
                        </a:rPr>
                        <a:t>Documented evidence: salary, pension, funded-pension contributions, tax data incl. the annual declaration, interest/dividends/rent — net of taxes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1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7201B"/>
                          </a:solidFill>
                        </a:rPr>
                        <a:t>memo section 2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1EC"/>
                    </a:solidFill>
                  </a:tcPr>
                </a:tc>
              </a:tr>
            </a:tbl>
          </a:graphicData>
        </a:graphic>
      </p:graphicFrame>
      <p:sp>
        <p:nvSpPr>
          <p:cNvPr id="4" name="brv note"/>
          <p:cNvSpPr txBox="1"/>
          <p:nvPr/>
        </p:nvSpPr>
        <p:spPr>
          <a:xfrm>
            <a:off x="548640" y="59893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63"/>
                </a:solidFill>
              </a:rPr>
              <a:t>CBU Board decision 7/3 of 8 Apr 2025, reg. No. 3618 (22 Apr 2025), in force 24 Jul 2025, amended 5 Dec 2025 (in force 21 Jan 2026) — lex.uz/uz/docs/7491592. Regulation 3205 (lex.uz 4654149) covers MFOs and pawnshops only since 24 Jul 2025 and is not used. Checked 11 Oct 2026; quotes in docs/REGULATION_QUOTES.md.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C6B6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3D"/>
                </a:solidFill>
              </a:rPr>
              <a:t>Appendix B · Failure cases, perimeter, human in the loop</a:t>
            </a:r>
            <a:endParaRPr lang="en-US" sz="2800" dirty="0"/>
          </a:p>
        </p:txBody>
      </p:sp>
      <p:sp>
        <p:nvSpPr>
          <p:cNvPr id="3" name="fail card"/>
          <p:cNvSpPr/>
          <p:nvPr/>
        </p:nvSpPr>
        <p:spPr>
          <a:xfrm>
            <a:off x="548640" y="1325880"/>
            <a:ext cx="5486400" cy="4846320"/>
          </a:xfrm>
          <a:prstGeom prst="roundRect">
            <a:avLst>
              <a:gd name="adj" fmla="val 1509"/>
            </a:avLst>
          </a:prstGeom>
          <a:solidFill>
            <a:srgbClr val="E9F1EC"/>
          </a:solidFill>
          <a:ln w="12700">
            <a:solidFill>
              <a:srgbClr val="E9F1EC"/>
            </a:solidFill>
            <a:prstDash val="solid"/>
          </a:ln>
        </p:spPr>
      </p:sp>
      <p:sp>
        <p:nvSpPr>
          <p:cNvPr id="4" name="fail head"/>
          <p:cNvSpPr txBox="1"/>
          <p:nvPr/>
        </p:nvSpPr>
        <p:spPr>
          <a:xfrm>
            <a:off x="731520" y="146304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E3D"/>
                </a:solidFill>
              </a:rPr>
              <a:t>Known failure cases (also on the Model card page)</a:t>
            </a:r>
            <a:endParaRPr lang="en-US" sz="1400" dirty="0"/>
          </a:p>
        </p:txBody>
      </p:sp>
      <p:sp>
        <p:nvSpPr>
          <p:cNvPr id="5" name="bullets"/>
          <p:cNvSpPr txBox="1"/>
          <p:nvPr/>
        </p:nvSpPr>
        <p:spPr>
          <a:xfrm>
            <a:off x="731520" y="1920240"/>
            <a:ext cx="512064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7201B"/>
                </a:solidFill>
              </a:rPr>
              <a:t>Scanned statements without a text layer: not OCR'd page by page yet — ask for the XLSX/CSV export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7201B"/>
                </a:solidFill>
              </a:rPr>
              <a:t>One signed amount column and no balance column: signs taken from keywords only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7201B"/>
                </a:solidFill>
              </a:rPr>
              <a:t>Merchant strings outside the lexicon (mixed scripts, transliteration) → default category, visible in the table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7201B"/>
                </a:solidFill>
              </a:rPr>
              <a:t>Dark or heavily skewed receipt photos: OCR confidence &lt; 60% → fields flagged for confirmation, never guessed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7201B"/>
                </a:solidFill>
              </a:rPr>
              <a:t>Cash-only businesses: nothing to reconstruct — the memo says so; the officer attests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7201B"/>
                </a:solidFill>
              </a:rPr>
              <a:t>Synthetic-to-real gap of the risk score until retrained inside the bank; risk bands are placeholders</a:t>
            </a:r>
            <a:endParaRPr lang="en-US" sz="1150" dirty="0"/>
          </a:p>
        </p:txBody>
      </p:sp>
      <p:sp>
        <p:nvSpPr>
          <p:cNvPr id="6" name="perimeter card b"/>
          <p:cNvSpPr/>
          <p:nvPr/>
        </p:nvSpPr>
        <p:spPr>
          <a:xfrm>
            <a:off x="6309360" y="1325880"/>
            <a:ext cx="5394960" cy="4846320"/>
          </a:xfrm>
          <a:prstGeom prst="roundRect">
            <a:avLst>
              <a:gd name="adj" fmla="val 1509"/>
            </a:avLst>
          </a:prstGeom>
          <a:solidFill>
            <a:srgbClr val="E9F1EC"/>
          </a:solidFill>
          <a:ln w="12700">
            <a:solidFill>
              <a:srgbClr val="E9F1EC"/>
            </a:solidFill>
            <a:prstDash val="solid"/>
          </a:ln>
        </p:spPr>
      </p:sp>
      <p:sp>
        <p:nvSpPr>
          <p:cNvPr id="7" name="perim head"/>
          <p:cNvSpPr txBox="1"/>
          <p:nvPr/>
        </p:nvSpPr>
        <p:spPr>
          <a:xfrm>
            <a:off x="6492240" y="14630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E3D"/>
                </a:solidFill>
              </a:rPr>
              <a:t>Perimeter, audit, human in the loop</a:t>
            </a:r>
            <a:endParaRPr lang="en-US" sz="1400" dirty="0"/>
          </a:p>
        </p:txBody>
      </p:sp>
      <p:sp>
        <p:nvSpPr>
          <p:cNvPr id="8" name="bullets"/>
          <p:cNvSpPr txBox="1"/>
          <p:nvPr/>
        </p:nvSpPr>
        <p:spPr>
          <a:xfrm>
            <a:off x="6492240" y="1920240"/>
            <a:ext cx="502920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7201B"/>
                </a:solidFill>
              </a:rPr>
              <a:t>Prototype: static site; documents are parsed in the browser and never transmitted; nothing is stored server-side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7201B"/>
                </a:solidFill>
              </a:rPr>
              <a:t>Production: same bundle on the bank's web server (Docker, no outbound network), SSO identity, audit log and cases in the bank DB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7201B"/>
                </a:solidFill>
              </a:rPr>
              <a:t>Own customers' statements pulled from core banking; uploads only for other banks' statements and wallets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7201B"/>
                </a:solidFill>
              </a:rPr>
              <a:t>Every analysis stamped with rule-engine, model and categoriser versions; hash-chained SHA-256 log; export with the case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7201B"/>
                </a:solidFill>
              </a:rPr>
              <a:t>The engine recommends; the officer decides; overrides require a reason; committee above branch limits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7201B"/>
                </a:solidFill>
              </a:rPr>
              <a:t>Personal data processed inside the bank with recorded consent; retention per bank policy; no gender or activity-type features in the model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C6B6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3D"/>
                </a:solidFill>
              </a:rPr>
              <a:t>Appendix C · Data sources and licences</a:t>
            </a:r>
            <a:endParaRPr lang="en-US" sz="2800" dirty="0"/>
          </a:p>
        </p:txBody>
      </p:sp>
      <p:graphicFrame>
        <p:nvGraphicFramePr>
          <p:cNvPr id="14" name="data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4572000"/>
                <a:gridCol w="2743200"/>
                <a:gridCol w="374904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Source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Used for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Licence / terms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3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201B"/>
                          </a:solidFill>
                        </a:rPr>
                        <a:t>Daromad synthetic data set (synth/, seed 42)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201B"/>
                          </a:solidFill>
                        </a:rPr>
                        <a:t>training, evaluation, demo samples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201B"/>
                          </a:solidFill>
                        </a:rPr>
                        <a:t>MIT, this repo; generator and parameters declared; no real person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201B"/>
                          </a:solidFill>
                        </a:rPr>
                        <a:t>Berka / PKDD'99 Financial data set (mirror github.com/jlacko/berka-dataset)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1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201B"/>
                          </a:solidFill>
                        </a:rPr>
                        <a:t>offline methodology check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1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201B"/>
                          </a:solidFill>
                        </a:rPr>
                        <a:t>academic challenge data, no licence stated; evaluation only, not redistributed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1E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201B"/>
                          </a:solidFill>
                        </a:rPr>
                        <a:t>Tesseract tessdata_fast (uzb, uzb_cyrl, rus, eng); tesseract.js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201B"/>
                          </a:solidFill>
                        </a:rPr>
                        <a:t>receipt OCR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201B"/>
                          </a:solidFill>
                        </a:rPr>
                        <a:t>Apache 2.0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201B"/>
                          </a:solidFill>
                        </a:rPr>
                        <a:t>pdf.js; SheetJS; Next.js; React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1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201B"/>
                          </a:solidFill>
                        </a:rPr>
                        <a:t>parsing, application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1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201B"/>
                          </a:solidFill>
                        </a:rPr>
                        <a:t>Apache 2.0 / MIT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1E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201B"/>
                          </a:solidFill>
                        </a:rPr>
                        <a:t>XGBoost; scikit-learn; NumPy; pandas; OpenCV; Playwright; Jinja2; qrcode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201B"/>
                          </a:solidFill>
                        </a:rPr>
                        <a:t>training, rendering, evaluation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201B"/>
                          </a:solidFill>
                        </a:rPr>
                        <a:t>Apache 2.0 / BSD-3 / MIT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201B"/>
                          </a:solidFill>
                        </a:rPr>
                        <a:t>CBU Regulation No. 3618 for banks (lex.uz/uz/docs/7491592)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1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201B"/>
                          </a:solidFill>
                        </a:rPr>
                        <a:t>rule engine, citations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1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201B"/>
                          </a:solidFill>
                        </a:rPr>
                        <a:t>public legal information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1E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201B"/>
                          </a:solidFill>
                        </a:rPr>
                        <a:t>stat.uz wages; CBU statistics; MKBANK public pages (sponsored article, bank's own figures)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201B"/>
                          </a:solidFill>
                        </a:rPr>
                        <a:t>calibration anchors, business case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7201B"/>
                          </a:solidFill>
                        </a:rPr>
                        <a:t>public information, cited</a:t>
                      </a:r>
                      <a:endParaRPr lang="en-US" sz="10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9F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compliance"/>
          <p:cNvSpPr txBox="1"/>
          <p:nvPr/>
        </p:nvSpPr>
        <p:spPr>
          <a:xfrm>
            <a:off x="548640" y="54864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7201B"/>
                </a:solidFill>
              </a:rPr>
              <a:t>Rules compliance: no hard-coded answers (every figure computed from uploaded documents at run time); no real personal or confidential data; all code written during the final by team TYS with LLM coding assistance (declared); deployment from the submitted repository; CI on every push.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C6B6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3D"/>
                </a:solidFill>
              </a:rPr>
              <a:t>Appendix D · References, Westminster Harvard (1/2)</a:t>
            </a:r>
            <a:endParaRPr lang="en-US" sz="2800" dirty="0"/>
          </a:p>
        </p:txBody>
      </p:sp>
      <p:sp>
        <p:nvSpPr>
          <p:cNvPr id="3" name="references 1"/>
          <p:cNvSpPr txBox="1"/>
          <p:nvPr/>
        </p:nvSpPr>
        <p:spPr>
          <a:xfrm>
            <a:off x="548640" y="1280160"/>
            <a:ext cx="1106424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17201B"/>
                </a:solidFill>
              </a:rPr>
              <a:t>Agency of Statistics under the President of the Republic of Uzbekistan (2026). </a:t>
            </a:r>
            <a:pPr indent="0" marL="0">
              <a:spcAft>
                <a:spcPts val="500"/>
              </a:spcAft>
              <a:buNone/>
            </a:pPr>
            <a:r>
              <a:rPr lang="en-US" sz="1100" i="1" dirty="0">
                <a:solidFill>
                  <a:srgbClr val="17201B"/>
                </a:solidFill>
              </a:rPr>
              <a:t>Average monthly nominal wages: official statistics.</a:t>
            </a:r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17201B"/>
                </a:solidFill>
              </a:rPr>
              <a:t> Tashkent: Agency of Statistics. Available from https://stat.uz/en/ [Accessed 10 October 2026].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17201B"/>
                </a:solidFill>
              </a:rPr>
              <a:t>Berka, P. and Sochorová, M. (1999). Guide to the financial data set. In: </a:t>
            </a:r>
            <a:pPr indent="0" marL="0">
              <a:spcAft>
                <a:spcPts val="500"/>
              </a:spcAft>
              <a:buNone/>
            </a:pPr>
            <a:r>
              <a:rPr lang="en-US" sz="1100" i="1" dirty="0">
                <a:solidFill>
                  <a:srgbClr val="17201B"/>
                </a:solidFill>
              </a:rPr>
              <a:t>PKDD'99 Discovery Challenge: workshop notes.</a:t>
            </a:r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17201B"/>
                </a:solidFill>
              </a:rPr>
              <a:t> Prague: University of Economics. Available from https://sorry.vse.cz/~berka/challenge/pkdd1999/berka.htm [Accessed 10 October 2026].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17201B"/>
                </a:solidFill>
              </a:rPr>
              <a:t>Bradski, G. (2000). The OpenCV library. </a:t>
            </a:r>
            <a:pPr indent="0" marL="0">
              <a:spcAft>
                <a:spcPts val="500"/>
              </a:spcAft>
              <a:buNone/>
            </a:pPr>
            <a:r>
              <a:rPr lang="en-US" sz="1100" i="1" dirty="0">
                <a:solidFill>
                  <a:srgbClr val="17201B"/>
                </a:solidFill>
              </a:rPr>
              <a:t>Dr. Dobb's Journal of Software Tools,</a:t>
            </a:r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17201B"/>
                </a:solidFill>
              </a:rPr>
              <a:t> 25 (11), 120-125.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17201B"/>
                </a:solidFill>
              </a:rPr>
              <a:t>Central Bank of the Republic of Uzbekistan (2019). </a:t>
            </a:r>
            <a:pPr indent="0" marL="0">
              <a:spcAft>
                <a:spcPts val="500"/>
              </a:spcAft>
              <a:buNone/>
            </a:pPr>
            <a:r>
              <a:rPr lang="en-US" sz="1100" i="1" dirty="0">
                <a:solidFill>
                  <a:srgbClr val="17201B"/>
                </a:solidFill>
              </a:rPr>
              <a:t>Микромолия ташкилоти ва ломбард томонидан бериладиган кредитлар (микроқарзлар) бўйича қарз олувчи жисмоний шахсларнинг қарз юкини тартибга солиш тўғрисидаги низомни тасдиқлаш ҳақида [On approval of the Regulation on regulating the debt burden of individuals borrowing from microfinance organisations and pawnshops].</a:t>
            </a:r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17201B"/>
                </a:solidFill>
              </a:rPr>
              <a:t> Board decision No. 24/5 of 28 September 2019, registration No. 3205 of 19 December 2019, as amended to 24 July 2025. Tashkent: National Database of Legislation of the Republic of Uzbekistan. Available from https://lex.uz/docs/4654149 [Accessed 11 October 2026].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17201B"/>
                </a:solidFill>
              </a:rPr>
              <a:t>Central Bank of the Republic of Uzbekistan (2025). </a:t>
            </a:r>
            <a:pPr indent="0" marL="0">
              <a:spcAft>
                <a:spcPts val="500"/>
              </a:spcAft>
              <a:buNone/>
            </a:pPr>
            <a:r>
              <a:rPr lang="en-US" sz="1100" i="1" dirty="0">
                <a:solidFill>
                  <a:srgbClr val="17201B"/>
                </a:solidFill>
              </a:rPr>
              <a:t>Банкларга ўрнатиладиган макропруденциал нормативлар ҳамда улар томонидан бериладиган кредитлар (микроқарзлар) бўйича тўловларнинг энг юқори қийматларига доир талаблар тўғрисидаги низомни тасдиқлаш ҳақида [On approval of the Regulation on macroprudential norms set for banks and on the maximum values of payments on loans (microloans) issued by them].</a:t>
            </a:r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17201B"/>
                </a:solidFill>
              </a:rPr>
              <a:t> Board decision No. 7/3 of 8 April 2025, registration No. 3618 of 22 April 2025, as amended by Board decision No. 31/9 of 5 December 2025. Tashkent: National Database of Legislation of the Republic of Uzbekistan. Available from https://lex.uz/uz/docs/7491592 [Accessed 11 October 2026].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17201B"/>
                </a:solidFill>
              </a:rPr>
              <a:t>Chen, T. and Guestrin, C. (2016). XGBoost: a scalable tree boosting system. In: </a:t>
            </a:r>
            <a:pPr indent="0" marL="0">
              <a:spcAft>
                <a:spcPts val="500"/>
              </a:spcAft>
              <a:buNone/>
            </a:pPr>
            <a:r>
              <a:rPr lang="en-US" sz="1100" i="1" dirty="0">
                <a:solidFill>
                  <a:srgbClr val="17201B"/>
                </a:solidFill>
              </a:rPr>
              <a:t>Proceedings of the 22nd ACM SIGKDD International Conference on Knowledge Discovery and Data Mining (KDD '16).</a:t>
            </a:r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17201B"/>
                </a:solidFill>
              </a:rPr>
              <a:t> New York: ACM, 785-794. Available from https://doi.org/10.1145/2939672.2939785 [Accessed 10 October 2026].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17201B"/>
                </a:solidFill>
              </a:rPr>
              <a:t>e965 (2024). </a:t>
            </a:r>
            <a:pPr indent="0" marL="0">
              <a:spcAft>
                <a:spcPts val="500"/>
              </a:spcAft>
              <a:buNone/>
            </a:pPr>
            <a:r>
              <a:rPr lang="en-US" sz="1100" i="1" dirty="0">
                <a:solidFill>
                  <a:srgbClr val="17201B"/>
                </a:solidFill>
              </a:rPr>
              <a:t>sheetjs-npm-publisher: automated npm releases of SheetJS Community Edition (Version 0.20.3) [Computer program].</a:t>
            </a:r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17201B"/>
                </a:solidFill>
              </a:rPr>
              <a:t> Available from https://github.com/e965/sheetjs-npm-publisher [Accessed 10 October 2026].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17201B"/>
                </a:solidFill>
              </a:rPr>
              <a:t>Harris, C.R. et al. (2020). Array programming with NumPy. </a:t>
            </a:r>
            <a:pPr indent="0" marL="0">
              <a:spcAft>
                <a:spcPts val="500"/>
              </a:spcAft>
              <a:buNone/>
            </a:pPr>
            <a:r>
              <a:rPr lang="en-US" sz="1100" i="1" dirty="0">
                <a:solidFill>
                  <a:srgbClr val="17201B"/>
                </a:solidFill>
              </a:rPr>
              <a:t>Nature,</a:t>
            </a:r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17201B"/>
                </a:solidFill>
              </a:rPr>
              <a:t> 585 (7825), 357-362. Available from https://doi.org/10.1038/s41586-020-2649-2 [Accessed 10 October 2026].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17201B"/>
                </a:solidFill>
              </a:rPr>
              <a:t>Lacko, J. (no date). </a:t>
            </a:r>
            <a:pPr indent="0" marL="0">
              <a:spcAft>
                <a:spcPts val="500"/>
              </a:spcAft>
              <a:buNone/>
            </a:pPr>
            <a:r>
              <a:rPr lang="en-US" sz="1100" i="1" dirty="0">
                <a:solidFill>
                  <a:srgbClr val="17201B"/>
                </a:solidFill>
              </a:rPr>
              <a:t>berka-dataset: mirror of the PKDD'99 financial data set [Dataset].</a:t>
            </a:r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17201B"/>
                </a:solidFill>
              </a:rPr>
              <a:t> Available from https://github.com/jlacko/berka-dataset [Accessed 10 October 2026].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17201B"/>
                </a:solidFill>
              </a:rPr>
              <a:t>McKinney, W. (2010). Data structures for statistical computing in Python. In: van der Walt, S. and Millman, J. (eds.) </a:t>
            </a:r>
            <a:pPr indent="0" marL="0">
              <a:spcAft>
                <a:spcPts val="500"/>
              </a:spcAft>
              <a:buNone/>
            </a:pPr>
            <a:r>
              <a:rPr lang="en-US" sz="1100" i="1" dirty="0">
                <a:solidFill>
                  <a:srgbClr val="17201B"/>
                </a:solidFill>
              </a:rPr>
              <a:t>Proceedings of the 9th Python in Science Conference.</a:t>
            </a:r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17201B"/>
                </a:solidFill>
              </a:rPr>
              <a:t> Austin, TX: SciPy, 56-61.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17201B"/>
                </a:solidFill>
              </a:rPr>
              <a:t>Meta Platforms (2026). </a:t>
            </a:r>
            <a:pPr indent="0" marL="0">
              <a:spcAft>
                <a:spcPts val="500"/>
              </a:spcAft>
              <a:buNone/>
            </a:pPr>
            <a:r>
              <a:rPr lang="en-US" sz="1100" i="1" dirty="0">
                <a:solidFill>
                  <a:srgbClr val="17201B"/>
                </a:solidFill>
              </a:rPr>
              <a:t>React (Version 19) [Computer program].</a:t>
            </a:r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17201B"/>
                </a:solidFill>
              </a:rPr>
              <a:t> Available from https://react.dev [Accessed 10 October 2026].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C6B6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3D"/>
                </a:solidFill>
              </a:rPr>
              <a:t>Appendix D · References, Westminster Harvard (2/2)</a:t>
            </a:r>
            <a:endParaRPr lang="en-US" sz="2800" dirty="0"/>
          </a:p>
        </p:txBody>
      </p:sp>
      <p:sp>
        <p:nvSpPr>
          <p:cNvPr id="3" name="references 2"/>
          <p:cNvSpPr txBox="1"/>
          <p:nvPr/>
        </p:nvSpPr>
        <p:spPr>
          <a:xfrm>
            <a:off x="548640" y="1280160"/>
            <a:ext cx="1106424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17201B"/>
                </a:solidFill>
              </a:rPr>
              <a:t>Microsoft (2026). </a:t>
            </a:r>
            <a:pPr indent="0" marL="0">
              <a:spcAft>
                <a:spcPts val="500"/>
              </a:spcAft>
              <a:buNone/>
            </a:pPr>
            <a:r>
              <a:rPr lang="en-US" sz="1100" i="1" dirty="0">
                <a:solidFill>
                  <a:srgbClr val="17201B"/>
                </a:solidFill>
              </a:rPr>
              <a:t>Playwright [Computer program].</a:t>
            </a:r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17201B"/>
                </a:solidFill>
              </a:rPr>
              <a:t> Available from https://playwright.dev [Accessed 10 October 2026].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17201B"/>
                </a:solidFill>
              </a:rPr>
              <a:t>Mikrokreditbank (2026). </a:t>
            </a:r>
            <a:pPr indent="0" marL="0">
              <a:spcAft>
                <a:spcPts val="500"/>
              </a:spcAft>
              <a:buNone/>
            </a:pPr>
            <a:r>
              <a:rPr lang="en-US" sz="1100" i="1" dirty="0">
                <a:solidFill>
                  <a:srgbClr val="17201B"/>
                </a:solidFill>
              </a:rPr>
              <a:t>Credit products: Ommabop 2, Express, Business Online 2 and family-entrepreneurship programmes.</a:t>
            </a:r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17201B"/>
                </a:solidFill>
              </a:rPr>
              <a:t> Available from https://mkbank.uz [Accessed 10 October 2026].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17201B"/>
                </a:solidFill>
              </a:rPr>
              <a:t>Mozilla (2025). </a:t>
            </a:r>
            <a:pPr indent="0" marL="0">
              <a:spcAft>
                <a:spcPts val="500"/>
              </a:spcAft>
              <a:buNone/>
            </a:pPr>
            <a:r>
              <a:rPr lang="en-US" sz="1100" i="1" dirty="0">
                <a:solidFill>
                  <a:srgbClr val="17201B"/>
                </a:solidFill>
              </a:rPr>
              <a:t>PDF.js (pdfjs-dist Version 4.10) [Computer program].</a:t>
            </a:r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17201B"/>
                </a:solidFill>
              </a:rPr>
              <a:t> Available from https://github.com/mozilla/pdf.js [Accessed 10 October 2026].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17201B"/>
                </a:solidFill>
              </a:rPr>
              <a:t>Pedregosa, F. et al. (2011). Scikit-learn: machine learning in Python. </a:t>
            </a:r>
            <a:pPr indent="0" marL="0">
              <a:spcAft>
                <a:spcPts val="500"/>
              </a:spcAft>
              <a:buNone/>
            </a:pPr>
            <a:r>
              <a:rPr lang="en-US" sz="1100" i="1" dirty="0">
                <a:solidFill>
                  <a:srgbClr val="17201B"/>
                </a:solidFill>
              </a:rPr>
              <a:t>Journal of Machine Learning Research,</a:t>
            </a:r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17201B"/>
                </a:solidFill>
              </a:rPr>
              <a:t> 12, 2825-2830.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17201B"/>
                </a:solidFill>
              </a:rPr>
              <a:t>SheetJS LLC (2024). </a:t>
            </a:r>
            <a:pPr indent="0" marL="0">
              <a:spcAft>
                <a:spcPts val="500"/>
              </a:spcAft>
              <a:buNone/>
            </a:pPr>
            <a:r>
              <a:rPr lang="en-US" sz="1100" i="1" dirty="0">
                <a:solidFill>
                  <a:srgbClr val="17201B"/>
                </a:solidFill>
              </a:rPr>
              <a:t>SheetJS Community Edition (Version 0.20.3) [Computer program].</a:t>
            </a:r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17201B"/>
                </a:solidFill>
              </a:rPr>
              <a:t> Available from https://sheetjs.com [Accessed 10 October 2026].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17201B"/>
                </a:solidFill>
              </a:rPr>
              <a:t>Smith, R. (2007). An overview of the Tesseract OCR engine. In: </a:t>
            </a:r>
            <a:pPr indent="0" marL="0">
              <a:spcAft>
                <a:spcPts val="500"/>
              </a:spcAft>
              <a:buNone/>
            </a:pPr>
            <a:r>
              <a:rPr lang="en-US" sz="1100" i="1" dirty="0">
                <a:solidFill>
                  <a:srgbClr val="17201B"/>
                </a:solidFill>
              </a:rPr>
              <a:t>Ninth International Conference on Document Analysis and Recognition (ICDAR 2007).</a:t>
            </a:r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17201B"/>
                </a:solidFill>
              </a:rPr>
              <a:t> Washington, DC: IEEE Computer Society, 629-633. Available from https://doi.org/10.1109/ICDAR.2007.4376991 [Accessed 10 October 2026].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17201B"/>
                </a:solidFill>
              </a:rPr>
              <a:t>Spot (2026). </a:t>
            </a:r>
            <a:pPr indent="0" marL="0">
              <a:spcAft>
                <a:spcPts val="500"/>
              </a:spcAft>
              <a:buNone/>
            </a:pPr>
            <a:r>
              <a:rPr lang="en-US" sz="1100" i="1" dirty="0">
                <a:solidFill>
                  <a:srgbClr val="17201B"/>
                </a:solidFill>
              </a:rPr>
              <a:t>«Микрокредитбанк» выделит 7,4 трлн сумов малому и среднему бизнесу в 2026 году [Mikrokreditbank will allocate 7.4 trillion soums to small and medium business in 2026].</a:t>
            </a:r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17201B"/>
                </a:solidFill>
              </a:rPr>
              <a:t> Sponsored article, 27 March. Available from https://www.spot.uz/ru/2026/03/27/mk-bank/ [Accessed 10 October 2026].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17201B"/>
                </a:solidFill>
              </a:rPr>
              <a:t>Tesseract OCR (no date). </a:t>
            </a:r>
            <a:pPr indent="0" marL="0">
              <a:spcAft>
                <a:spcPts val="500"/>
              </a:spcAft>
              <a:buNone/>
            </a:pPr>
            <a:r>
              <a:rPr lang="en-US" sz="1100" i="1" dirty="0">
                <a:solidFill>
                  <a:srgbClr val="17201B"/>
                </a:solidFill>
              </a:rPr>
              <a:t>tessdata_fast: fast integer versions of trained LSTM models (uzb, uzb_cyrl, rus, eng) [Data files].</a:t>
            </a:r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17201B"/>
                </a:solidFill>
              </a:rPr>
              <a:t> Available from https://github.com/tesseract-ocr/tessdata_fast [Accessed 10 October 2026].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17201B"/>
                </a:solidFill>
              </a:rPr>
              <a:t>Tesseract.js contributors (2025). </a:t>
            </a:r>
            <a:pPr indent="0" marL="0">
              <a:spcAft>
                <a:spcPts val="500"/>
              </a:spcAft>
              <a:buNone/>
            </a:pPr>
            <a:r>
              <a:rPr lang="en-US" sz="1100" i="1" dirty="0">
                <a:solidFill>
                  <a:srgbClr val="17201B"/>
                </a:solidFill>
              </a:rPr>
              <a:t>Tesseract.js (Version 6) [Computer program].</a:t>
            </a:r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17201B"/>
                </a:solidFill>
              </a:rPr>
              <a:t> Available from https://github.com/naptha/tesseract.js [Accessed 10 October 2026].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17201B"/>
                </a:solidFill>
              </a:rPr>
              <a:t>Vercel (2026). </a:t>
            </a:r>
            <a:pPr indent="0" marL="0">
              <a:spcAft>
                <a:spcPts val="500"/>
              </a:spcAft>
              <a:buNone/>
            </a:pPr>
            <a:r>
              <a:rPr lang="en-US" sz="1100" i="1" dirty="0">
                <a:solidFill>
                  <a:srgbClr val="17201B"/>
                </a:solidFill>
              </a:rPr>
              <a:t>Next.js (Version 16) [Computer program].</a:t>
            </a:r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17201B"/>
                </a:solidFill>
              </a:rPr>
              <a:t> Available from https://nextjs.org [Accessed 10 October 2026].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17201B"/>
                </a:solidFill>
              </a:rPr>
              <a:t>Yuz.uz (2021). </a:t>
            </a:r>
            <a:pPr indent="0" marL="0">
              <a:spcAft>
                <a:spcPts val="500"/>
              </a:spcAft>
              <a:buNone/>
            </a:pPr>
            <a:r>
              <a:rPr lang="en-US" sz="1100" i="1" dirty="0">
                <a:solidFill>
                  <a:srgbClr val="17201B"/>
                </a:solidFill>
              </a:rPr>
              <a:t>Почти 800 тысяч граждан Узбекистана выбрали самозанятость [Nearly 800 thousand citizens of Uzbekistan chose self-employment].</a:t>
            </a:r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17201B"/>
                </a:solidFill>
              </a:rPr>
              <a:t> 6 May. Available from https://yuz.uz/ru/news/pochti-800-tsyach-grajdan-uzbekistana-vbrali-samozanyatost [Accessed 10 October 2026].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C6B6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aromad">
  <a:themeElements>
    <a:clrScheme name="Daromad">
      <a:dk1>
        <a:srgbClr val="17201B"/>
      </a:dk1>
      <a:lt1>
        <a:srgbClr val="FFFFFF"/>
      </a:lt1>
      <a:dk2>
        <a:srgbClr val="1F4E3D"/>
      </a:dk2>
      <a:lt2>
        <a:srgbClr val="E9F1EC"/>
      </a:lt2>
      <a:accent1>
        <a:srgbClr val="1F4E3D"/>
      </a:accent1>
      <a:accent2>
        <a:srgbClr val="D98E04"/>
      </a:accent2>
      <a:accent3>
        <a:srgbClr val="2E7D5B"/>
      </a:accent3>
      <a:accent4>
        <a:srgbClr val="5C6B63"/>
      </a:accent4>
      <a:accent5>
        <a:srgbClr val="B23A3A"/>
      </a:accent5>
      <a:accent6>
        <a:srgbClr val="8FB8A5"/>
      </a:accent6>
      <a:hlink>
        <a:srgbClr val="1F4E3D"/>
      </a:hlink>
      <a:folHlink>
        <a:srgbClr val="5C6B63"/>
      </a:folHlink>
    </a:clrScheme>
    <a:fontScheme name="Daromad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Daromad — Income Evidence Engine</dc:title>
  <dc:subject>FinTech / AI in Finance hackathon final</dc:subject>
  <dc:creator>Team TYS</dc:creator>
  <cp:lastModifiedBy>Team TYS</cp:lastModifiedBy>
  <cp:revision>1</cp:revision>
  <dcterms:created xsi:type="dcterms:W3CDTF">2026-10-10T20:00:40Z</dcterms:created>
  <dcterms:modified xsi:type="dcterms:W3CDTF">2026-10-10T20:00:40Z</dcterms:modified>
</cp:coreProperties>
</file>