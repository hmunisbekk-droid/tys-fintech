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6446836-4675-a924-7041-d0a08d265816}">
          <p14:sldIdLst>
            <p14:sldId id="256"/>
          </p14:sldIdLst>
        </p14:section>
        <p14:section name="Problem" id="{66ee2b2f-fc97-c4d4-139b-1c4c2cb4ed99}">
          <p14:sldIdLst>
            <p14:sldId id="257"/>
          </p14:sldIdLst>
        </p14:section>
        <p14:section name="Product" id="{caa19488-29a1-bb36-1b8e-bb149f6abb38}">
          <p14:sldIdLst>
            <p14:sldId id="258"/>
            <p14:sldId id="259"/>
          </p14:sldIdLst>
        </p14:section>
        <p14:section name="Technology" id="{94772483-36b0-5ad1-8e93-b69d5de4eedb}">
          <p14:sldIdLst>
            <p14:sldId id="260"/>
            <p14:sldId id="261"/>
            <p14:sldId id="262"/>
          </p14:sldIdLst>
        </p14:section>
        <p14:section name="Business" id="{0df454a6-3adb-4302-2a19-9926bcbbb6d1}">
          <p14:sldIdLst>
            <p14:sldId id="263"/>
            <p14:sldId id="264"/>
          </p14:sldIdLst>
        </p14:section>
        <p14:section name="Closing" id="{736678f0-5149-0e1d-1830-44cd6bc9d260}">
          <p14:sldIdLst>
            <p14:sldId id="265"/>
          </p14:sldIdLst>
        </p14:section>
        <p14:section name="References" id="{da14f6ff-b04d-9d76-fb82-17d5b9a6e56e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3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4E3D"/>
                </a:solidFill>
                <a:latin typeface="+mn-lt"/>
              </a:rPr>
              <a:t>ROC-AUC: what the model adds over the ratio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holdout</c:v>
                </c:pt>
              </c:strCache>
            </c:strRef>
          </c:tx>
          <c:spPr>
            <a:solidFill>
              <a:srgbClr val="8FB8A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(DBR)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0.9482157097288676</c:v>
                </c:pt>
                <c:pt idx="1">
                  <c:v>0.9628688197767145</c:v>
                </c:pt>
                <c:pt idx="2">
                  <c:v>0.9654106858054226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data (Berka)</c:v>
                </c:pt>
              </c:strCache>
            </c:strRef>
          </c:tx>
          <c:spPr>
            <a:solidFill>
              <a:srgbClr val="1F4E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(DBR)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0.7351617680565048</c:v>
                </c:pt>
                <c:pt idx="1">
                  <c:v>0.8948507632718159</c:v>
                </c:pt>
                <c:pt idx="2">
                  <c:v>0.9021132376395533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720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12700" cap="flat">
              <a:solidFill>
                <a:srgbClr val="E9F1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C6B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E9F1E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8A5"/>
                </a:solidFill>
              </a:rPr>
              <a:t>team TYS · FinTech / AI in Finance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Daromad · team TYS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 name"/>
          <p:cNvSpPr txBox="1"/>
          <p:nvPr/>
        </p:nvSpPr>
        <p:spPr>
          <a:xfrm>
            <a:off x="640080" y="1463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Team TYS</a:t>
            </a:r>
            <a:endParaRPr lang="en-US" sz="6000" dirty="0"/>
          </a:p>
        </p:txBody>
      </p:sp>
      <p:sp>
        <p:nvSpPr>
          <p:cNvPr id="3" name="event"/>
          <p:cNvSpPr txBox="1"/>
          <p:nvPr/>
        </p:nvSpPr>
        <p:spPr>
          <a:xfrm>
            <a:off x="640080" y="2560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9F1EC"/>
                </a:solidFill>
              </a:rPr>
              <a:t>FinTech / AI in Finance · final defence</a:t>
            </a:r>
            <a:endParaRPr lang="en-US" sz="2600" dirty="0"/>
          </a:p>
        </p:txBody>
      </p:sp>
      <p:sp>
        <p:nvSpPr>
          <p:cNvPr id="4" name="mode pill"/>
          <p:cNvSpPr/>
          <p:nvPr/>
        </p:nvSpPr>
        <p:spPr>
          <a:xfrm>
            <a:off x="640080" y="3566160"/>
            <a:ext cx="6949440" cy="548640"/>
          </a:xfrm>
          <a:prstGeom prst="roundRect">
            <a:avLst>
              <a:gd name="adj" fmla="val 16667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mode"/>
          <p:cNvSpPr txBox="1"/>
          <p:nvPr/>
        </p:nvSpPr>
        <p:spPr>
          <a:xfrm>
            <a:off x="777240" y="3566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1B"/>
                </a:solidFill>
              </a:rPr>
              <a:t>Mode: Partner product — MKBANK, micro &amp; family-business credit department</a:t>
            </a:r>
            <a:endParaRPr lang="en-US" sz="1500" dirty="0"/>
          </a:p>
        </p:txBody>
      </p:sp>
      <p:sp>
        <p:nvSpPr>
          <p:cNvPr id="6" name="partners"/>
          <p:cNvSpPr txBox="1"/>
          <p:nvPr/>
        </p:nvSpPr>
        <p:spPr>
          <a:xfrm>
            <a:off x="64008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F1EC"/>
                </a:solidFill>
              </a:rPr>
              <a:t>Partners: MKBANK and the Central Bank of Uzbekistan · October 2026</a:t>
            </a:r>
            <a:endParaRPr lang="en-US" sz="1400" dirty="0"/>
          </a:p>
        </p:txBody>
      </p:sp>
      <p:sp>
        <p:nvSpPr>
          <p:cNvPr id="7" name="links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Live prototype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https://tys-fintech.vercel.app    </a:t>
            </a:r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Repository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https://github.com/hmunisbekk-droid/TYS-fintech</a:t>
            </a:r>
            <a:endParaRPr lang="en-US" sz="13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44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The regulation names the evidence — the self-employed have exactly one line</a:t>
            </a:r>
            <a:endParaRPr lang="en-US" sz="2800" dirty="0"/>
          </a:p>
        </p:txBody>
      </p:sp>
      <p:sp>
        <p:nvSpPr>
          <p:cNvPr id="3" name="list caption"/>
          <p:cNvSpPr txBox="1"/>
          <p:nvPr/>
        </p:nvSpPr>
        <p:spPr>
          <a:xfrm>
            <a:off x="548640" y="12801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CBU Regulation No. 3618 for banks, cl.19 — documented income; cl.18 — receipts on the borrower's accounts</a:t>
            </a:r>
            <a:endParaRPr lang="en-US" sz="1400" dirty="0"/>
          </a:p>
        </p:txBody>
      </p:sp>
      <p:sp>
        <p:nvSpPr>
          <p:cNvPr id="4" name="evidence 0"/>
          <p:cNvSpPr/>
          <p:nvPr/>
        </p:nvSpPr>
        <p:spPr>
          <a:xfrm>
            <a:off x="548640" y="173736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5" name="evidence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65376"/>
            <a:ext cx="274320" cy="274320"/>
          </a:xfrm>
          <a:prstGeom prst="rect">
            <a:avLst/>
          </a:prstGeom>
        </p:spPr>
      </p:pic>
      <p:sp>
        <p:nvSpPr>
          <p:cNvPr id="6" name="evidence text 0"/>
          <p:cNvSpPr txBox="1"/>
          <p:nvPr/>
        </p:nvSpPr>
        <p:spPr>
          <a:xfrm>
            <a:off x="1097280" y="173736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Employer-confirmed salary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 employer — the borrower is the business</a:t>
            </a:r>
            <a:endParaRPr lang="en-US" sz="1200" dirty="0"/>
          </a:p>
        </p:txBody>
      </p:sp>
      <p:sp>
        <p:nvSpPr>
          <p:cNvPr id="7" name="evidence 1"/>
          <p:cNvSpPr/>
          <p:nvPr/>
        </p:nvSpPr>
        <p:spPr>
          <a:xfrm>
            <a:off x="548640" y="2359152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evidence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87168"/>
            <a:ext cx="274320" cy="274320"/>
          </a:xfrm>
          <a:prstGeom prst="rect">
            <a:avLst/>
          </a:prstGeom>
        </p:spPr>
      </p:pic>
      <p:sp>
        <p:nvSpPr>
          <p:cNvPr id="9" name="evidence text 1"/>
          <p:cNvSpPr txBox="1"/>
          <p:nvPr/>
        </p:nvSpPr>
        <p:spPr>
          <a:xfrm>
            <a:off x="1097280" y="2359152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Pension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working-age applicant, not a pensioner</a:t>
            </a:r>
            <a:endParaRPr lang="en-US" sz="1200" dirty="0"/>
          </a:p>
        </p:txBody>
      </p:sp>
      <p:sp>
        <p:nvSpPr>
          <p:cNvPr id="10" name="evidence 2"/>
          <p:cNvSpPr/>
          <p:nvPr/>
        </p:nvSpPr>
        <p:spPr>
          <a:xfrm>
            <a:off x="548640" y="2980944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1" name="evidence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08960"/>
            <a:ext cx="274320" cy="274320"/>
          </a:xfrm>
          <a:prstGeom prst="rect">
            <a:avLst/>
          </a:prstGeom>
        </p:spPr>
      </p:pic>
      <p:sp>
        <p:nvSpPr>
          <p:cNvPr id="12" name="evidence text 2"/>
          <p:cNvSpPr txBox="1"/>
          <p:nvPr/>
        </p:nvSpPr>
        <p:spPr>
          <a:xfrm>
            <a:off x="1097280" y="2980944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Funded-pension contributions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none: contributions come through an employer</a:t>
            </a:r>
            <a:endParaRPr lang="en-US" sz="1200" dirty="0"/>
          </a:p>
        </p:txBody>
      </p:sp>
      <p:sp>
        <p:nvSpPr>
          <p:cNvPr id="13" name="evidence 3"/>
          <p:cNvSpPr/>
          <p:nvPr/>
        </p:nvSpPr>
        <p:spPr>
          <a:xfrm>
            <a:off x="548640" y="3602736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4" name="evidence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30752"/>
            <a:ext cx="274320" cy="274320"/>
          </a:xfrm>
          <a:prstGeom prst="rect">
            <a:avLst/>
          </a:prstGeom>
        </p:spPr>
      </p:pic>
      <p:sp>
        <p:nvSpPr>
          <p:cNvPr id="15" name="evidence text 3"/>
          <p:cNvSpPr txBox="1"/>
          <p:nvPr/>
        </p:nvSpPr>
        <p:spPr>
          <a:xfrm>
            <a:off x="1097280" y="3602736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1B"/>
                </a:solidFill>
              </a:rPr>
              <a:t>Receipts credited to the borrower's bank accounts (cl.18)</a:t>
            </a:r>
            <a:pPr indent="0" marL="0">
              <a:buNone/>
            </a:pPr>
            <a:r>
              <a:rPr lang="en-US" sz="1350" dirty="0">
                <a:solidFill>
                  <a:srgbClr val="17201B"/>
                </a:solidFill>
              </a:rPr>
              <a:t>  — the only line a self-employed borrower has</a:t>
            </a:r>
            <a:endParaRPr lang="en-US" sz="1350" dirty="0"/>
          </a:p>
        </p:txBody>
      </p:sp>
      <p:sp>
        <p:nvSpPr>
          <p:cNvPr id="16" name="evidence 4"/>
          <p:cNvSpPr/>
          <p:nvPr/>
        </p:nvSpPr>
        <p:spPr>
          <a:xfrm>
            <a:off x="548640" y="4224528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7" name="evidence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274320" cy="274320"/>
          </a:xfrm>
          <a:prstGeom prst="rect">
            <a:avLst/>
          </a:prstGeom>
        </p:spPr>
      </p:pic>
      <p:sp>
        <p:nvSpPr>
          <p:cNvPr id="18" name="evidence text 4"/>
          <p:cNvSpPr txBox="1"/>
          <p:nvPr/>
        </p:nvSpPr>
        <p:spPr>
          <a:xfrm>
            <a:off x="1097280" y="422452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Tax data incl. the annual income declaration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self-employed income is untaxed; no declaration is filed</a:t>
            </a:r>
            <a:endParaRPr lang="en-US" sz="1200" dirty="0"/>
          </a:p>
        </p:txBody>
      </p:sp>
      <p:sp>
        <p:nvSpPr>
          <p:cNvPr id="19" name="evidence 5"/>
          <p:cNvSpPr/>
          <p:nvPr/>
        </p:nvSpPr>
        <p:spPr>
          <a:xfrm>
            <a:off x="548640" y="484632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20" name="evidence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974336"/>
            <a:ext cx="274320" cy="274320"/>
          </a:xfrm>
          <a:prstGeom prst="rect">
            <a:avLst/>
          </a:prstGeom>
        </p:spPr>
      </p:pic>
      <p:sp>
        <p:nvSpPr>
          <p:cNvPr id="21" name="evidence text 5"/>
          <p:cNvSpPr txBox="1"/>
          <p:nvPr/>
        </p:nvSpPr>
        <p:spPr>
          <a:xfrm>
            <a:off x="1097280" y="484632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Interest, dividends, rental income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rarely applicable; easy to document when it is</a:t>
            </a:r>
            <a:endParaRPr lang="en-US" sz="1200" dirty="0"/>
          </a:p>
        </p:txBody>
      </p:sp>
      <p:sp>
        <p:nvSpPr>
          <p:cNvPr id="22" name="tile DBR limit for bank loans (cl.3); income = mean of 6–12 months of receipts (cl.13, cl.18); 50–100% only inside a 15% quota"/>
          <p:cNvSpPr/>
          <p:nvPr/>
        </p:nvSpPr>
        <p:spPr>
          <a:xfrm>
            <a:off x="7589520" y="1371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3" name="tile value DBR limit for bank loans (cl.3); income = mean of 6–12 months of receipts (cl.13, cl.18); 50–100% only inside a 15% quota"/>
          <p:cNvSpPr txBox="1"/>
          <p:nvPr/>
        </p:nvSpPr>
        <p:spPr>
          <a:xfrm>
            <a:off x="7726680" y="144475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50% limit</a:t>
            </a:r>
            <a:endParaRPr lang="en-US" sz="2800" dirty="0"/>
          </a:p>
        </p:txBody>
      </p:sp>
      <p:sp>
        <p:nvSpPr>
          <p:cNvPr id="24" name="tile label DBR limit for bank loans (cl.3); income = mean of 6–12 months of receipts (cl.13, cl.18); 50–100% only inside a 15% quota"/>
          <p:cNvSpPr txBox="1"/>
          <p:nvPr/>
        </p:nvSpPr>
        <p:spPr>
          <a:xfrm>
            <a:off x="7726680" y="198150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DBR limit for bank loans (cl.3); income = mean of 6–12 months of receipts (cl.13, cl.18); 50–100% only inside a 15% quota</a:t>
            </a:r>
            <a:endParaRPr lang="en-US" sz="1100" dirty="0"/>
          </a:p>
        </p:txBody>
      </p:sp>
      <p:sp>
        <p:nvSpPr>
          <p:cNvPr id="25" name="tile projects MKBANK plans under its lending programmes in 2026 (47,975 micro-projects financed in 2025); 1,062 mahalla agents"/>
          <p:cNvSpPr/>
          <p:nvPr/>
        </p:nvSpPr>
        <p:spPr>
          <a:xfrm>
            <a:off x="7589520" y="260604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6" name="tile value projects MKBANK plans under its lending programmes in 2026 (47,975 micro-projects financed in 2025); 1,062 mahalla agents"/>
          <p:cNvSpPr txBox="1"/>
          <p:nvPr/>
        </p:nvSpPr>
        <p:spPr>
          <a:xfrm>
            <a:off x="7726680" y="267919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~140,000</a:t>
            </a:r>
            <a:endParaRPr lang="en-US" sz="2800" dirty="0"/>
          </a:p>
        </p:txBody>
      </p:sp>
      <p:sp>
        <p:nvSpPr>
          <p:cNvPr id="27" name="tile label projects MKBANK plans under its lending programmes in 2026 (47,975 micro-projects financed in 2025); 1,062 mahalla agents"/>
          <p:cNvSpPr txBox="1"/>
          <p:nvPr/>
        </p:nvSpPr>
        <p:spPr>
          <a:xfrm>
            <a:off x="7726680" y="321594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projects MKBANK plans under its lending programmes in 2026 (47,975 micro-projects financed in 2025); 1,062 mahalla agents</a:t>
            </a:r>
            <a:endParaRPr lang="en-US" sz="1100" dirty="0"/>
          </a:p>
        </p:txBody>
      </p:sp>
      <p:sp>
        <p:nvSpPr>
          <p:cNvPr id="28" name="tile an officer's manual reading of 12 months of statements per application (our estimate; pilot measures it)"/>
          <p:cNvSpPr/>
          <p:nvPr/>
        </p:nvSpPr>
        <p:spPr>
          <a:xfrm>
            <a:off x="7589520" y="38404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tile value an officer&amp;apos;s manual reading of 12 months of statements per application (our estimate; pilot measures it)"/>
          <p:cNvSpPr txBox="1"/>
          <p:nvPr/>
        </p:nvSpPr>
        <p:spPr>
          <a:xfrm>
            <a:off x="7726680" y="391363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60–90 min</a:t>
            </a:r>
            <a:endParaRPr lang="en-US" sz="2800" dirty="0"/>
          </a:p>
        </p:txBody>
      </p:sp>
      <p:sp>
        <p:nvSpPr>
          <p:cNvPr id="30" name="tile label an officer&amp;apos;s manual reading of 12 months of statements per application (our estimate; pilot measures it)"/>
          <p:cNvSpPr txBox="1"/>
          <p:nvPr/>
        </p:nvSpPr>
        <p:spPr>
          <a:xfrm>
            <a:off x="7726680" y="445038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an officer's manual reading of 12 months of statements per application (our estimate; pilot measures it)</a:t>
            </a:r>
            <a:endParaRPr lang="en-US" sz="1100" dirty="0"/>
          </a:p>
        </p:txBody>
      </p:sp>
      <p:sp>
        <p:nvSpPr>
          <p:cNvPr id="31" name="tile of official income records for ~790k registered self-employed (untaxed, unfiled, no cash register required)"/>
          <p:cNvSpPr/>
          <p:nvPr/>
        </p:nvSpPr>
        <p:spPr>
          <a:xfrm>
            <a:off x="7589520" y="50749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2" name="tile value of official income records for ~790k registered self-employed (untaxed, unfiled, no cash register required)"/>
          <p:cNvSpPr txBox="1"/>
          <p:nvPr/>
        </p:nvSpPr>
        <p:spPr>
          <a:xfrm>
            <a:off x="7726680" y="514807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0 lines</a:t>
            </a:r>
            <a:endParaRPr lang="en-US" sz="2800" dirty="0"/>
          </a:p>
        </p:txBody>
      </p:sp>
      <p:sp>
        <p:nvSpPr>
          <p:cNvPr id="33" name="tile label of official income records for ~790k registered self-employed (untaxed, unfiled, no cash register required)"/>
          <p:cNvSpPr txBox="1"/>
          <p:nvPr/>
        </p:nvSpPr>
        <p:spPr>
          <a:xfrm>
            <a:off x="7726680" y="568482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of official income records for ~790k registered self-employed (untaxed, unfiled, no cash register required)</a:t>
            </a:r>
            <a:endParaRPr lang="en-US" sz="1100" dirty="0"/>
          </a:p>
        </p:txBody>
      </p:sp>
      <p:sp>
        <p:nvSpPr>
          <p:cNvPr id="34" name="sources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Sources: CBU Regulation No. 3618 (Board decision 7/3, 8 Apr 2025; lex.uz/uz/docs/7491592) · spot.uz 27 Mar 2026 (MKBANK, bank's own figures) · yuz.uz (self-employed registrations, 2021) — full list on the References slides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What the officer gets in under five seconds</a:t>
            </a:r>
            <a:endParaRPr lang="en-US" sz="2800" dirty="0"/>
          </a:p>
        </p:txBody>
      </p:sp>
      <p:pic>
        <p:nvPicPr>
          <p:cNvPr id="3" name="screenshot income and pdn" descr="/home/claude/daromad/deck/img/income_pd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863840" cy="2743200"/>
          </a:xfrm>
          <a:prstGeom prst="rect">
            <a:avLst/>
          </a:prstGeom>
        </p:spPr>
      </p:pic>
      <p:pic>
        <p:nvPicPr>
          <p:cNvPr id="4" name="screenshot memo" descr="/home/claude/daromad/deck/img/m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06240"/>
            <a:ext cx="7863840" cy="2103120"/>
          </a:xfrm>
          <a:prstGeom prst="rect">
            <a:avLst/>
          </a:prstGeom>
        </p:spPr>
      </p:pic>
      <p:sp>
        <p:nvSpPr>
          <p:cNvPr id="5" name="got circle 0"/>
          <p:cNvSpPr/>
          <p:nvPr/>
        </p:nvSpPr>
        <p:spPr>
          <a:xfrm>
            <a:off x="8686800" y="137160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6" name="got icon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463040"/>
            <a:ext cx="274320" cy="274320"/>
          </a:xfrm>
          <a:prstGeom prst="rect">
            <a:avLst/>
          </a:prstGeom>
        </p:spPr>
      </p:pic>
      <p:sp>
        <p:nvSpPr>
          <p:cNvPr id="7" name="got head 0"/>
          <p:cNvSpPr txBox="1"/>
          <p:nvPr/>
        </p:nvSpPr>
        <p:spPr>
          <a:xfrm>
            <a:off x="92811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Regulatory income</a:t>
            </a:r>
            <a:endParaRPr lang="en-US" sz="1400" dirty="0"/>
          </a:p>
        </p:txBody>
      </p:sp>
      <p:sp>
        <p:nvSpPr>
          <p:cNvPr id="8" name="got text 0"/>
          <p:cNvSpPr txBox="1"/>
          <p:nvPr/>
        </p:nvSpPr>
        <p:spPr>
          <a:xfrm>
            <a:off x="9281160" y="17099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cl.13 mean of 6–12 months (median option, cl.14) of account receipts (cl.18); own-card transfers, loan proceeds, refunds and cash deposits excluded</a:t>
            </a:r>
            <a:endParaRPr lang="en-US" sz="1050" dirty="0"/>
          </a:p>
        </p:txBody>
      </p:sp>
      <p:sp>
        <p:nvSpPr>
          <p:cNvPr id="9" name="got circle 1"/>
          <p:cNvSpPr/>
          <p:nvPr/>
        </p:nvSpPr>
        <p:spPr>
          <a:xfrm>
            <a:off x="8686800" y="2633472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got icon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2724912"/>
            <a:ext cx="274320" cy="274320"/>
          </a:xfrm>
          <a:prstGeom prst="rect">
            <a:avLst/>
          </a:prstGeom>
        </p:spPr>
      </p:pic>
      <p:sp>
        <p:nvSpPr>
          <p:cNvPr id="11" name="got head 1"/>
          <p:cNvSpPr txBox="1"/>
          <p:nvPr/>
        </p:nvSpPr>
        <p:spPr>
          <a:xfrm>
            <a:off x="9281160" y="2587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DBR with citations</a:t>
            </a:r>
            <a:endParaRPr lang="en-US" sz="1400" dirty="0"/>
          </a:p>
        </p:txBody>
      </p:sp>
      <p:sp>
        <p:nvSpPr>
          <p:cNvPr id="12" name="got text 1"/>
          <p:cNvSpPr txBox="1"/>
          <p:nvPr/>
        </p:nvSpPr>
        <p:spPr>
          <a:xfrm>
            <a:off x="928116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36/60/180-month spreading, guarantor rule, cl.4 exemptions, 50% limit, the 50–100% quota band and the new-self-employed quota (cl.3), maximum affordable amount</a:t>
            </a:r>
            <a:endParaRPr lang="en-US" sz="1050" dirty="0"/>
          </a:p>
        </p:txBody>
      </p:sp>
      <p:sp>
        <p:nvSpPr>
          <p:cNvPr id="13" name="got circle 2"/>
          <p:cNvSpPr/>
          <p:nvPr/>
        </p:nvSpPr>
        <p:spPr>
          <a:xfrm>
            <a:off x="8686800" y="389534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4" name="got icon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986784"/>
            <a:ext cx="274320" cy="274320"/>
          </a:xfrm>
          <a:prstGeom prst="rect">
            <a:avLst/>
          </a:prstGeom>
        </p:spPr>
      </p:pic>
      <p:sp>
        <p:nvSpPr>
          <p:cNvPr id="15" name="got head 2"/>
          <p:cNvSpPr txBox="1"/>
          <p:nvPr/>
        </p:nvSpPr>
        <p:spPr>
          <a:xfrm>
            <a:off x="9281160" y="38496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Integrity report</a:t>
            </a:r>
            <a:endParaRPr lang="en-US" sz="1400" dirty="0"/>
          </a:p>
        </p:txBody>
      </p:sp>
      <p:sp>
        <p:nvSpPr>
          <p:cNvPr id="16" name="got text 2"/>
          <p:cNvSpPr txBox="1"/>
          <p:nvPr/>
        </p:nvSpPr>
        <p:spPr>
          <a:xfrm>
            <a:off x="9281160" y="423367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pre-application spikes, circular transfers, holder match</a:t>
            </a:r>
            <a:endParaRPr lang="en-US" sz="1050" dirty="0"/>
          </a:p>
        </p:txBody>
      </p:sp>
      <p:sp>
        <p:nvSpPr>
          <p:cNvPr id="17" name="got circle 3"/>
          <p:cNvSpPr/>
          <p:nvPr/>
        </p:nvSpPr>
        <p:spPr>
          <a:xfrm>
            <a:off x="8686800" y="5157216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8" name="got icon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5248656"/>
            <a:ext cx="274320" cy="274320"/>
          </a:xfrm>
          <a:prstGeom prst="rect">
            <a:avLst/>
          </a:prstGeom>
        </p:spPr>
      </p:pic>
      <p:sp>
        <p:nvSpPr>
          <p:cNvPr id="19" name="got head 3"/>
          <p:cNvSpPr txBox="1"/>
          <p:nvPr/>
        </p:nvSpPr>
        <p:spPr>
          <a:xfrm>
            <a:off x="9281160" y="51114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Verified memo</a:t>
            </a:r>
            <a:endParaRPr lang="en-US" sz="1400" dirty="0"/>
          </a:p>
        </p:txBody>
      </p:sp>
      <p:sp>
        <p:nvSpPr>
          <p:cNvPr id="20" name="got text 3"/>
          <p:cNvSpPr txBox="1"/>
          <p:nvPr/>
        </p:nvSpPr>
        <p:spPr>
          <a:xfrm>
            <a:off x="9281160" y="549554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every number traces to its source — statement lines (click to open them), a clause, or the model; the verifier refuses unsourced numbers; hash-chained audit log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Live demo — on our samples and on anything you upload</a:t>
            </a:r>
            <a:endParaRPr lang="en-US" sz="2800" dirty="0"/>
          </a:p>
        </p:txBody>
      </p:sp>
      <p:sp>
        <p:nvSpPr>
          <p:cNvPr id="3" name="url box"/>
          <p:cNvSpPr/>
          <p:nvPr/>
        </p:nvSpPr>
        <p:spPr>
          <a:xfrm>
            <a:off x="548640" y="1325880"/>
            <a:ext cx="5577840" cy="1188720"/>
          </a:xfrm>
          <a:prstGeom prst="roundRect">
            <a:avLst>
              <a:gd name="adj" fmla="val 7692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4" name="glob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457200" cy="457200"/>
          </a:xfrm>
          <a:prstGeom prst="rect">
            <a:avLst/>
          </a:prstGeom>
        </p:spPr>
      </p:pic>
      <p:sp>
        <p:nvSpPr>
          <p:cNvPr id="5" name="url"/>
          <p:cNvSpPr txBox="1"/>
          <p:nvPr/>
        </p:nvSpPr>
        <p:spPr>
          <a:xfrm>
            <a:off x="132588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8A5"/>
                </a:solidFill>
              </a:rPr>
              <a:t>Open on your laptop or phone
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https://tys-fintech.vercel.app</a:t>
            </a:r>
            <a:endParaRPr lang="en-US" sz="1200" dirty="0"/>
          </a:p>
        </p:txBody>
      </p:sp>
      <p:sp>
        <p:nvSpPr>
          <p:cNvPr id="6" name="demo steps"/>
          <p:cNvSpPr txBox="1"/>
          <p:nvPr/>
        </p:nvSpPr>
        <p:spPr>
          <a:xfrm>
            <a:off x="548640" y="269748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1.  Load sample A — statement PDF, Soliq certificate, receipt photo parse in the tab (no server, no API)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2.  Income series, DBR with clause citations, maximum affordable amount; drag the slider to cross the 50% limit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3.  Integrity checks and risk score with drivers; click any evidence link to see the statement line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4.  Memo: verifier badge shows how many numbers were checked and that none is unsourced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5.  Record the decision; export the case with its hash-chained audit log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6.  Then: Load tampered statement — the balance chain breaks at the inflated inflow; upload your own documents</a:t>
            </a:r>
            <a:endParaRPr lang="en-US" sz="1250" dirty="0"/>
          </a:p>
        </p:txBody>
      </p:sp>
      <p:pic>
        <p:nvPicPr>
          <p:cNvPr id="7" name="screenshot integrity" descr="/home/claude/daromad/deck/img/integrity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25880"/>
            <a:ext cx="5303520" cy="2313432"/>
          </a:xfrm>
          <a:prstGeom prst="rect">
            <a:avLst/>
          </a:prstGeom>
        </p:spPr>
      </p:pic>
      <p:pic>
        <p:nvPicPr>
          <p:cNvPr id="8" name="screenshot tamper" descr="/home/claude/daromad/deck/img/tamp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3108960" cy="1600200"/>
          </a:xfrm>
          <a:prstGeom prst="rect">
            <a:avLst/>
          </a:prstGeom>
        </p:spPr>
      </p:pic>
      <p:pic>
        <p:nvPicPr>
          <p:cNvPr id="9" name="qr site" descr="/home/claude/daromad/deck/img/qr_s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703320"/>
            <a:ext cx="1828800" cy="1828800"/>
          </a:xfrm>
          <a:prstGeom prst="rect">
            <a:avLst/>
          </a:prstGeom>
        </p:spPr>
      </p:pic>
      <p:sp>
        <p:nvSpPr>
          <p:cNvPr id="10" name="qr caption"/>
          <p:cNvSpPr txBox="1"/>
          <p:nvPr/>
        </p:nvSpPr>
        <p:spPr>
          <a:xfrm>
            <a:off x="6400800" y="5577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Scan to open the live prototype on your phone (New case → Load sample 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Seven components, one optional language model, zero API keys</a:t>
            </a:r>
            <a:endParaRPr lang="en-US" sz="2800" dirty="0"/>
          </a:p>
        </p:txBody>
      </p:sp>
      <p:sp>
        <p:nvSpPr>
          <p:cNvPr id="3" name="component 0"/>
          <p:cNvSpPr/>
          <p:nvPr/>
        </p:nvSpPr>
        <p:spPr>
          <a:xfrm>
            <a:off x="54864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comp circle 0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5" name="com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74320" cy="274320"/>
          </a:xfrm>
          <a:prstGeom prst="rect">
            <a:avLst/>
          </a:prstGeom>
        </p:spPr>
      </p:pic>
      <p:sp>
        <p:nvSpPr>
          <p:cNvPr id="6" name="comp head 0"/>
          <p:cNvSpPr txBox="1"/>
          <p:nvPr/>
        </p:nvSpPr>
        <p:spPr>
          <a:xfrm>
            <a:off x="123444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1 · Intake</a:t>
            </a:r>
            <a:endParaRPr lang="en-US" sz="1400" dirty="0"/>
          </a:p>
        </p:txBody>
      </p:sp>
      <p:sp>
        <p:nvSpPr>
          <p:cNvPr id="7" name="comp text 0"/>
          <p:cNvSpPr txBox="1"/>
          <p:nvPr/>
        </p:nvSpPr>
        <p:spPr>
          <a:xfrm>
            <a:off x="68580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pdf.js with coordinates; XLSX/CSV; tesseract.js OCR uzb+rus+eng, self-hosted; field confidence, tap-to-confirm</a:t>
            </a:r>
            <a:endParaRPr lang="en-US" sz="1050" dirty="0"/>
          </a:p>
        </p:txBody>
      </p:sp>
      <p:sp>
        <p:nvSpPr>
          <p:cNvPr id="8" name="component 1"/>
          <p:cNvSpPr/>
          <p:nvPr/>
        </p:nvSpPr>
        <p:spPr>
          <a:xfrm>
            <a:off x="338328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comp circle 1"/>
          <p:cNvSpPr/>
          <p:nvPr/>
        </p:nvSpPr>
        <p:spPr>
          <a:xfrm>
            <a:off x="352044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com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554480"/>
            <a:ext cx="274320" cy="274320"/>
          </a:xfrm>
          <a:prstGeom prst="rect">
            <a:avLst/>
          </a:prstGeom>
        </p:spPr>
      </p:pic>
      <p:sp>
        <p:nvSpPr>
          <p:cNvPr id="11" name="comp head 1"/>
          <p:cNvSpPr txBox="1"/>
          <p:nvPr/>
        </p:nvSpPr>
        <p:spPr>
          <a:xfrm>
            <a:off x="406908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2 · Categoriser</a:t>
            </a:r>
            <a:endParaRPr lang="en-US" sz="1400" dirty="0"/>
          </a:p>
        </p:txBody>
      </p:sp>
      <p:sp>
        <p:nvSpPr>
          <p:cNvPr id="12" name="comp text 1"/>
          <p:cNvSpPr txBox="1"/>
          <p:nvPr/>
        </p:nvSpPr>
        <p:spPr>
          <a:xfrm>
            <a:off x="352044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multilingual rules + counterparty patterns (recurring payer → family; same mask both ways → own card)</a:t>
            </a:r>
            <a:endParaRPr lang="en-US" sz="1050" dirty="0"/>
          </a:p>
        </p:txBody>
      </p:sp>
      <p:sp>
        <p:nvSpPr>
          <p:cNvPr id="13" name="component 2"/>
          <p:cNvSpPr/>
          <p:nvPr/>
        </p:nvSpPr>
        <p:spPr>
          <a:xfrm>
            <a:off x="621792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4" name="comp circle 2"/>
          <p:cNvSpPr/>
          <p:nvPr/>
        </p:nvSpPr>
        <p:spPr>
          <a:xfrm>
            <a:off x="635508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5" name="com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274320" cy="274320"/>
          </a:xfrm>
          <a:prstGeom prst="rect">
            <a:avLst/>
          </a:prstGeom>
        </p:spPr>
      </p:pic>
      <p:sp>
        <p:nvSpPr>
          <p:cNvPr id="16" name="comp head 2"/>
          <p:cNvSpPr txBox="1"/>
          <p:nvPr/>
        </p:nvSpPr>
        <p:spPr>
          <a:xfrm>
            <a:off x="690372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3 · Cash-flow</a:t>
            </a:r>
            <a:endParaRPr lang="en-US" sz="1400" dirty="0"/>
          </a:p>
        </p:txBody>
      </p:sp>
      <p:sp>
        <p:nvSpPr>
          <p:cNvPr id="17" name="comp text 2"/>
          <p:cNvSpPr txBox="1"/>
          <p:nvPr/>
        </p:nvSpPr>
        <p:spPr>
          <a:xfrm>
            <a:off x="635508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12-month series; 18 features identical in TypeScript and Python (parity test)</a:t>
            </a:r>
            <a:endParaRPr lang="en-US" sz="1050" dirty="0"/>
          </a:p>
        </p:txBody>
      </p:sp>
      <p:sp>
        <p:nvSpPr>
          <p:cNvPr id="18" name="component 3"/>
          <p:cNvSpPr/>
          <p:nvPr/>
        </p:nvSpPr>
        <p:spPr>
          <a:xfrm>
            <a:off x="905256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9" name="comp circle 3"/>
          <p:cNvSpPr/>
          <p:nvPr/>
        </p:nvSpPr>
        <p:spPr>
          <a:xfrm>
            <a:off x="918972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0" name="comp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554480"/>
            <a:ext cx="274320" cy="274320"/>
          </a:xfrm>
          <a:prstGeom prst="rect">
            <a:avLst/>
          </a:prstGeom>
        </p:spPr>
      </p:pic>
      <p:sp>
        <p:nvSpPr>
          <p:cNvPr id="21" name="comp head 3"/>
          <p:cNvSpPr txBox="1"/>
          <p:nvPr/>
        </p:nvSpPr>
        <p:spPr>
          <a:xfrm>
            <a:off x="973836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4 · Rule engine</a:t>
            </a:r>
            <a:endParaRPr lang="en-US" sz="1400" dirty="0"/>
          </a:p>
        </p:txBody>
      </p:sp>
      <p:sp>
        <p:nvSpPr>
          <p:cNvPr id="22" name="comp text 3"/>
          <p:cNvSpPr txBox="1"/>
          <p:nvPr/>
        </p:nvSpPr>
        <p:spPr>
          <a:xfrm>
            <a:off x="918972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DBR clause by clause (Regulation 3618): 36/60/180-month spreading, guarantor rule, cl.4 exemptions, 50% limit, 15% quota bands, back-solved amount</a:t>
            </a:r>
            <a:endParaRPr lang="en-US" sz="1050" dirty="0"/>
          </a:p>
        </p:txBody>
      </p:sp>
      <p:sp>
        <p:nvSpPr>
          <p:cNvPr id="23" name="component 4"/>
          <p:cNvSpPr/>
          <p:nvPr/>
        </p:nvSpPr>
        <p:spPr>
          <a:xfrm>
            <a:off x="54864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4" name="comp circle 4"/>
          <p:cNvSpPr/>
          <p:nvPr/>
        </p:nvSpPr>
        <p:spPr>
          <a:xfrm>
            <a:off x="68580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5" name="comp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66160"/>
            <a:ext cx="274320" cy="274320"/>
          </a:xfrm>
          <a:prstGeom prst="rect">
            <a:avLst/>
          </a:prstGeom>
        </p:spPr>
      </p:pic>
      <p:sp>
        <p:nvSpPr>
          <p:cNvPr id="26" name="comp head 4"/>
          <p:cNvSpPr txBox="1"/>
          <p:nvPr/>
        </p:nvSpPr>
        <p:spPr>
          <a:xfrm>
            <a:off x="123444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5 · Risk model</a:t>
            </a:r>
            <a:endParaRPr lang="en-US" sz="1400" dirty="0"/>
          </a:p>
        </p:txBody>
      </p:sp>
      <p:sp>
        <p:nvSpPr>
          <p:cNvPr id="27" name="comp text 4"/>
          <p:cNvSpPr txBox="1"/>
          <p:nvPr/>
        </p:nvSpPr>
        <p:spPr>
          <a:xfrm>
            <a:off x="68580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XGBoost, monotone constraints, JSON trees evaluated in the browser; attributions vs portfolio median</a:t>
            </a:r>
            <a:endParaRPr lang="en-US" sz="1050" dirty="0"/>
          </a:p>
        </p:txBody>
      </p:sp>
      <p:sp>
        <p:nvSpPr>
          <p:cNvPr id="28" name="component 5"/>
          <p:cNvSpPr/>
          <p:nvPr/>
        </p:nvSpPr>
        <p:spPr>
          <a:xfrm>
            <a:off x="338328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comp circle 5"/>
          <p:cNvSpPr/>
          <p:nvPr/>
        </p:nvSpPr>
        <p:spPr>
          <a:xfrm>
            <a:off x="352044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0" name="comp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1880" y="3566160"/>
            <a:ext cx="274320" cy="274320"/>
          </a:xfrm>
          <a:prstGeom prst="rect">
            <a:avLst/>
          </a:prstGeom>
        </p:spPr>
      </p:pic>
      <p:sp>
        <p:nvSpPr>
          <p:cNvPr id="31" name="comp head 5"/>
          <p:cNvSpPr txBox="1"/>
          <p:nvPr/>
        </p:nvSpPr>
        <p:spPr>
          <a:xfrm>
            <a:off x="406908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6 · Integrity</a:t>
            </a:r>
            <a:endParaRPr lang="en-US" sz="1400" dirty="0"/>
          </a:p>
        </p:txBody>
      </p:sp>
      <p:sp>
        <p:nvSpPr>
          <p:cNvPr id="32" name="comp text 5"/>
          <p:cNvSpPr txBox="1"/>
          <p:nvPr/>
        </p:nvSpPr>
        <p:spPr>
          <a:xfrm>
            <a:off x="352044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round-sum spikes, circular transfers, holder match</a:t>
            </a:r>
            <a:endParaRPr lang="en-US" sz="1050" dirty="0"/>
          </a:p>
        </p:txBody>
      </p:sp>
      <p:sp>
        <p:nvSpPr>
          <p:cNvPr id="33" name="component 6"/>
          <p:cNvSpPr/>
          <p:nvPr/>
        </p:nvSpPr>
        <p:spPr>
          <a:xfrm>
            <a:off x="621792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4" name="comp circle 6"/>
          <p:cNvSpPr/>
          <p:nvPr/>
        </p:nvSpPr>
        <p:spPr>
          <a:xfrm>
            <a:off x="635508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5" name="comp icon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566160"/>
            <a:ext cx="274320" cy="274320"/>
          </a:xfrm>
          <a:prstGeom prst="rect">
            <a:avLst/>
          </a:prstGeom>
        </p:spPr>
      </p:pic>
      <p:sp>
        <p:nvSpPr>
          <p:cNvPr id="36" name="comp head 6"/>
          <p:cNvSpPr txBox="1"/>
          <p:nvPr/>
        </p:nvSpPr>
        <p:spPr>
          <a:xfrm>
            <a:off x="690372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7 · Memo + audit</a:t>
            </a:r>
            <a:endParaRPr lang="en-US" sz="1400" dirty="0"/>
          </a:p>
        </p:txBody>
      </p:sp>
      <p:sp>
        <p:nvSpPr>
          <p:cNvPr id="37" name="comp text 6"/>
          <p:cNvSpPr txBox="1"/>
          <p:nvPr/>
        </p:nvSpPr>
        <p:spPr>
          <a:xfrm>
            <a:off x="635508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template from a fact table; verifier rejects unsourced numbers; SHA-256 hash-chained log</a:t>
            </a:r>
            <a:endParaRPr lang="en-US" sz="1050" dirty="0"/>
          </a:p>
        </p:txBody>
      </p:sp>
      <p:sp>
        <p:nvSpPr>
          <p:cNvPr id="38" name="perimeter card"/>
          <p:cNvSpPr/>
          <p:nvPr/>
        </p:nvSpPr>
        <p:spPr>
          <a:xfrm>
            <a:off x="905256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9" name="perimeter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74720"/>
            <a:ext cx="320040" cy="320040"/>
          </a:xfrm>
          <a:prstGeom prst="rect">
            <a:avLst/>
          </a:prstGeom>
        </p:spPr>
      </p:pic>
      <p:sp>
        <p:nvSpPr>
          <p:cNvPr id="40" name="perimeter head"/>
          <p:cNvSpPr txBox="1"/>
          <p:nvPr/>
        </p:nvSpPr>
        <p:spPr>
          <a:xfrm>
            <a:off x="9601200" y="3429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Perimeter</a:t>
            </a:r>
            <a:endParaRPr lang="en-US" sz="1400" dirty="0"/>
          </a:p>
        </p:txBody>
      </p:sp>
      <p:sp>
        <p:nvSpPr>
          <p:cNvPr id="41" name="perimeter text"/>
          <p:cNvSpPr txBox="1"/>
          <p:nvPr/>
        </p:nvSpPr>
        <p:spPr>
          <a:xfrm>
            <a:off x="9189720" y="3886200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9F1EC"/>
                </a:solidFill>
              </a:rPr>
              <a:t>Prototype: static site, every byte of a document stays in the browser. Production: the same bundle on the bank's server, SSO, audit log in the bank DB, core-banking pull for own customers. LLM optional, narrative only, behind the same verifier.</a:t>
            </a:r>
            <a:endParaRPr lang="en-US" sz="1000" dirty="0"/>
          </a:p>
        </p:txBody>
      </p:sp>
      <p:sp>
        <p:nvSpPr>
          <p:cNvPr id="42" name="speed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3D"/>
                </a:solidFill>
              </a:rPr>
              <a:t>Speed: statement 1.2–1.8 s · receipt OCR 1.6 s · everything else &lt; 50 ms · marginal cost per application: zero</a:t>
            </a:r>
            <a:endParaRPr lang="en-US" sz="1200" dirty="0"/>
          </a:p>
        </p:txBody>
      </p:sp>
      <p:sp>
        <p:nvSpPr>
          <p:cNvPr id="43" name="hitl"/>
          <p:cNvSpPr txBox="1"/>
          <p:nvPr/>
        </p:nvSpPr>
        <p:spPr>
          <a:xfrm>
            <a:off x="548640" y="5715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1B"/>
                </a:solidFill>
              </a:rPr>
              <a:t>Human in the loop: the engine recommends and computes the maximum affordable amount; the officer decides; an override needs a reason, written into the chain.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Measured through the real app, not typed into a slide</a:t>
            </a:r>
            <a:endParaRPr lang="en-US" sz="2800" dirty="0"/>
          </a:p>
        </p:txBody>
      </p:sp>
      <p:sp>
        <p:nvSpPr>
          <p:cNvPr id="3" name="tile generator PDFs: exact rows, balance chain reconciled (2 layouts, RU/UZ)"/>
          <p:cNvSpPr/>
          <p:nvPr/>
        </p:nvSpPr>
        <p:spPr>
          <a:xfrm>
            <a:off x="54864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tile value generator PDFs: exact rows, balance chain reconciled (2 layouts, RU/UZ)"/>
          <p:cNvSpPr txBox="1"/>
          <p:nvPr/>
        </p:nvSpPr>
        <p:spPr>
          <a:xfrm>
            <a:off x="68580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60/60</a:t>
            </a:r>
            <a:endParaRPr lang="en-US" sz="2400" dirty="0"/>
          </a:p>
        </p:txBody>
      </p:sp>
      <p:sp>
        <p:nvSpPr>
          <p:cNvPr id="5" name="tile label generator PDFs: exact rows, balance chain reconciled (2 layouts, RU/UZ)"/>
          <p:cNvSpPr txBox="1"/>
          <p:nvPr/>
        </p:nvSpPr>
        <p:spPr>
          <a:xfrm>
            <a:off x="68580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generator PDFs: exact rows, balance chain reconciled (2 layouts, RU/UZ)</a:t>
            </a:r>
            <a:endParaRPr lang="en-US" sz="900" dirty="0"/>
          </a:p>
        </p:txBody>
      </p:sp>
      <p:sp>
        <p:nvSpPr>
          <p:cNvPr id="6" name="tile unseen layouts exact — CSV/XLSX/TSV variants incl. a wallet export (list on the model card)"/>
          <p:cNvSpPr/>
          <p:nvPr/>
        </p:nvSpPr>
        <p:spPr>
          <a:xfrm>
            <a:off x="278892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tile value unseen layouts exact — CSV/XLSX/TSV variants incl. a wallet export (list on the model card)"/>
          <p:cNvSpPr txBox="1"/>
          <p:nvPr/>
        </p:nvSpPr>
        <p:spPr>
          <a:xfrm>
            <a:off x="292608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8/8</a:t>
            </a:r>
            <a:endParaRPr lang="en-US" sz="2400" dirty="0"/>
          </a:p>
        </p:txBody>
      </p:sp>
      <p:sp>
        <p:nvSpPr>
          <p:cNvPr id="8" name="tile label unseen layouts exact — CSV/XLSX/TSV variants incl. a wallet export (list on the model card)"/>
          <p:cNvSpPr txBox="1"/>
          <p:nvPr/>
        </p:nvSpPr>
        <p:spPr>
          <a:xfrm>
            <a:off x="292608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unseen layouts exact — CSV/XLSX/TSV variants incl. a wallet export (list on the model card)</a:t>
            </a:r>
            <a:endParaRPr lang="en-US" sz="900" dirty="0"/>
          </a:p>
        </p:txBody>
      </p:sp>
      <p:sp>
        <p:nvSpPr>
          <p:cNvPr id="9" name="tile tampered statements caught, 4 tamper types; 0 false alarms on clean ones"/>
          <p:cNvSpPr/>
          <p:nvPr/>
        </p:nvSpPr>
        <p:spPr>
          <a:xfrm>
            <a:off x="502920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0" name="tile value tampered statements caught, 4 tamper types; 0 false alarms on clean ones"/>
          <p:cNvSpPr txBox="1"/>
          <p:nvPr/>
        </p:nvSpPr>
        <p:spPr>
          <a:xfrm>
            <a:off x="516636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40/40</a:t>
            </a:r>
            <a:endParaRPr lang="en-US" sz="2400" dirty="0"/>
          </a:p>
        </p:txBody>
      </p:sp>
      <p:sp>
        <p:nvSpPr>
          <p:cNvPr id="11" name="tile label tampered statements caught, 4 tamper types; 0 false alarms on clean ones"/>
          <p:cNvSpPr txBox="1"/>
          <p:nvPr/>
        </p:nvSpPr>
        <p:spPr>
          <a:xfrm>
            <a:off x="516636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tampered statements caught, 4 tamper types; 0 false alarms on clean ones</a:t>
            </a:r>
            <a:endParaRPr lang="en-US" sz="900" dirty="0"/>
          </a:p>
        </p:txBody>
      </p:sp>
      <p:sp>
        <p:nvSpPr>
          <p:cNvPr id="12" name="tile receipt OCR total exact, 60 camera-augmented photos; INN 100%, date 97%"/>
          <p:cNvSpPr/>
          <p:nvPr/>
        </p:nvSpPr>
        <p:spPr>
          <a:xfrm>
            <a:off x="54864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3" name="tile value receipt OCR total exact, 60 camera-augmented photos; INN 100%, date 97%"/>
          <p:cNvSpPr txBox="1"/>
          <p:nvPr/>
        </p:nvSpPr>
        <p:spPr>
          <a:xfrm>
            <a:off x="68580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95%</a:t>
            </a:r>
            <a:endParaRPr lang="en-US" sz="2400" dirty="0"/>
          </a:p>
        </p:txBody>
      </p:sp>
      <p:sp>
        <p:nvSpPr>
          <p:cNvPr id="14" name="tile label receipt OCR total exact, 60 camera-augmented photos; INN 100%, date 97%"/>
          <p:cNvSpPr txBox="1"/>
          <p:nvPr/>
        </p:nvSpPr>
        <p:spPr>
          <a:xfrm>
            <a:off x="68580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receipt OCR total exact, 60 camera-augmented photos; INN 100%, date 97%</a:t>
            </a:r>
            <a:endParaRPr lang="en-US" sz="900" dirty="0"/>
          </a:p>
        </p:txBody>
      </p:sp>
      <p:sp>
        <p:nvSpPr>
          <p:cNvPr id="15" name="tile ROC-AUC, synthetic holdout n=500; logistic 0.963, ratio alone 0.948"/>
          <p:cNvSpPr/>
          <p:nvPr/>
        </p:nvSpPr>
        <p:spPr>
          <a:xfrm>
            <a:off x="278892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6" name="tile value ROC-AUC, synthetic holdout n=500; logistic 0.963, ratio alone 0.948"/>
          <p:cNvSpPr txBox="1"/>
          <p:nvPr/>
        </p:nvSpPr>
        <p:spPr>
          <a:xfrm>
            <a:off x="292608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0.965</a:t>
            </a:r>
            <a:endParaRPr lang="en-US" sz="2400" dirty="0"/>
          </a:p>
        </p:txBody>
      </p:sp>
      <p:sp>
        <p:nvSpPr>
          <p:cNvPr id="17" name="tile label ROC-AUC, synthetic holdout n=500; logistic 0.963, ratio alone 0.948"/>
          <p:cNvSpPr txBox="1"/>
          <p:nvPr/>
        </p:nvSpPr>
        <p:spPr>
          <a:xfrm>
            <a:off x="292608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synthetic holdout n=500; logistic 0.963, ratio alone 0.948</a:t>
            </a:r>
            <a:endParaRPr lang="en-US" sz="900" dirty="0"/>
          </a:p>
        </p:txBody>
      </p:sp>
      <p:sp>
        <p:nvSpPr>
          <p:cNvPr id="18" name="tile ROC-AUC, real bank data (Berka, 443 loans, 44 bad; 95% CI ≈ 0.86–0.94); ratio alone 0.735"/>
          <p:cNvSpPr/>
          <p:nvPr/>
        </p:nvSpPr>
        <p:spPr>
          <a:xfrm>
            <a:off x="502920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9" name="tile value ROC-AUC, real bank data (Berka, 443 loans, 44 bad; 95% CI ≈ 0.86–0.94); ratio alone 0.735"/>
          <p:cNvSpPr txBox="1"/>
          <p:nvPr/>
        </p:nvSpPr>
        <p:spPr>
          <a:xfrm>
            <a:off x="516636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0.902</a:t>
            </a:r>
            <a:endParaRPr lang="en-US" sz="2400" dirty="0"/>
          </a:p>
        </p:txBody>
      </p:sp>
      <p:sp>
        <p:nvSpPr>
          <p:cNvPr id="20" name="tile label ROC-AUC, real bank data (Berka, 443 loans, 44 bad; 95% CI ≈ 0.86–0.94); ratio alone 0.735"/>
          <p:cNvSpPr txBox="1"/>
          <p:nvPr/>
        </p:nvSpPr>
        <p:spPr>
          <a:xfrm>
            <a:off x="516636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real bank data (Berka, 443 loans, 44 bad; 95% CI ≈ 0.86–0.94); ratio alone 0.735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406640" y="1325880"/>
          <a:ext cx="42976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reading"/>
          <p:cNvSpPr txBox="1"/>
          <p:nvPr/>
        </p:nvSpPr>
        <p:spPr>
          <a:xfrm>
            <a:off x="548640" y="4343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01B"/>
                </a:solidFill>
              </a:rPr>
              <a:t>Honest reading: on synthetic data the ratio already carries most of the signal by construction; on real statements the cash-flow features add +0.17 AUC over the ratio, and logistic regression comes close to the trees — we ship the trees for the monotone constraints and non-linear thresholds, not for the last 0.01. Categoriser: 99.96% on 10,481 lines of the generator's own vocabulary — will fall on real data. Memo verifier: 0 unsourced numbers across a 300-scenario sweep (amounts × terms × products × borrowers), enforced at run time.</a:t>
            </a:r>
            <a:endParaRPr lang="en-US" sz="1000" dirty="0"/>
          </a:p>
        </p:txBody>
      </p:sp>
      <p:pic>
        <p:nvPicPr>
          <p:cNvPr id="23" name="screenshot eval" descr="/home/claude/daromad/deck/img/eval_kp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57800"/>
            <a:ext cx="5852160" cy="1097280"/>
          </a:xfrm>
          <a:prstGeom prst="rect">
            <a:avLst/>
          </a:prstGeom>
        </p:spPr>
      </p:pic>
      <p:sp>
        <p:nvSpPr>
          <p:cNvPr id="24" name="provenance"/>
          <p:cNvSpPr txBox="1"/>
          <p:nvPr/>
        </p:nvSpPr>
        <p:spPr>
          <a:xfrm>
            <a:off x="7406640" y="4343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All numbers are read from JSON produced by ml/train.py, ml/berka_validate.py, npm test and tests/*_eval.py (see the Model card page).</a:t>
            </a:r>
            <a:endParaRPr lang="en-US" sz="1000" dirty="0"/>
          </a:p>
        </p:txBody>
      </p:sp>
      <p:sp>
        <p:nvSpPr>
          <p:cNvPr id="25" name="caveat"/>
          <p:cNvSpPr txBox="1"/>
          <p:nvPr/>
        </p:nvSpPr>
        <p:spPr>
          <a:xfrm>
            <a:off x="7406640" y="51206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</a:rPr>
              <a:t>Caveat on the slide, not in the footnote: the risk score is advisory until retrained on the bank's own history inside the perimeter — that is the pilot's first deliverable.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No partner data, so we built a declared generator</a:t>
            </a:r>
            <a:endParaRPr lang="en-US" sz="2800" dirty="0"/>
          </a:p>
        </p:txBody>
      </p:sp>
      <p:sp>
        <p:nvSpPr>
          <p:cNvPr id="3" name="gen num bg 0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" name="gen num 0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gen head 0"/>
          <p:cNvSpPr txBox="1"/>
          <p:nvPr/>
        </p:nvSpPr>
        <p:spPr>
          <a:xfrm>
            <a:off x="1188720" y="13258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Archetypes</a:t>
            </a:r>
            <a:endParaRPr lang="en-US" sz="1400" dirty="0"/>
          </a:p>
        </p:txBody>
      </p:sp>
      <p:sp>
        <p:nvSpPr>
          <p:cNvPr id="6" name="gen text 0"/>
          <p:cNvSpPr txBox="1"/>
          <p:nvPr/>
        </p:nvSpPr>
        <p:spPr>
          <a:xfrm>
            <a:off x="1188720" y="165506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10 trades (tailor, taxi, dehkan farmer, grocer, reseller, tutor…) with declared seasonality, customer counts, channel mix, expense structure</a:t>
            </a:r>
            <a:endParaRPr lang="en-US" sz="1050" dirty="0"/>
          </a:p>
        </p:txBody>
      </p:sp>
      <p:sp>
        <p:nvSpPr>
          <p:cNvPr id="7" name="gen num bg 1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gen num 1"/>
          <p:cNvSpPr txBox="1"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gen head 1"/>
          <p:cNvSpPr txBox="1"/>
          <p:nvPr/>
        </p:nvSpPr>
        <p:spPr>
          <a:xfrm>
            <a:off x="1188720" y="22860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Simulation</a:t>
            </a:r>
            <a:endParaRPr lang="en-US" sz="1400" dirty="0"/>
          </a:p>
        </p:txBody>
      </p:sp>
      <p:sp>
        <p:nvSpPr>
          <p:cNvPr id="10" name="gen text 1"/>
          <p:cNvSpPr txBox="1"/>
          <p:nvPr/>
        </p:nvSpPr>
        <p:spPr>
          <a:xfrm>
            <a:off x="1188720" y="261518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2,000 borrowers · 5,689,589 transactions · existing loans with annuity schedules · shocks · default label from a latent affordability score (10.5% rate)</a:t>
            </a:r>
            <a:endParaRPr lang="en-US" sz="1050" dirty="0"/>
          </a:p>
        </p:txBody>
      </p:sp>
      <p:sp>
        <p:nvSpPr>
          <p:cNvPr id="11" name="gen num bg 2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gen num 2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gen head 2"/>
          <p:cNvSpPr txBox="1"/>
          <p:nvPr/>
        </p:nvSpPr>
        <p:spPr>
          <a:xfrm>
            <a:off x="1188720" y="32461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Rendering</a:t>
            </a:r>
            <a:endParaRPr lang="en-US" sz="1400" dirty="0"/>
          </a:p>
        </p:txBody>
      </p:sp>
      <p:sp>
        <p:nvSpPr>
          <p:cNvPr id="14" name="gen text 2"/>
          <p:cNvSpPr txBox="1"/>
          <p:nvPr/>
        </p:nvSpPr>
        <p:spPr>
          <a:xfrm>
            <a:off x="1188720" y="357530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60 statement sets as PDF (text layer) + XLSX + CSV in RU and UZ layouts; 180 fiscal receipts; Soliq-style certificates with QR</a:t>
            </a:r>
            <a:endParaRPr lang="en-US" sz="1050" dirty="0"/>
          </a:p>
        </p:txBody>
      </p:sp>
      <p:sp>
        <p:nvSpPr>
          <p:cNvPr id="15" name="gen num bg 3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6" name="gen num 3"/>
          <p:cNvSpPr txBox="1"/>
          <p:nvPr/>
        </p:nvSpPr>
        <p:spPr>
          <a:xfrm>
            <a:off x="5486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gen head 3"/>
          <p:cNvSpPr txBox="1"/>
          <p:nvPr/>
        </p:nvSpPr>
        <p:spPr>
          <a:xfrm>
            <a:off x="1188720" y="42062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Camera model</a:t>
            </a:r>
            <a:endParaRPr lang="en-US" sz="1400" dirty="0"/>
          </a:p>
        </p:txBody>
      </p:sp>
      <p:sp>
        <p:nvSpPr>
          <p:cNvPr id="18" name="gen text 3"/>
          <p:cNvSpPr txBox="1"/>
          <p:nvPr/>
        </p:nvSpPr>
        <p:spPr>
          <a:xfrm>
            <a:off x="1188720" y="453542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perspective, rotation, lighting gradient, blur, sensor noise, JPEG — then measured through the same OCR the officer uses</a:t>
            </a:r>
            <a:endParaRPr lang="en-US" sz="1050" dirty="0"/>
          </a:p>
        </p:txBody>
      </p:sp>
      <p:sp>
        <p:nvSpPr>
          <p:cNvPr id="19" name="gen num bg 4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gen num 4"/>
          <p:cNvSpPr txBox="1"/>
          <p:nvPr/>
        </p:nvSpPr>
        <p:spPr>
          <a:xfrm>
            <a:off x="54864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gen head 4"/>
          <p:cNvSpPr txBox="1"/>
          <p:nvPr/>
        </p:nvSpPr>
        <p:spPr>
          <a:xfrm>
            <a:off x="1188720" y="51663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Tampering</a:t>
            </a:r>
            <a:endParaRPr lang="en-US" sz="1400" dirty="0"/>
          </a:p>
        </p:txBody>
      </p:sp>
      <p:sp>
        <p:nvSpPr>
          <p:cNvPr id="22" name="gen text 4"/>
          <p:cNvSpPr txBox="1"/>
          <p:nvPr/>
        </p:nvSpPr>
        <p:spPr>
          <a:xfrm>
            <a:off x="1188720" y="549554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40 statements: inflated inflow, deleted debit, duplicated row, window dressing — labelled for the integrity evaluation</a:t>
            </a:r>
            <a:endParaRPr lang="en-US" sz="1050" dirty="0"/>
          </a:p>
        </p:txBody>
      </p:sp>
      <p:pic>
        <p:nvPicPr>
          <p:cNvPr id="23" name="statement thumbnail" descr="/home/claude/daromad/deck/img/stmt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25880"/>
            <a:ext cx="2286000" cy="3236976"/>
          </a:xfrm>
          <a:prstGeom prst="rect">
            <a:avLst/>
          </a:prstGeom>
        </p:spPr>
      </p:pic>
      <p:pic>
        <p:nvPicPr>
          <p:cNvPr id="24" name="receipt photo" descr="/home/claude/daromad/deck/img/recei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25880"/>
            <a:ext cx="2057400" cy="2258568"/>
          </a:xfrm>
          <a:prstGeom prst="rect">
            <a:avLst/>
          </a:prstGeom>
        </p:spPr>
      </p:pic>
      <p:sp>
        <p:nvSpPr>
          <p:cNvPr id="25" name="image caption"/>
          <p:cNvSpPr txBox="1"/>
          <p:nvPr/>
        </p:nvSpPr>
        <p:spPr>
          <a:xfrm>
            <a:off x="7223760" y="4709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Synthetic statement (Humo-style layout, Russian labels) and a camera-augmented synthetic fiscal receipt. No real person is represented; names come from a short public list, card numbers are random and masked.</a:t>
            </a:r>
            <a:endParaRPr lang="en-US" sz="1000" dirty="0"/>
          </a:p>
        </p:txBody>
      </p:sp>
      <p:sp>
        <p:nvSpPr>
          <p:cNvPr id="26" name="regen cmd"/>
          <p:cNvSpPr txBox="1"/>
          <p:nvPr/>
        </p:nvSpPr>
        <p:spPr>
          <a:xfrm>
            <a:off x="7223760" y="5623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Regenerate:  python -m synth.cli --n 2000 --render 60 --receipts 180 --tamper 40 --seed 42</a:t>
            </a:r>
            <a:endParaRPr lang="en-US" sz="1000" dirty="0"/>
          </a:p>
        </p:txBody>
      </p:sp>
      <p:sp>
        <p:nvSpPr>
          <p:cNvPr id="27" name="berka note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Also: methodology check on real anonymised bank data (Berka, PKDD'99) — not redistributed, downloaded by script.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Pilot: three months, five branches, fifty mahalla agents</a:t>
            </a:r>
            <a:endParaRPr lang="en-US" sz="2800" dirty="0"/>
          </a:p>
        </p:txBody>
      </p:sp>
      <p:sp>
        <p:nvSpPr>
          <p:cNvPr id="3" name="cost caption"/>
          <p:cNvSpPr txBox="1"/>
          <p:nvPr/>
        </p:nvSpPr>
        <p:spPr>
          <a:xfrm>
            <a:off x="54864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Cost to build and run the pilot (assumptions, UZS)</a:t>
            </a:r>
            <a:endParaRPr lang="en-US" sz="1400" dirty="0"/>
          </a:p>
        </p:txBody>
      </p:sp>
      <p:graphicFrame>
        <p:nvGraphicFramePr>
          <p:cNvPr id="9" name="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Line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Assumption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3-month cost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Team: 3 engineers/analysts (TYS)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3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135M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credit analyst, part-time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0.5 FTE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22.5M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Infrastructure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 VM in the bank DC, no GPU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Integration (core banking, bureau)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IT, 20 person-days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Data, licences, API spend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none — open-source, no external API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Total pilot (≈ $15k)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≈ 190M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</a:tbl>
          </a:graphicData>
        </a:graphic>
      </p:graphicFrame>
      <p:sp>
        <p:nvSpPr>
          <p:cNvPr id="5" name="run cost"/>
          <p:cNvSpPr txBox="1"/>
          <p:nvPr/>
        </p:nvSpPr>
        <p:spPr>
          <a:xfrm>
            <a:off x="548640" y="43434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Running cost per application: zero marginal (static bundle; no API, no GPU). Optional narrative LLM on one on-prem GPU: well under 1 US cent per application.</a:t>
            </a:r>
            <a:endParaRPr lang="en-US" sz="1050" dirty="0"/>
          </a:p>
        </p:txBody>
      </p:sp>
      <p:sp>
        <p:nvSpPr>
          <p:cNvPr id="6" name="timeline"/>
          <p:cNvSpPr txBox="1"/>
          <p:nvPr/>
        </p:nvSpPr>
        <p:spPr>
          <a:xfrm>
            <a:off x="548640" y="49834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Timeline: month 1 shadow mode (engine runs beside the manual process; we measure minutes and agreement) · months 2–3 assisted mode (officer works from the memo) · success metrics: minutes per application, agreement with committee, override rate, DBR audit findings, retrained model AUC on bank history.</a:t>
            </a:r>
            <a:endParaRPr lang="en-US" sz="1050" dirty="0"/>
          </a:p>
        </p:txBody>
      </p:sp>
      <p:sp>
        <p:nvSpPr>
          <p:cNvPr id="7" name="value caption"/>
          <p:cNvSpPr txBox="1"/>
          <p:nvPr/>
        </p:nvSpPr>
        <p:spPr>
          <a:xfrm>
            <a:off x="649224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Value — the officer-hours formula (every term is a slider)</a:t>
            </a:r>
            <a:endParaRPr lang="en-US" sz="1400" dirty="0"/>
          </a:p>
        </p:txBody>
      </p:sp>
      <p:sp>
        <p:nvSpPr>
          <p:cNvPr id="8" name="tile document handling per application, before → with Daromad (assumption 1; the pilot measures it)"/>
          <p:cNvSpPr/>
          <p:nvPr/>
        </p:nvSpPr>
        <p:spPr>
          <a:xfrm>
            <a:off x="649224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tile value document handling per application, before → with Daromad (assumption 1; the pilot measures it)"/>
          <p:cNvSpPr txBox="1"/>
          <p:nvPr/>
        </p:nvSpPr>
        <p:spPr>
          <a:xfrm>
            <a:off x="662940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90 → 25 min</a:t>
            </a:r>
            <a:endParaRPr lang="en-US" sz="2200" dirty="0"/>
          </a:p>
        </p:txBody>
      </p:sp>
      <p:sp>
        <p:nvSpPr>
          <p:cNvPr id="10" name="tile label document handling per application, before → with Daromad (assumption 1; the pilot measures it)"/>
          <p:cNvSpPr txBox="1"/>
          <p:nvPr/>
        </p:nvSpPr>
        <p:spPr>
          <a:xfrm>
            <a:off x="662940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63"/>
                </a:solidFill>
              </a:rPr>
              <a:t>document handling per application, before → with Daromad (assumption 1; the pilot measures it)</a:t>
            </a:r>
            <a:endParaRPr lang="en-US" sz="950" dirty="0"/>
          </a:p>
        </p:txBody>
      </p:sp>
      <p:sp>
        <p:nvSpPr>
          <p:cNvPr id="11" name="tile addressable applications: 30% of MKBANK's 140,000 micro-projects (bank's own 2026 target) — those outside the cl.4-exempt family programme (assumption 2)"/>
          <p:cNvSpPr/>
          <p:nvPr/>
        </p:nvSpPr>
        <p:spPr>
          <a:xfrm>
            <a:off x="918972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2" name="tile value addressable applications: 30% of MKBANK&amp;apos;s 140,000 micro-projects (bank&amp;apos;s own 2026 target) — those outside the cl.4-exempt family programme (assumption 2)"/>
          <p:cNvSpPr txBox="1"/>
          <p:nvPr/>
        </p:nvSpPr>
        <p:spPr>
          <a:xfrm>
            <a:off x="932688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≈ 42,000 / yr</a:t>
            </a:r>
            <a:endParaRPr lang="en-US" sz="2200" dirty="0"/>
          </a:p>
        </p:txBody>
      </p:sp>
      <p:sp>
        <p:nvSpPr>
          <p:cNvPr id="13" name="tile label addressable applications: 30% of MKBANK&amp;apos;s 140,000 micro-projects (bank&amp;apos;s own 2026 target) — those outside the cl.4-exempt family programme (assumption 2)"/>
          <p:cNvSpPr txBox="1"/>
          <p:nvPr/>
        </p:nvSpPr>
        <p:spPr>
          <a:xfrm>
            <a:off x="932688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B63"/>
                </a:solidFill>
              </a:rPr>
              <a:t>addressable applications: 30% of MKBANK's 140,000 micro-projects (bank's own 2026 target) — those outside the cl.4-exempt family programme (assumption 2)</a:t>
            </a:r>
            <a:endParaRPr lang="en-US" sz="850" dirty="0"/>
          </a:p>
        </p:txBody>
      </p:sp>
      <p:sp>
        <p:nvSpPr>
          <p:cNvPr id="14" name="tile officer-hours saved per year = 42,000 × 65 min ≈ 23 FTE-years at 2,000 h"/>
          <p:cNvSpPr/>
          <p:nvPr/>
        </p:nvSpPr>
        <p:spPr>
          <a:xfrm>
            <a:off x="649224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5" name="tile value officer-hours saved per year = 42,000 × 65 min ≈ 23 FTE-years at 2,000 h"/>
          <p:cNvSpPr txBox="1"/>
          <p:nvPr/>
        </p:nvSpPr>
        <p:spPr>
          <a:xfrm>
            <a:off x="662940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≈ 45,000 h</a:t>
            </a:r>
            <a:endParaRPr lang="en-US" sz="2200" dirty="0"/>
          </a:p>
        </p:txBody>
      </p:sp>
      <p:sp>
        <p:nvSpPr>
          <p:cNvPr id="16" name="tile label officer-hours saved per year = 42,000 × 65 min ≈ 23 FTE-years at 2,000 h"/>
          <p:cNvSpPr txBox="1"/>
          <p:nvPr/>
        </p:nvSpPr>
        <p:spPr>
          <a:xfrm>
            <a:off x="662940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officer-hours saved per year = 42,000 × 65 min ≈ 23 FTE-years at 2,000 h</a:t>
            </a:r>
            <a:endParaRPr lang="en-US" sz="950" dirty="0"/>
          </a:p>
        </p:txBody>
      </p:sp>
      <p:sp>
        <p:nvSpPr>
          <p:cNvPr id="17" name="tile 23 FTE × 15M/month × 12 — officer time only; at a 10% addressable share ≈ 1.4 bn"/>
          <p:cNvSpPr/>
          <p:nvPr/>
        </p:nvSpPr>
        <p:spPr>
          <a:xfrm>
            <a:off x="918972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8" name="tile value 23 FTE × 15M/month × 12 — officer time only; at a 10% addressable share ≈ 1.4 bn"/>
          <p:cNvSpPr txBox="1"/>
          <p:nvPr/>
        </p:nvSpPr>
        <p:spPr>
          <a:xfrm>
            <a:off x="932688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≈ 4.1 bn UZS/yr</a:t>
            </a:r>
            <a:endParaRPr lang="en-US" sz="2000" dirty="0"/>
          </a:p>
        </p:txBody>
      </p:sp>
      <p:sp>
        <p:nvSpPr>
          <p:cNvPr id="19" name="tile label 23 FTE × 15M/month × 12 — officer time only; at a 10% addressable share ≈ 1.4 bn"/>
          <p:cNvSpPr txBox="1"/>
          <p:nvPr/>
        </p:nvSpPr>
        <p:spPr>
          <a:xfrm>
            <a:off x="932688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23 FTE × 15M/month × 12 — officer time only; at a 10% addressable share ≈ 1.4 bn</a:t>
            </a:r>
            <a:endParaRPr lang="en-US" sz="950" dirty="0"/>
          </a:p>
        </p:txBody>
      </p:sp>
      <p:sp>
        <p:nvSpPr>
          <p:cNvPr id="20" name="payback"/>
          <p:cNvSpPr txBox="1"/>
          <p:nvPr/>
        </p:nvSpPr>
        <p:spPr>
          <a:xfrm>
            <a:off x="6492240" y="4160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1B"/>
                </a:solidFill>
              </a:rPr>
              <a:t>Payback: </a:t>
            </a:r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the ≈ 190M pilot itself (5 of 181 branches, 3 months) does not pay back — it measures the two assumptions. After roll-out the saving of ≈ 4.1 bn/yr repays the pilot within its first month; at a 10% addressable share, within two months. Not counted: faster time-to-decision for the borrower, fewer DBR compliance findings, better risk selection — claimed only after the pilot measures them.</a:t>
            </a:r>
            <a:endParaRPr lang="en-US" sz="1050" dirty="0"/>
          </a:p>
        </p:txBody>
      </p:sp>
      <p:sp>
        <p:nvSpPr>
          <p:cNvPr id="21" name="owner"/>
          <p:cNvSpPr txBox="1"/>
          <p:nvPr/>
        </p:nvSpPr>
        <p:spPr>
          <a:xfrm>
            <a:off x="6492240" y="55778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3"/>
                </a:solidFill>
              </a:rPr>
              <a:t>Who pays: MKBANK (credit department / digital budget). Who owns: micro &amp; family-business credit department; IT deploys; mahalla agents and loan officers use 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Hard to copy in a weekend — and what comes next</a:t>
            </a:r>
            <a:endParaRPr lang="en-US" sz="2800" dirty="0"/>
          </a:p>
        </p:txBody>
      </p:sp>
      <p:sp>
        <p:nvSpPr>
          <p:cNvPr id="3" name="replication card"/>
          <p:cNvSpPr/>
          <p:nvPr/>
        </p:nvSpPr>
        <p:spPr>
          <a:xfrm>
            <a:off x="548640" y="132588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4" name="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65760" cy="365760"/>
          </a:xfrm>
          <a:prstGeom prst="rect">
            <a:avLst/>
          </a:prstGeom>
        </p:spPr>
      </p:pic>
      <p:sp>
        <p:nvSpPr>
          <p:cNvPr id="5" name="replication head"/>
          <p:cNvSpPr txBox="1"/>
          <p:nvPr/>
        </p:nvSpPr>
        <p:spPr>
          <a:xfrm>
            <a:off x="118872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The replication test — what the same LLM tools do not give you</a:t>
            </a:r>
            <a:endParaRPr lang="en-US" sz="1400" dirty="0"/>
          </a:p>
        </p:txBody>
      </p:sp>
      <p:sp>
        <p:nvSpPr>
          <p:cNvPr id="6" name="bullets"/>
          <p:cNvSpPr txBox="1"/>
          <p:nvPr/>
        </p:nvSpPr>
        <p:spPr>
          <a:xfrm>
            <a:off x="731520" y="2057400"/>
            <a:ext cx="5120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Statement parsers that learn columns from the data rows (two Uzbek layouts today, any text-layer PDF, XLSX, CSV) and reconcile the balance chain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categoriser lexicon in Uzbek Latin, Cyrillic and Russian with counterparty-pattern rules — and the pilot plan to grow it on bank data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rule engine mapped clause by clause to the live bank regulation (No. 3618), with its exemptions, quota bands and the back-solved maximum amount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memo verifier that makes unsourced numbers impossible — zero hallucination by construction, no LLM needed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declared, calibrated synthetic population with rendered documents, a camera model and labelled tampering — a test bed the bank can keep using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Evaluation through the real app, reproducible with one command each</a:t>
            </a:r>
            <a:endParaRPr lang="en-US" sz="1150" dirty="0"/>
          </a:p>
        </p:txBody>
      </p:sp>
      <p:sp>
        <p:nvSpPr>
          <p:cNvPr id="7" name="next card"/>
          <p:cNvSpPr/>
          <p:nvPr/>
        </p:nvSpPr>
        <p:spPr>
          <a:xfrm>
            <a:off x="6309360" y="1325880"/>
            <a:ext cx="539496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lay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08760"/>
            <a:ext cx="365760" cy="365760"/>
          </a:xfrm>
          <a:prstGeom prst="rect">
            <a:avLst/>
          </a:prstGeom>
        </p:spPr>
      </p:pic>
      <p:sp>
        <p:nvSpPr>
          <p:cNvPr id="9" name="next head"/>
          <p:cNvSpPr txBox="1"/>
          <p:nvPr/>
        </p:nvSpPr>
        <p:spPr>
          <a:xfrm>
            <a:off x="69494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10" name="bullets"/>
          <p:cNvSpPr txBox="1"/>
          <p:nvPr/>
        </p:nvSpPr>
        <p:spPr>
          <a:xfrm>
            <a:off x="6492240" y="20574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Week 1–2: scanned-statement OCR page by page; lexicon growth on anonymised bank descriptions; Uzbek/Russian memo templates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1: shadow mode in 5 branches; core-banking pull for MKBANK's own account holders; credit-bureau REST for obligations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2–3: assisted mode; retrain the risk model on bank history inside the perimeter; set risk bands with the bank's risk appetite; fairness review by region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After the pilot: Central Bank conversation — the same engine computes DBR uniformly for any lender, a supervisory check at zero marginal cost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 scope today: Ommabop 2, Express, Business Online 2 (DBR applies) and family-programme loans (exempt from the cap, capacity still assessed)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Daromad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E9F1EC"/>
                </a:solidFill>
              </a:rPr>
              <a:t>Income evidence for borrowers who have no payslip — regulation-native, perimeter-native, verified.</a:t>
            </a:r>
            <a:endParaRPr lang="en-US" sz="1800" dirty="0"/>
          </a:p>
        </p:txBody>
      </p:sp>
      <p:sp>
        <p:nvSpPr>
          <p:cNvPr id="4" name="closing links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Live: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https://tys-fintech.vercel.app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Repo: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https://github.com/hmunisbekk-droid/TYS-fintech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Team TYS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References (1/2)</a:t>
            </a:r>
            <a:endParaRPr lang="en-US" sz="2800" dirty="0"/>
          </a:p>
        </p:txBody>
      </p:sp>
      <p:sp>
        <p:nvSpPr>
          <p:cNvPr id="3" name="references 1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Agency of Statistics under the President of the Republic of Uzbekistan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Average monthly nominal wages: official statistics.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Tashkent: Agency of Statistics. Available from https://stat.uz/en/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Berka, P. and Sochorová, M. (1999). Guide to the financial data set. In: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PKDD'99 Discovery Challenge: workshop notes.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Prague: University of Economics. Available from https://sorry.vse.cz/~berka/challenge/pkdd1999/berka.htm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Bradski, G. (2000). The OpenCV library.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Dr. Dobb's Journal of Software Tools,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25 (11), 120-125.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Central Bank of the Republic of Uzbekistan (2019).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Микромолия ташкилоти ва ломбард томонидан бериладиган кредитлар (микроқарзлар) бўйича қарз олувчи жисмоний шахсларнинг қарз юкини тартибга солиш тўғрисидаги низомни тасдиқлаш ҳақида [On approval of the Regulation on regulating the debt burden of individuals borrowing from microfinance organisations and pawnshops].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Board decision No. 24/5 of 28 September 2019, registration No. 3205 of 19 December 2019, as amended to 24 July 2025. Tashkent: National Database of Legislation of the Republic of Uzbekistan. Available from https://lex.uz/docs/4654149 [Accessed 11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Central Bank of the Republic of Uzbekistan (2025).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Банкларга ўрнатиладиган макропруденциал нормативлар ҳамда улар томонидан бериладиган кредитлар (микроқарзлар) бўйича тўловларнинг энг юқори қийматларига доир талаблар тўғрисидаги низомни тасдиқлаш ҳақида [On approval of the Regulation on macroprudential norms set for banks and on the maximum values of payments on loans (microloans) issued by them].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Board decision No. 7/3 of 8 April 2025, registration No. 3618 of 22 April 2025, as amended by Board decision No. 31/9 of 5 December 2025. Tashkent: National Database of Legislation of the Republic of Uzbekistan. Available from https://lex.uz/uz/docs/7491592 [Accessed 11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Chen, T. and Guestrin, C. (2016). XGBoost: a scalable tree boosting system. In: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Proceedings of the 22nd ACM SIGKDD International Conference on Knowledge Discovery and Data Mining (KDD '16).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New York: ACM, 785-794. Available from https://doi.org/10.1145/2939672.2939785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e965 (2024).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sheetjs-npm-publisher: automated npm releases of SheetJS Community Edition (Version 0.20.3)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https://github.com/e965/sheetjs-npm-publisher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Harris, C.R. et al. (2020). Array programming with NumPy.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Nature,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585 (7825), 357-362. Available from https://doi.org/10.1038/s41586-020-2649-2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Lacko, J. (no date).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berka-dataset: mirror of the PKDD'99 financial data set [Dataset].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https://github.com/jlacko/berka-dataset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McKinney, W. (2010). Data structures for statistical computing in Python. In: van der Walt, S. and Millman, J. (eds.)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Proceedings of the 9th Python in Science Conference.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Austin, TX: SciPy, 56-61.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Meta Platforms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React (Version 19)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https://react.dev [Accessed 10 October 2026].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References (2/2)</a:t>
            </a:r>
            <a:endParaRPr lang="en-US" sz="2800" dirty="0"/>
          </a:p>
        </p:txBody>
      </p:sp>
      <p:sp>
        <p:nvSpPr>
          <p:cNvPr id="3" name="references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Microsoft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Playwright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https://playwright.dev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Mikrokreditbank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Credit products: Ommabop 2, Express, Business Online 2 and family-entrepreneurship programmes.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https://mkbank.uz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Mozilla (2025).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PDF.js (pdfjs-dist Version 4.10)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https://github.com/mozilla/pdf.js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Pedregosa, F. et al. (2011). Scikit-learn: machine learning in Python.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Journal of Machine Learning Research,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12, 2825-2830.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SheetJS LLC (2024).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SheetJS Community Edition (Version 0.20.3)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https://sheetjs.com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Smith, R. (2007). An overview of the Tesseract OCR engine. In: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Ninth International Conference on Document Analysis and Recognition (ICDAR 2007).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Washington, DC: IEEE Computer Society, 629-633. Available from https://doi.org/10.1109/ICDAR.2007.4376991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Spot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«Микрокредитбанк» выделит 7,4 трлн сумов малому и среднему бизнесу в 2026 году [Mikrokreditbank will allocate 7.4 trillion soums to small and medium business in 2026].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Sponsored article, 27 March. Available from https://www.spot.uz/ru/2026/03/27/mk-bank/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Tesseract OCR (no date).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tessdata_fast: fast integer versions of trained LSTM models (uzb, uzb_cyrl, rus, eng) [Data files].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https://github.com/tesseract-ocr/tessdata_fast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Tesseract.js contributors (2025).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Tesseract.js (Version 6)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https://github.com/naptha/tesseract.js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Vercel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Next.js (Version 16)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https://nextjs.org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Yuz.uz (2021).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Почти 800 тысяч граждан Узбекистана выбрали самозанятость [Nearly 800 thousand citizens of Uzbekistan chose self-employment].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6 May. Available from https://yuz.uz/ru/news/pochti-800-tsyach-grajdan-uzbekistana-vbrali-samozanyatost [Accessed 10 October 2026].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romad">
  <a:themeElements>
    <a:clrScheme name="Daromad">
      <a:dk1>
        <a:srgbClr val="17201B"/>
      </a:dk1>
      <a:lt1>
        <a:srgbClr val="FFFFFF"/>
      </a:lt1>
      <a:dk2>
        <a:srgbClr val="1F4E3D"/>
      </a:dk2>
      <a:lt2>
        <a:srgbClr val="E9F1EC"/>
      </a:lt2>
      <a:accent1>
        <a:srgbClr val="1F4E3D"/>
      </a:accent1>
      <a:accent2>
        <a:srgbClr val="D98E04"/>
      </a:accent2>
      <a:accent3>
        <a:srgbClr val="2E7D5B"/>
      </a:accent3>
      <a:accent4>
        <a:srgbClr val="5C6B63"/>
      </a:accent4>
      <a:accent5>
        <a:srgbClr val="B23A3A"/>
      </a:accent5>
      <a:accent6>
        <a:srgbClr val="8FB8A5"/>
      </a:accent6>
      <a:hlink>
        <a:srgbClr val="1F4E3D"/>
      </a:hlink>
      <a:folHlink>
        <a:srgbClr val="5C6B63"/>
      </a:folHlink>
    </a:clrScheme>
    <a:fontScheme name="Daroma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Daromad — Income Evidence Engine</dc:title>
  <dc:subject>FinTech / AI in Finance hackathon final</dc:subject>
  <dc:creator>Team TYS</dc:creator>
  <cp:lastModifiedBy>Team TYS</cp:lastModifiedBy>
  <cp:revision>1</cp:revision>
  <dcterms:created xsi:type="dcterms:W3CDTF">2026-10-11T03:47:12Z</dcterms:created>
  <dcterms:modified xsi:type="dcterms:W3CDTF">2026-10-11T03:47:12Z</dcterms:modified>
</cp:coreProperties>
</file>