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3bd124d-1b49-8b76-fb78-a161188864c1}">
          <p14:sldIdLst>
            <p14:sldId id="256"/>
          </p14:sldIdLst>
        </p14:section>
        <p14:section name="Problem" id="{ca8e37c9-0b22-933b-569f-32ce8f8f2672}">
          <p14:sldIdLst>
            <p14:sldId id="257"/>
          </p14:sldIdLst>
        </p14:section>
        <p14:section name="Product" id="{ac463876-0f77-3ed9-771d-38016bef3bc5}">
          <p14:sldIdLst>
            <p14:sldId id="258"/>
            <p14:sldId id="259"/>
          </p14:sldIdLst>
        </p14:section>
        <p14:section name="Technology" id="{d155d059-84f8-3978-3394-803e4ee176a5}">
          <p14:sldIdLst>
            <p14:sldId id="260"/>
            <p14:sldId id="261"/>
            <p14:sldId id="262"/>
          </p14:sldIdLst>
        </p14:section>
        <p14:section name="Business" id="{2b1269ee-ce9d-ee61-993c-095dab69efa1}">
          <p14:sldIdLst>
            <p14:sldId id="263"/>
            <p14:sldId id="264"/>
          </p14:sldIdLst>
        </p14:section>
        <p14:section name="Closing" id="{da016894-d388-24e1-884c-eefa20ab6f52}">
          <p14:sldIdLst>
            <p14:sldId id="265"/>
          </p14:sldIdLst>
        </p14:section>
        <p14:section name="Appendix" id="{23f3084f-c015-3c32-e505-c3e55e68edf4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3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E3D"/>
                </a:solidFill>
                <a:latin typeface="+mn-lt"/>
              </a:rPr>
              <a:t>ROC-AUC: what the model adds over the ratio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holdout</c:v>
                </c:pt>
              </c:strCache>
            </c:strRef>
          </c:tx>
          <c:spPr>
            <a:solidFill>
              <a:srgbClr val="8FB8A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0.9482157097288676</c:v>
                </c:pt>
                <c:pt idx="1">
                  <c:v>0.9628688197767145</c:v>
                </c:pt>
                <c:pt idx="2">
                  <c:v>0.9654106858054226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data (Berka)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0.7351617680565048</c:v>
                </c:pt>
                <c:pt idx="1">
                  <c:v>0.8948507632718159</c:v>
                </c:pt>
                <c:pt idx="2">
                  <c:v>0.9021132376395533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720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E9F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C6B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E9F1E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8A5"/>
                </a:solidFill>
              </a:rPr>
              <a:t>Daromad · team TYS · FinTech / AI in Finance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Daromad · team TYS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"/>
          <p:cNvSpPr txBox="1"/>
          <p:nvPr/>
        </p:nvSpPr>
        <p:spPr>
          <a:xfrm>
            <a:off x="64008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Daromad</a:t>
            </a:r>
            <a:endParaRPr lang="en-US" sz="6000" dirty="0"/>
          </a:p>
        </p:txBody>
      </p:sp>
      <p:sp>
        <p:nvSpPr>
          <p:cNvPr id="3" name="tagline"/>
          <p:cNvSpPr txBox="1"/>
          <p:nvPr/>
        </p:nvSpPr>
        <p:spPr>
          <a:xfrm>
            <a:off x="64008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9F1EC"/>
                </a:solidFill>
              </a:rPr>
              <a:t>Income evidence for borrowers who have no payslip</a:t>
            </a:r>
            <a:endParaRPr lang="en-US" sz="2800" dirty="0"/>
          </a:p>
        </p:txBody>
      </p:sp>
      <p:sp>
        <p:nvSpPr>
          <p:cNvPr id="4" name="mode pill"/>
          <p:cNvSpPr/>
          <p:nvPr/>
        </p:nvSpPr>
        <p:spPr>
          <a:xfrm>
            <a:off x="640080" y="3474720"/>
            <a:ext cx="6949440" cy="548640"/>
          </a:xfrm>
          <a:prstGeom prst="roundRect">
            <a:avLst>
              <a:gd name="adj" fmla="val 16667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mode"/>
          <p:cNvSpPr txBox="1"/>
          <p:nvPr/>
        </p:nvSpPr>
        <p:spPr>
          <a:xfrm>
            <a:off x="777240" y="34747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1B"/>
                </a:solidFill>
              </a:rPr>
              <a:t>Mode: Partner product — MKBANK, micro &amp; family-business credit department</a:t>
            </a:r>
            <a:endParaRPr lang="en-US" sz="1500" dirty="0"/>
          </a:p>
        </p:txBody>
      </p:sp>
      <p:sp>
        <p:nvSpPr>
          <p:cNvPr id="6" name="team"/>
          <p:cNvSpPr txBox="1"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1EC"/>
                </a:solidFill>
              </a:rPr>
              <a:t>Team TYS  </a:t>
            </a:r>
            <a:pPr indent="0" marL="0">
              <a:buNone/>
            </a:pPr>
            <a:r>
              <a:rPr lang="en-US" sz="1500" dirty="0">
                <a:solidFill>
                  <a:srgbClr val="E9F1EC"/>
                </a:solidFill>
              </a:rPr>
              <a:t>three members — technical lead · research &amp; data · compliance &amp; business case</a:t>
            </a:r>
            <a:endParaRPr lang="en-US" sz="1500" dirty="0"/>
          </a:p>
        </p:txBody>
      </p:sp>
      <p:sp>
        <p:nvSpPr>
          <p:cNvPr id="7" name="links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Live prototype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https://tys-fintech.vercel.app    </a:t>
            </a:r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Repository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https://github.com/hmunisbekk-droid/TYS-fintech</a:t>
            </a:r>
            <a:endParaRPr lang="en-US" sz="1300" dirty="0"/>
          </a:p>
        </p:txBody>
      </p:sp>
      <p:sp>
        <p:nvSpPr>
          <p:cNvPr id="8" name="event"/>
          <p:cNvSpPr txBox="1"/>
          <p:nvPr/>
        </p:nvSpPr>
        <p:spPr>
          <a:xfrm>
            <a:off x="64008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FinTech / AI in Finance · partners MKBANK and the Central Bank of Uzbekistan · final defence, October 2026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The regulation names the evidence — the self-employed have exactly one line</a:t>
            </a:r>
            <a:endParaRPr lang="en-US" sz="2800" dirty="0"/>
          </a:p>
        </p:txBody>
      </p:sp>
      <p:sp>
        <p:nvSpPr>
          <p:cNvPr id="3" name="list caption"/>
          <p:cNvSpPr txBox="1"/>
          <p:nvPr/>
        </p:nvSpPr>
        <p:spPr>
          <a:xfrm>
            <a:off x="548640" y="1280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CBU regulation on the debt-burden ratio, cl.9 — income a lender may rely on</a:t>
            </a:r>
            <a:endParaRPr lang="en-US" sz="1400" dirty="0"/>
          </a:p>
        </p:txBody>
      </p:sp>
      <p:sp>
        <p:nvSpPr>
          <p:cNvPr id="4" name="evidence 0"/>
          <p:cNvSpPr/>
          <p:nvPr/>
        </p:nvSpPr>
        <p:spPr>
          <a:xfrm>
            <a:off x="548640" y="173736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5" name="evidence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65376"/>
            <a:ext cx="274320" cy="274320"/>
          </a:xfrm>
          <a:prstGeom prst="rect">
            <a:avLst/>
          </a:prstGeom>
        </p:spPr>
      </p:pic>
      <p:sp>
        <p:nvSpPr>
          <p:cNvPr id="6" name="evidence text 0"/>
          <p:cNvSpPr txBox="1"/>
          <p:nvPr/>
        </p:nvSpPr>
        <p:spPr>
          <a:xfrm>
            <a:off x="1097280" y="173736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Employer-confirmed salary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 employer — the borrower is the business</a:t>
            </a:r>
            <a:endParaRPr lang="en-US" sz="1200" dirty="0"/>
          </a:p>
        </p:txBody>
      </p:sp>
      <p:sp>
        <p:nvSpPr>
          <p:cNvPr id="7" name="evidence 1"/>
          <p:cNvSpPr/>
          <p:nvPr/>
        </p:nvSpPr>
        <p:spPr>
          <a:xfrm>
            <a:off x="548640" y="2359152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evidence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87168"/>
            <a:ext cx="274320" cy="274320"/>
          </a:xfrm>
          <a:prstGeom prst="rect">
            <a:avLst/>
          </a:prstGeom>
        </p:spPr>
      </p:pic>
      <p:sp>
        <p:nvSpPr>
          <p:cNvPr id="9" name="evidence text 1"/>
          <p:cNvSpPr txBox="1"/>
          <p:nvPr/>
        </p:nvSpPr>
        <p:spPr>
          <a:xfrm>
            <a:off x="1097280" y="235915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Pension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working-age applicant, not a pensioner</a:t>
            </a:r>
            <a:endParaRPr lang="en-US" sz="1200" dirty="0"/>
          </a:p>
        </p:txBody>
      </p:sp>
      <p:sp>
        <p:nvSpPr>
          <p:cNvPr id="10" name="evidence 2"/>
          <p:cNvSpPr/>
          <p:nvPr/>
        </p:nvSpPr>
        <p:spPr>
          <a:xfrm>
            <a:off x="548640" y="2980944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1" name="evidence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08960"/>
            <a:ext cx="274320" cy="274320"/>
          </a:xfrm>
          <a:prstGeom prst="rect">
            <a:avLst/>
          </a:prstGeom>
        </p:spPr>
      </p:pic>
      <p:sp>
        <p:nvSpPr>
          <p:cNvPr id="12" name="evidence text 2"/>
          <p:cNvSpPr txBox="1"/>
          <p:nvPr/>
        </p:nvSpPr>
        <p:spPr>
          <a:xfrm>
            <a:off x="1097280" y="2980944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Funded-pension contributions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none: contributions come through an employer</a:t>
            </a:r>
            <a:endParaRPr lang="en-US" sz="1200" dirty="0"/>
          </a:p>
        </p:txBody>
      </p:sp>
      <p:sp>
        <p:nvSpPr>
          <p:cNvPr id="13" name="evidence 3"/>
          <p:cNvSpPr/>
          <p:nvPr/>
        </p:nvSpPr>
        <p:spPr>
          <a:xfrm>
            <a:off x="548640" y="3602736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evidence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30752"/>
            <a:ext cx="274320" cy="274320"/>
          </a:xfrm>
          <a:prstGeom prst="rect">
            <a:avLst/>
          </a:prstGeom>
        </p:spPr>
      </p:pic>
      <p:sp>
        <p:nvSpPr>
          <p:cNvPr id="15" name="evidence text 3"/>
          <p:cNvSpPr txBox="1"/>
          <p:nvPr/>
        </p:nvSpPr>
        <p:spPr>
          <a:xfrm>
            <a:off x="1097280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1B"/>
                </a:solidFill>
              </a:rPr>
              <a:t>Income credited to the borrower's bank accounts</a:t>
            </a:r>
            <a:pPr indent="0" marL="0">
              <a:buNone/>
            </a:pPr>
            <a:r>
              <a:rPr lang="en-US" sz="1350" dirty="0">
                <a:solidFill>
                  <a:srgbClr val="17201B"/>
                </a:solidFill>
              </a:rPr>
              <a:t>  — the only line a self-employed borrower has</a:t>
            </a:r>
            <a:endParaRPr lang="en-US" sz="1350" dirty="0"/>
          </a:p>
        </p:txBody>
      </p:sp>
      <p:sp>
        <p:nvSpPr>
          <p:cNvPr id="16" name="evidence 4"/>
          <p:cNvSpPr/>
          <p:nvPr/>
        </p:nvSpPr>
        <p:spPr>
          <a:xfrm>
            <a:off x="548640" y="4224528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7" name="evidence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274320" cy="274320"/>
          </a:xfrm>
          <a:prstGeom prst="rect">
            <a:avLst/>
          </a:prstGeom>
        </p:spPr>
      </p:pic>
      <p:sp>
        <p:nvSpPr>
          <p:cNvPr id="18" name="evidence text 4"/>
          <p:cNvSpPr txBox="1"/>
          <p:nvPr/>
        </p:nvSpPr>
        <p:spPr>
          <a:xfrm>
            <a:off x="1097280" y="42245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Taxes paid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self-employed income is untaxed; no return is filed</a:t>
            </a:r>
            <a:endParaRPr lang="en-US" sz="1200" dirty="0"/>
          </a:p>
        </p:txBody>
      </p:sp>
      <p:sp>
        <p:nvSpPr>
          <p:cNvPr id="19" name="evidence 5"/>
          <p:cNvSpPr/>
          <p:nvPr/>
        </p:nvSpPr>
        <p:spPr>
          <a:xfrm>
            <a:off x="548640" y="484632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20" name="evidence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74336"/>
            <a:ext cx="274320" cy="274320"/>
          </a:xfrm>
          <a:prstGeom prst="rect">
            <a:avLst/>
          </a:prstGeom>
        </p:spPr>
      </p:pic>
      <p:sp>
        <p:nvSpPr>
          <p:cNvPr id="21" name="evidence text 5"/>
          <p:cNvSpPr txBox="1"/>
          <p:nvPr/>
        </p:nvSpPr>
        <p:spPr>
          <a:xfrm>
            <a:off x="1097280" y="48463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Interest, dividends, rental income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rarely applicable; easy to document when it is</a:t>
            </a:r>
            <a:endParaRPr lang="en-US" sz="1200" dirty="0"/>
          </a:p>
        </p:txBody>
      </p:sp>
      <p:sp>
        <p:nvSpPr>
          <p:cNvPr id="22" name="tile ПДН limit for all loans since 1 Jan 2025 (cl.10); 12-month arithmetic mean of income (cl.7)"/>
          <p:cNvSpPr/>
          <p:nvPr/>
        </p:nvSpPr>
        <p:spPr>
          <a:xfrm>
            <a:off x="7589520" y="1371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3" name="tile value ПДН limit for all loans since 1 Jan 2025 (cl.10); 12-month arithmetic mean of income (cl.7)"/>
          <p:cNvSpPr txBox="1"/>
          <p:nvPr/>
        </p:nvSpPr>
        <p:spPr>
          <a:xfrm>
            <a:off x="7726680" y="144475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50% cap</a:t>
            </a:r>
            <a:endParaRPr lang="en-US" sz="2800" dirty="0"/>
          </a:p>
        </p:txBody>
      </p:sp>
      <p:sp>
        <p:nvSpPr>
          <p:cNvPr id="24" name="tile label ПДН limit for all loans since 1 Jan 2025 (cl.10); 12-month arithmetic mean of income (cl.7)"/>
          <p:cNvSpPr txBox="1"/>
          <p:nvPr/>
        </p:nvSpPr>
        <p:spPr>
          <a:xfrm>
            <a:off x="7726680" y="198150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ПДН limit for all loans since 1 Jan 2025 (cl.10); 12-month arithmetic mean of income (cl.7)</a:t>
            </a:r>
            <a:endParaRPr lang="en-US" sz="1100" dirty="0"/>
          </a:p>
        </p:txBody>
      </p:sp>
      <p:sp>
        <p:nvSpPr>
          <p:cNvPr id="25" name="tile micro-projects MKBANK targets in 2026 (47,975 in 2025); 1,062 mahalla agents"/>
          <p:cNvSpPr/>
          <p:nvPr/>
        </p:nvSpPr>
        <p:spPr>
          <a:xfrm>
            <a:off x="7589520" y="260604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6" name="tile value micro-projects MKBANK targets in 2026 (47,975 in 2025); 1,062 mahalla agents"/>
          <p:cNvSpPr txBox="1"/>
          <p:nvPr/>
        </p:nvSpPr>
        <p:spPr>
          <a:xfrm>
            <a:off x="7726680" y="267919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~140,000</a:t>
            </a:r>
            <a:endParaRPr lang="en-US" sz="2800" dirty="0"/>
          </a:p>
        </p:txBody>
      </p:sp>
      <p:sp>
        <p:nvSpPr>
          <p:cNvPr id="27" name="tile label micro-projects MKBANK targets in 2026 (47,975 in 2025); 1,062 mahalla agents"/>
          <p:cNvSpPr txBox="1"/>
          <p:nvPr/>
        </p:nvSpPr>
        <p:spPr>
          <a:xfrm>
            <a:off x="7726680" y="321594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micro-projects MKBANK targets in 2026 (47,975 in 2025); 1,062 mahalla agents</a:t>
            </a:r>
            <a:endParaRPr lang="en-US" sz="1100" dirty="0"/>
          </a:p>
        </p:txBody>
      </p:sp>
      <p:sp>
        <p:nvSpPr>
          <p:cNvPr id="28" name="tile an officer's manual reading of 12 months of statements per application (our estimate; pilot measures it)"/>
          <p:cNvSpPr/>
          <p:nvPr/>
        </p:nvSpPr>
        <p:spPr>
          <a:xfrm>
            <a:off x="7589520" y="38404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tile value an officer&amp;apos;s manual reading of 12 months of statements per application (our estimate; pilot measures it)"/>
          <p:cNvSpPr txBox="1"/>
          <p:nvPr/>
        </p:nvSpPr>
        <p:spPr>
          <a:xfrm>
            <a:off x="7726680" y="391363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60–90 min</a:t>
            </a:r>
            <a:endParaRPr lang="en-US" sz="2800" dirty="0"/>
          </a:p>
        </p:txBody>
      </p:sp>
      <p:sp>
        <p:nvSpPr>
          <p:cNvPr id="30" name="tile label an officer&amp;apos;s manual reading of 12 months of statements per application (our estimate; pilot measures it)"/>
          <p:cNvSpPr txBox="1"/>
          <p:nvPr/>
        </p:nvSpPr>
        <p:spPr>
          <a:xfrm>
            <a:off x="7726680" y="445038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an officer's manual reading of 12 months of statements per application (our estimate; pilot measures it)</a:t>
            </a:r>
            <a:endParaRPr lang="en-US" sz="1100" dirty="0"/>
          </a:p>
        </p:txBody>
      </p:sp>
      <p:sp>
        <p:nvSpPr>
          <p:cNvPr id="31" name="tile of official income records for ~790k registered self-employed (untaxed, unfiled, no cash register required)"/>
          <p:cNvSpPr/>
          <p:nvPr/>
        </p:nvSpPr>
        <p:spPr>
          <a:xfrm>
            <a:off x="7589520" y="50749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2" name="tile value of official income records for ~790k registered self-employed (untaxed, unfiled, no cash register required)"/>
          <p:cNvSpPr txBox="1"/>
          <p:nvPr/>
        </p:nvSpPr>
        <p:spPr>
          <a:xfrm>
            <a:off x="7726680" y="514807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0 lines</a:t>
            </a:r>
            <a:endParaRPr lang="en-US" sz="2800" dirty="0"/>
          </a:p>
        </p:txBody>
      </p:sp>
      <p:sp>
        <p:nvSpPr>
          <p:cNvPr id="33" name="tile label of official income records for ~790k registered self-employed (untaxed, unfiled, no cash register required)"/>
          <p:cNvSpPr txBox="1"/>
          <p:nvPr/>
        </p:nvSpPr>
        <p:spPr>
          <a:xfrm>
            <a:off x="7726680" y="568482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of official income records for ~790k registered self-employed (untaxed, unfiled, no cash register required)</a:t>
            </a:r>
            <a:endParaRPr lang="en-US" sz="1100" dirty="0"/>
          </a:p>
        </p:txBody>
      </p:sp>
      <p:sp>
        <p:nvSpPr>
          <p:cNvPr id="34" name="sources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Sources: lex.uz/docs/4654149 and 6809992 (CBU regulation and 2024 amendments) · spot.uz 27 Mar 2026 (MKBANK, bank's own figures) · yuz.uz (self-employed registrations, 2021) · buxgalter.uz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What the officer gets in under five seconds</a:t>
            </a:r>
            <a:endParaRPr lang="en-US" sz="2800" dirty="0"/>
          </a:p>
        </p:txBody>
      </p:sp>
      <p:pic>
        <p:nvPicPr>
          <p:cNvPr id="3" name="screenshot income and pdn" descr="/home/claude/daromad/deck/img/income_pd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863840" cy="2743200"/>
          </a:xfrm>
          <a:prstGeom prst="rect">
            <a:avLst/>
          </a:prstGeom>
        </p:spPr>
      </p:pic>
      <p:pic>
        <p:nvPicPr>
          <p:cNvPr id="4" name="screenshot memo" descr="/home/claude/daromad/deck/img/m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06240"/>
            <a:ext cx="7863840" cy="2103120"/>
          </a:xfrm>
          <a:prstGeom prst="rect">
            <a:avLst/>
          </a:prstGeom>
        </p:spPr>
      </p:pic>
      <p:sp>
        <p:nvSpPr>
          <p:cNvPr id="5" name="got circle 0"/>
          <p:cNvSpPr/>
          <p:nvPr/>
        </p:nvSpPr>
        <p:spPr>
          <a:xfrm>
            <a:off x="8686800" y="137160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6" name="got icon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463040"/>
            <a:ext cx="274320" cy="274320"/>
          </a:xfrm>
          <a:prstGeom prst="rect">
            <a:avLst/>
          </a:prstGeom>
        </p:spPr>
      </p:pic>
      <p:sp>
        <p:nvSpPr>
          <p:cNvPr id="7" name="got head 0"/>
          <p:cNvSpPr txBox="1"/>
          <p:nvPr/>
        </p:nvSpPr>
        <p:spPr>
          <a:xfrm>
            <a:off x="92811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12-month regulatory income</a:t>
            </a:r>
            <a:endParaRPr lang="en-US" sz="1400" dirty="0"/>
          </a:p>
        </p:txBody>
      </p:sp>
      <p:sp>
        <p:nvSpPr>
          <p:cNvPr id="8" name="got text 0"/>
          <p:cNvSpPr txBox="1"/>
          <p:nvPr/>
        </p:nvSpPr>
        <p:spPr>
          <a:xfrm>
            <a:off x="9281160" y="17099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cl.7 mean, cl.9 definition; own-card transfers, loan proceeds, refunds and cash deposits excluded</a:t>
            </a:r>
            <a:endParaRPr lang="en-US" sz="1050" dirty="0"/>
          </a:p>
        </p:txBody>
      </p:sp>
      <p:sp>
        <p:nvSpPr>
          <p:cNvPr id="9" name="got circle 1"/>
          <p:cNvSpPr/>
          <p:nvPr/>
        </p:nvSpPr>
        <p:spPr>
          <a:xfrm>
            <a:off x="8686800" y="2633472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got icon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2724912"/>
            <a:ext cx="274320" cy="274320"/>
          </a:xfrm>
          <a:prstGeom prst="rect">
            <a:avLst/>
          </a:prstGeom>
        </p:spPr>
      </p:pic>
      <p:sp>
        <p:nvSpPr>
          <p:cNvPr id="11" name="got head 1"/>
          <p:cNvSpPr txBox="1"/>
          <p:nvPr/>
        </p:nvSpPr>
        <p:spPr>
          <a:xfrm>
            <a:off x="9281160" y="2587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ПДН with citations</a:t>
            </a:r>
            <a:endParaRPr lang="en-US" sz="1400" dirty="0"/>
          </a:p>
        </p:txBody>
      </p:sp>
      <p:sp>
        <p:nvSpPr>
          <p:cNvPr id="12" name="got text 1"/>
          <p:cNvSpPr txBox="1"/>
          <p:nvPr/>
        </p:nvSpPr>
        <p:spPr>
          <a:xfrm>
            <a:off x="928116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36-month spreading, guarantor rule, family-programme exemption, lender-type rules (banks: no small-loan exclusion, 15% quota is portfolio-level), 50% cap, maximum affordable amount</a:t>
            </a:r>
            <a:endParaRPr lang="en-US" sz="1050" dirty="0"/>
          </a:p>
        </p:txBody>
      </p:sp>
      <p:sp>
        <p:nvSpPr>
          <p:cNvPr id="13" name="got circle 2"/>
          <p:cNvSpPr/>
          <p:nvPr/>
        </p:nvSpPr>
        <p:spPr>
          <a:xfrm>
            <a:off x="8686800" y="3895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4" name="got icon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86784"/>
            <a:ext cx="274320" cy="274320"/>
          </a:xfrm>
          <a:prstGeom prst="rect">
            <a:avLst/>
          </a:prstGeom>
        </p:spPr>
      </p:pic>
      <p:sp>
        <p:nvSpPr>
          <p:cNvPr id="15" name="got head 2"/>
          <p:cNvSpPr txBox="1"/>
          <p:nvPr/>
        </p:nvSpPr>
        <p:spPr>
          <a:xfrm>
            <a:off x="9281160" y="38496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Integrity report</a:t>
            </a:r>
            <a:endParaRPr lang="en-US" sz="1400" dirty="0"/>
          </a:p>
        </p:txBody>
      </p:sp>
      <p:sp>
        <p:nvSpPr>
          <p:cNvPr id="16" name="got text 2"/>
          <p:cNvSpPr txBox="1"/>
          <p:nvPr/>
        </p:nvSpPr>
        <p:spPr>
          <a:xfrm>
            <a:off x="9281160" y="423367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pre-application spikes, circular transfers, holder match</a:t>
            </a:r>
            <a:endParaRPr lang="en-US" sz="1050" dirty="0"/>
          </a:p>
        </p:txBody>
      </p:sp>
      <p:sp>
        <p:nvSpPr>
          <p:cNvPr id="17" name="got circle 3"/>
          <p:cNvSpPr/>
          <p:nvPr/>
        </p:nvSpPr>
        <p:spPr>
          <a:xfrm>
            <a:off x="8686800" y="5157216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8" name="got icon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248656"/>
            <a:ext cx="274320" cy="274320"/>
          </a:xfrm>
          <a:prstGeom prst="rect">
            <a:avLst/>
          </a:prstGeom>
        </p:spPr>
      </p:pic>
      <p:sp>
        <p:nvSpPr>
          <p:cNvPr id="19" name="got head 3"/>
          <p:cNvSpPr txBox="1"/>
          <p:nvPr/>
        </p:nvSpPr>
        <p:spPr>
          <a:xfrm>
            <a:off x="9281160" y="51114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Verified memo</a:t>
            </a:r>
            <a:endParaRPr lang="en-US" sz="1400" dirty="0"/>
          </a:p>
        </p:txBody>
      </p:sp>
      <p:sp>
        <p:nvSpPr>
          <p:cNvPr id="20" name="got text 3"/>
          <p:cNvSpPr txBox="1"/>
          <p:nvPr/>
        </p:nvSpPr>
        <p:spPr>
          <a:xfrm>
            <a:off x="9281160" y="549554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every number traces to its source — statement lines (click to open them), a clause, or the model; the verifier refuses unsourced numbers; hash-chained audit log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Live demo — on our samples and on anything you upload</a:t>
            </a:r>
            <a:endParaRPr lang="en-US" sz="2800" dirty="0"/>
          </a:p>
        </p:txBody>
      </p:sp>
      <p:sp>
        <p:nvSpPr>
          <p:cNvPr id="3" name="url box"/>
          <p:cNvSpPr/>
          <p:nvPr/>
        </p:nvSpPr>
        <p:spPr>
          <a:xfrm>
            <a:off x="548640" y="1325880"/>
            <a:ext cx="5577840" cy="1188720"/>
          </a:xfrm>
          <a:prstGeom prst="roundRect">
            <a:avLst>
              <a:gd name="adj" fmla="val 7692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4" name="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457200" cy="457200"/>
          </a:xfrm>
          <a:prstGeom prst="rect">
            <a:avLst/>
          </a:prstGeom>
        </p:spPr>
      </p:pic>
      <p:sp>
        <p:nvSpPr>
          <p:cNvPr id="5" name="url"/>
          <p:cNvSpPr txBox="1"/>
          <p:nvPr/>
        </p:nvSpPr>
        <p:spPr>
          <a:xfrm>
            <a:off x="1325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Open on your laptop or phone
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https://tys-fintech.vercel.app</a:t>
            </a:r>
            <a:endParaRPr lang="en-US" sz="1200" dirty="0"/>
          </a:p>
        </p:txBody>
      </p:sp>
      <p:sp>
        <p:nvSpPr>
          <p:cNvPr id="6" name="demo steps"/>
          <p:cNvSpPr txBox="1"/>
          <p:nvPr/>
        </p:nvSpPr>
        <p:spPr>
          <a:xfrm>
            <a:off x="548640" y="269748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1.  Load sample A — statement PDF, Soliq certificate, receipt photo parse in the tab (no server, no API)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2.  Income series, ПДН with clause citations, maximum affordable amount; drag the slider to cross the 50% cap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3.  Integrity checks and risk score with drivers; click any evidence link to see the statement line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4.  Memo: verifier badge shows how many numbers were checked and that none is unsourced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5.  Record the decision; export the case with its hash-chained audit log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6.  Then: Load tampered statement — the balance chain breaks at the inflated inflow; upload your own documents</a:t>
            </a:r>
            <a:endParaRPr lang="en-US" sz="1250" dirty="0"/>
          </a:p>
        </p:txBody>
      </p:sp>
      <p:pic>
        <p:nvPicPr>
          <p:cNvPr id="7" name="screenshot integrity" descr="/home/claude/daromad/deck/img/integrity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5303520" cy="2313432"/>
          </a:xfrm>
          <a:prstGeom prst="rect">
            <a:avLst/>
          </a:prstGeom>
        </p:spPr>
      </p:pic>
      <p:pic>
        <p:nvPicPr>
          <p:cNvPr id="8" name="screenshot tamper" descr="/home/claude/daromad/deck/img/tam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3108960" cy="1600200"/>
          </a:xfrm>
          <a:prstGeom prst="rect">
            <a:avLst/>
          </a:prstGeom>
        </p:spPr>
      </p:pic>
      <p:pic>
        <p:nvPicPr>
          <p:cNvPr id="9" name="qr site" descr="/home/claude/daromad/deck/img/qr_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703320"/>
            <a:ext cx="1828800" cy="1828800"/>
          </a:xfrm>
          <a:prstGeom prst="rect">
            <a:avLst/>
          </a:prstGeom>
        </p:spPr>
      </p:pic>
      <p:sp>
        <p:nvSpPr>
          <p:cNvPr id="10" name="qr caption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Scan to open the live prototype on your phone (New case → Load sample 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Seven components, one optional language model, zero API keys</a:t>
            </a:r>
            <a:endParaRPr lang="en-US" sz="2800" dirty="0"/>
          </a:p>
        </p:txBody>
      </p:sp>
      <p:sp>
        <p:nvSpPr>
          <p:cNvPr id="3" name="component 0"/>
          <p:cNvSpPr/>
          <p:nvPr/>
        </p:nvSpPr>
        <p:spPr>
          <a:xfrm>
            <a:off x="54864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comp circle 0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5" name="com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comp head 0"/>
          <p:cNvSpPr txBox="1"/>
          <p:nvPr/>
        </p:nvSpPr>
        <p:spPr>
          <a:xfrm>
            <a:off x="123444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 · Intake</a:t>
            </a:r>
            <a:endParaRPr lang="en-US" sz="1400" dirty="0"/>
          </a:p>
        </p:txBody>
      </p:sp>
      <p:sp>
        <p:nvSpPr>
          <p:cNvPr id="7" name="comp text 0"/>
          <p:cNvSpPr txBox="1"/>
          <p:nvPr/>
        </p:nvSpPr>
        <p:spPr>
          <a:xfrm>
            <a:off x="68580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pdf.js with coordinates; XLSX/CSV; tesseract.js OCR uzb+rus+eng, self-hosted; field confidence, tap-to-confirm</a:t>
            </a:r>
            <a:endParaRPr lang="en-US" sz="1050" dirty="0"/>
          </a:p>
        </p:txBody>
      </p:sp>
      <p:sp>
        <p:nvSpPr>
          <p:cNvPr id="8" name="component 1"/>
          <p:cNvSpPr/>
          <p:nvPr/>
        </p:nvSpPr>
        <p:spPr>
          <a:xfrm>
            <a:off x="338328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comp circle 1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com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554480"/>
            <a:ext cx="274320" cy="274320"/>
          </a:xfrm>
          <a:prstGeom prst="rect">
            <a:avLst/>
          </a:prstGeom>
        </p:spPr>
      </p:pic>
      <p:sp>
        <p:nvSpPr>
          <p:cNvPr id="11" name="comp head 1"/>
          <p:cNvSpPr txBox="1"/>
          <p:nvPr/>
        </p:nvSpPr>
        <p:spPr>
          <a:xfrm>
            <a:off x="40690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2 · Categoriser</a:t>
            </a:r>
            <a:endParaRPr lang="en-US" sz="1400" dirty="0"/>
          </a:p>
        </p:txBody>
      </p:sp>
      <p:sp>
        <p:nvSpPr>
          <p:cNvPr id="12" name="comp text 1"/>
          <p:cNvSpPr txBox="1"/>
          <p:nvPr/>
        </p:nvSpPr>
        <p:spPr>
          <a:xfrm>
            <a:off x="352044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multilingual rules + counterparty patterns (recurring payer → family; same mask both ways → own card)</a:t>
            </a:r>
            <a:endParaRPr lang="en-US" sz="1050" dirty="0"/>
          </a:p>
        </p:txBody>
      </p:sp>
      <p:sp>
        <p:nvSpPr>
          <p:cNvPr id="13" name="component 2"/>
          <p:cNvSpPr/>
          <p:nvPr/>
        </p:nvSpPr>
        <p:spPr>
          <a:xfrm>
            <a:off x="621792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4" name="comp circle 2"/>
          <p:cNvSpPr/>
          <p:nvPr/>
        </p:nvSpPr>
        <p:spPr>
          <a:xfrm>
            <a:off x="635508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5" name="com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274320" cy="274320"/>
          </a:xfrm>
          <a:prstGeom prst="rect">
            <a:avLst/>
          </a:prstGeom>
        </p:spPr>
      </p:pic>
      <p:sp>
        <p:nvSpPr>
          <p:cNvPr id="16" name="comp head 2"/>
          <p:cNvSpPr txBox="1"/>
          <p:nvPr/>
        </p:nvSpPr>
        <p:spPr>
          <a:xfrm>
            <a:off x="690372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3 · Cash-flow</a:t>
            </a:r>
            <a:endParaRPr lang="en-US" sz="1400" dirty="0"/>
          </a:p>
        </p:txBody>
      </p:sp>
      <p:sp>
        <p:nvSpPr>
          <p:cNvPr id="17" name="comp text 2"/>
          <p:cNvSpPr txBox="1"/>
          <p:nvPr/>
        </p:nvSpPr>
        <p:spPr>
          <a:xfrm>
            <a:off x="635508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12-month series; 18 features identical in TypeScript and Python (parity test)</a:t>
            </a:r>
            <a:endParaRPr lang="en-US" sz="1050" dirty="0"/>
          </a:p>
        </p:txBody>
      </p:sp>
      <p:sp>
        <p:nvSpPr>
          <p:cNvPr id="18" name="component 3"/>
          <p:cNvSpPr/>
          <p:nvPr/>
        </p:nvSpPr>
        <p:spPr>
          <a:xfrm>
            <a:off x="905256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9" name="comp circle 3"/>
          <p:cNvSpPr/>
          <p:nvPr/>
        </p:nvSpPr>
        <p:spPr>
          <a:xfrm>
            <a:off x="918972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0" name="comp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554480"/>
            <a:ext cx="274320" cy="274320"/>
          </a:xfrm>
          <a:prstGeom prst="rect">
            <a:avLst/>
          </a:prstGeom>
        </p:spPr>
      </p:pic>
      <p:sp>
        <p:nvSpPr>
          <p:cNvPr id="21" name="comp head 3"/>
          <p:cNvSpPr txBox="1"/>
          <p:nvPr/>
        </p:nvSpPr>
        <p:spPr>
          <a:xfrm>
            <a:off x="973836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4 · Rule engine</a:t>
            </a:r>
            <a:endParaRPr lang="en-US" sz="1400" dirty="0"/>
          </a:p>
        </p:txBody>
      </p:sp>
      <p:sp>
        <p:nvSpPr>
          <p:cNvPr id="22" name="comp text 3"/>
          <p:cNvSpPr txBox="1"/>
          <p:nvPr/>
        </p:nvSpPr>
        <p:spPr>
          <a:xfrm>
            <a:off x="918972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ПДН clause by clause: 36/180-month spreading, guarantor rule, lender-type exclusions, family-programme exemption, 50% cap, back-solved amount</a:t>
            </a:r>
            <a:endParaRPr lang="en-US" sz="1050" dirty="0"/>
          </a:p>
        </p:txBody>
      </p:sp>
      <p:sp>
        <p:nvSpPr>
          <p:cNvPr id="23" name="component 4"/>
          <p:cNvSpPr/>
          <p:nvPr/>
        </p:nvSpPr>
        <p:spPr>
          <a:xfrm>
            <a:off x="54864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4" name="comp circle 4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5" name="comp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66160"/>
            <a:ext cx="274320" cy="274320"/>
          </a:xfrm>
          <a:prstGeom prst="rect">
            <a:avLst/>
          </a:prstGeom>
        </p:spPr>
      </p:pic>
      <p:sp>
        <p:nvSpPr>
          <p:cNvPr id="26" name="comp head 4"/>
          <p:cNvSpPr txBox="1"/>
          <p:nvPr/>
        </p:nvSpPr>
        <p:spPr>
          <a:xfrm>
            <a:off x="123444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5 · Risk model</a:t>
            </a:r>
            <a:endParaRPr lang="en-US" sz="1400" dirty="0"/>
          </a:p>
        </p:txBody>
      </p:sp>
      <p:sp>
        <p:nvSpPr>
          <p:cNvPr id="27" name="comp text 4"/>
          <p:cNvSpPr txBox="1"/>
          <p:nvPr/>
        </p:nvSpPr>
        <p:spPr>
          <a:xfrm>
            <a:off x="68580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XGBoost, monotone constraints, JSON trees evaluated in the browser; attributions vs portfolio median</a:t>
            </a:r>
            <a:endParaRPr lang="en-US" sz="1050" dirty="0"/>
          </a:p>
        </p:txBody>
      </p:sp>
      <p:sp>
        <p:nvSpPr>
          <p:cNvPr id="28" name="component 5"/>
          <p:cNvSpPr/>
          <p:nvPr/>
        </p:nvSpPr>
        <p:spPr>
          <a:xfrm>
            <a:off x="338328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comp circle 5"/>
          <p:cNvSpPr/>
          <p:nvPr/>
        </p:nvSpPr>
        <p:spPr>
          <a:xfrm>
            <a:off x="352044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0" name="comp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3566160"/>
            <a:ext cx="274320" cy="274320"/>
          </a:xfrm>
          <a:prstGeom prst="rect">
            <a:avLst/>
          </a:prstGeom>
        </p:spPr>
      </p:pic>
      <p:sp>
        <p:nvSpPr>
          <p:cNvPr id="31" name="comp head 5"/>
          <p:cNvSpPr txBox="1"/>
          <p:nvPr/>
        </p:nvSpPr>
        <p:spPr>
          <a:xfrm>
            <a:off x="406908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6 · Integrity</a:t>
            </a:r>
            <a:endParaRPr lang="en-US" sz="1400" dirty="0"/>
          </a:p>
        </p:txBody>
      </p:sp>
      <p:sp>
        <p:nvSpPr>
          <p:cNvPr id="32" name="comp text 5"/>
          <p:cNvSpPr txBox="1"/>
          <p:nvPr/>
        </p:nvSpPr>
        <p:spPr>
          <a:xfrm>
            <a:off x="352044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round-sum spikes, circular transfers, holder match</a:t>
            </a:r>
            <a:endParaRPr lang="en-US" sz="1050" dirty="0"/>
          </a:p>
        </p:txBody>
      </p:sp>
      <p:sp>
        <p:nvSpPr>
          <p:cNvPr id="33" name="component 6"/>
          <p:cNvSpPr/>
          <p:nvPr/>
        </p:nvSpPr>
        <p:spPr>
          <a:xfrm>
            <a:off x="621792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4" name="comp circle 6"/>
          <p:cNvSpPr/>
          <p:nvPr/>
        </p:nvSpPr>
        <p:spPr>
          <a:xfrm>
            <a:off x="635508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5" name="comp icon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566160"/>
            <a:ext cx="274320" cy="274320"/>
          </a:xfrm>
          <a:prstGeom prst="rect">
            <a:avLst/>
          </a:prstGeom>
        </p:spPr>
      </p:pic>
      <p:sp>
        <p:nvSpPr>
          <p:cNvPr id="36" name="comp head 6"/>
          <p:cNvSpPr txBox="1"/>
          <p:nvPr/>
        </p:nvSpPr>
        <p:spPr>
          <a:xfrm>
            <a:off x="690372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7 · Memo + audit</a:t>
            </a:r>
            <a:endParaRPr lang="en-US" sz="1400" dirty="0"/>
          </a:p>
        </p:txBody>
      </p:sp>
      <p:sp>
        <p:nvSpPr>
          <p:cNvPr id="37" name="comp text 6"/>
          <p:cNvSpPr txBox="1"/>
          <p:nvPr/>
        </p:nvSpPr>
        <p:spPr>
          <a:xfrm>
            <a:off x="635508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template from a fact table; verifier rejects unsourced numbers; SHA-256 hash-chained log</a:t>
            </a:r>
            <a:endParaRPr lang="en-US" sz="1050" dirty="0"/>
          </a:p>
        </p:txBody>
      </p:sp>
      <p:sp>
        <p:nvSpPr>
          <p:cNvPr id="38" name="perimeter card"/>
          <p:cNvSpPr/>
          <p:nvPr/>
        </p:nvSpPr>
        <p:spPr>
          <a:xfrm>
            <a:off x="905256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9" name="perimet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74720"/>
            <a:ext cx="320040" cy="320040"/>
          </a:xfrm>
          <a:prstGeom prst="rect">
            <a:avLst/>
          </a:prstGeom>
        </p:spPr>
      </p:pic>
      <p:sp>
        <p:nvSpPr>
          <p:cNvPr id="40" name="perimeter head"/>
          <p:cNvSpPr txBox="1"/>
          <p:nvPr/>
        </p:nvSpPr>
        <p:spPr>
          <a:xfrm>
            <a:off x="9601200" y="3429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Perimeter</a:t>
            </a:r>
            <a:endParaRPr lang="en-US" sz="1400" dirty="0"/>
          </a:p>
        </p:txBody>
      </p:sp>
      <p:sp>
        <p:nvSpPr>
          <p:cNvPr id="41" name="perimeter text"/>
          <p:cNvSpPr txBox="1"/>
          <p:nvPr/>
        </p:nvSpPr>
        <p:spPr>
          <a:xfrm>
            <a:off x="9189720" y="388620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1EC"/>
                </a:solidFill>
              </a:rPr>
              <a:t>Prototype: static site, every byte of a document stays in the browser. Production: the same bundle on the bank's server, SSO, audit log in the bank DB, core-banking pull for own customers. LLM optional, narrative only, behind the same verifier.</a:t>
            </a:r>
            <a:endParaRPr lang="en-US" sz="1000" dirty="0"/>
          </a:p>
        </p:txBody>
      </p:sp>
      <p:sp>
        <p:nvSpPr>
          <p:cNvPr id="42" name="speed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3D"/>
                </a:solidFill>
              </a:rPr>
              <a:t>Speed: statement 1.2–1.8 s · receipt OCR 1.6 s · everything else &lt; 50 ms · marginal cost per application: zero</a:t>
            </a:r>
            <a:endParaRPr lang="en-US" sz="1200" dirty="0"/>
          </a:p>
        </p:txBody>
      </p:sp>
      <p:sp>
        <p:nvSpPr>
          <p:cNvPr id="43" name="hitl"/>
          <p:cNvSpPr txBox="1"/>
          <p:nvPr/>
        </p:nvSpPr>
        <p:spPr>
          <a:xfrm>
            <a:off x="548640" y="5715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1B"/>
                </a:solidFill>
              </a:rPr>
              <a:t>Human in the loop: the engine recommends and computes the maximum affordable amount; the officer decides; an override needs a reason, written into the chain.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Measured through the real app, not typed into a slide</a:t>
            </a:r>
            <a:endParaRPr lang="en-US" sz="2800" dirty="0"/>
          </a:p>
        </p:txBody>
      </p:sp>
      <p:sp>
        <p:nvSpPr>
          <p:cNvPr id="3" name="tile generator PDFs: exact rows, balance chain reconciled (2 layouts, RU/UZ)"/>
          <p:cNvSpPr/>
          <p:nvPr/>
        </p:nvSpPr>
        <p:spPr>
          <a:xfrm>
            <a:off x="54864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tile value generator PDFs: exact rows, balance chain reconciled (2 layouts, RU/UZ)"/>
          <p:cNvSpPr txBox="1"/>
          <p:nvPr/>
        </p:nvSpPr>
        <p:spPr>
          <a:xfrm>
            <a:off x="68580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60/60</a:t>
            </a:r>
            <a:endParaRPr lang="en-US" sz="2400" dirty="0"/>
          </a:p>
        </p:txBody>
      </p:sp>
      <p:sp>
        <p:nvSpPr>
          <p:cNvPr id="5" name="tile label generator PDFs: exact rows, balance chain reconciled (2 layouts, RU/UZ)"/>
          <p:cNvSpPr txBox="1"/>
          <p:nvPr/>
        </p:nvSpPr>
        <p:spPr>
          <a:xfrm>
            <a:off x="68580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generator PDFs: exact rows, balance chain reconciled (2 layouts, RU/UZ)</a:t>
            </a:r>
            <a:endParaRPr lang="en-US" sz="900" dirty="0"/>
          </a:p>
        </p:txBody>
      </p:sp>
      <p:sp>
        <p:nvSpPr>
          <p:cNvPr id="6" name="tile unseen layouts exact — CSV/XLSX/TSV variants incl. a wallet export (list on the model card)"/>
          <p:cNvSpPr/>
          <p:nvPr/>
        </p:nvSpPr>
        <p:spPr>
          <a:xfrm>
            <a:off x="278892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ile value unseen layouts exact — CSV/XLSX/TSV variants incl. a wallet export (list on the model card)"/>
          <p:cNvSpPr txBox="1"/>
          <p:nvPr/>
        </p:nvSpPr>
        <p:spPr>
          <a:xfrm>
            <a:off x="292608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8/8</a:t>
            </a:r>
            <a:endParaRPr lang="en-US" sz="2400" dirty="0"/>
          </a:p>
        </p:txBody>
      </p:sp>
      <p:sp>
        <p:nvSpPr>
          <p:cNvPr id="8" name="tile label unseen layouts exact — CSV/XLSX/TSV variants incl. a wallet export (list on the model card)"/>
          <p:cNvSpPr txBox="1"/>
          <p:nvPr/>
        </p:nvSpPr>
        <p:spPr>
          <a:xfrm>
            <a:off x="292608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unseen layouts exact — CSV/XLSX/TSV variants incl. a wallet export (list on the model card)</a:t>
            </a:r>
            <a:endParaRPr lang="en-US" sz="900" dirty="0"/>
          </a:p>
        </p:txBody>
      </p:sp>
      <p:sp>
        <p:nvSpPr>
          <p:cNvPr id="9" name="tile tampered statements caught, 4 tamper types; 0 false alarms on clean ones"/>
          <p:cNvSpPr/>
          <p:nvPr/>
        </p:nvSpPr>
        <p:spPr>
          <a:xfrm>
            <a:off x="502920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0" name="tile value tampered statements caught, 4 tamper types; 0 false alarms on clean ones"/>
          <p:cNvSpPr txBox="1"/>
          <p:nvPr/>
        </p:nvSpPr>
        <p:spPr>
          <a:xfrm>
            <a:off x="516636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40/40</a:t>
            </a:r>
            <a:endParaRPr lang="en-US" sz="2400" dirty="0"/>
          </a:p>
        </p:txBody>
      </p:sp>
      <p:sp>
        <p:nvSpPr>
          <p:cNvPr id="11" name="tile label tampered statements caught, 4 tamper types; 0 false alarms on clean ones"/>
          <p:cNvSpPr txBox="1"/>
          <p:nvPr/>
        </p:nvSpPr>
        <p:spPr>
          <a:xfrm>
            <a:off x="516636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tampered statements caught, 4 tamper types; 0 false alarms on clean ones</a:t>
            </a:r>
            <a:endParaRPr lang="en-US" sz="900" dirty="0"/>
          </a:p>
        </p:txBody>
      </p:sp>
      <p:sp>
        <p:nvSpPr>
          <p:cNvPr id="12" name="tile receipt OCR total exact, 60 camera-augmented photos; INN 100%, date 97%"/>
          <p:cNvSpPr/>
          <p:nvPr/>
        </p:nvSpPr>
        <p:spPr>
          <a:xfrm>
            <a:off x="54864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3" name="tile value receipt OCR total exact, 60 camera-augmented photos; INN 100%, date 97%"/>
          <p:cNvSpPr txBox="1"/>
          <p:nvPr/>
        </p:nvSpPr>
        <p:spPr>
          <a:xfrm>
            <a:off x="68580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95%</a:t>
            </a:r>
            <a:endParaRPr lang="en-US" sz="2400" dirty="0"/>
          </a:p>
        </p:txBody>
      </p:sp>
      <p:sp>
        <p:nvSpPr>
          <p:cNvPr id="14" name="tile label receipt OCR total exact, 60 camera-augmented photos; INN 100%, date 97%"/>
          <p:cNvSpPr txBox="1"/>
          <p:nvPr/>
        </p:nvSpPr>
        <p:spPr>
          <a:xfrm>
            <a:off x="68580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receipt OCR total exact, 60 camera-augmented photos; INN 100%, date 97%</a:t>
            </a:r>
            <a:endParaRPr lang="en-US" sz="900" dirty="0"/>
          </a:p>
        </p:txBody>
      </p:sp>
      <p:sp>
        <p:nvSpPr>
          <p:cNvPr id="15" name="tile ROC-AUC, synthetic holdout n=500; logistic 0.963, ratio alone 0.948"/>
          <p:cNvSpPr/>
          <p:nvPr/>
        </p:nvSpPr>
        <p:spPr>
          <a:xfrm>
            <a:off x="278892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6" name="tile value ROC-AUC, synthetic holdout n=500; logistic 0.963, ratio alone 0.948"/>
          <p:cNvSpPr txBox="1"/>
          <p:nvPr/>
        </p:nvSpPr>
        <p:spPr>
          <a:xfrm>
            <a:off x="292608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0.965</a:t>
            </a:r>
            <a:endParaRPr lang="en-US" sz="2400" dirty="0"/>
          </a:p>
        </p:txBody>
      </p:sp>
      <p:sp>
        <p:nvSpPr>
          <p:cNvPr id="17" name="tile label ROC-AUC, synthetic holdout n=500; logistic 0.963, ratio alone 0.948"/>
          <p:cNvSpPr txBox="1"/>
          <p:nvPr/>
        </p:nvSpPr>
        <p:spPr>
          <a:xfrm>
            <a:off x="292608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synthetic holdout n=500; logistic 0.963, ratio alone 0.948</a:t>
            </a:r>
            <a:endParaRPr lang="en-US" sz="900" dirty="0"/>
          </a:p>
        </p:txBody>
      </p:sp>
      <p:sp>
        <p:nvSpPr>
          <p:cNvPr id="18" name="tile ROC-AUC, real bank data (Berka, 443 loans, 44 bad; 95% CI ≈ 0.86–0.94); ratio alone 0.735"/>
          <p:cNvSpPr/>
          <p:nvPr/>
        </p:nvSpPr>
        <p:spPr>
          <a:xfrm>
            <a:off x="502920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9" name="tile value ROC-AUC, real bank data (Berka, 443 loans, 44 bad; 95% CI ≈ 0.86–0.94); ratio alone 0.735"/>
          <p:cNvSpPr txBox="1"/>
          <p:nvPr/>
        </p:nvSpPr>
        <p:spPr>
          <a:xfrm>
            <a:off x="516636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0.902</a:t>
            </a:r>
            <a:endParaRPr lang="en-US" sz="2400" dirty="0"/>
          </a:p>
        </p:txBody>
      </p:sp>
      <p:sp>
        <p:nvSpPr>
          <p:cNvPr id="20" name="tile label ROC-AUC, real bank data (Berka, 443 loans, 44 bad; 95% CI ≈ 0.86–0.94); ratio alone 0.735"/>
          <p:cNvSpPr txBox="1"/>
          <p:nvPr/>
        </p:nvSpPr>
        <p:spPr>
          <a:xfrm>
            <a:off x="516636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real bank data (Berka, 443 loans, 44 bad; 95% CI ≈ 0.86–0.94); ratio alone 0.735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406640" y="1325880"/>
          <a:ext cx="42976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reading"/>
          <p:cNvSpPr txBox="1"/>
          <p:nvPr/>
        </p:nvSpPr>
        <p:spPr>
          <a:xfrm>
            <a:off x="548640" y="4343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01B"/>
                </a:solidFill>
              </a:rPr>
              <a:t>Honest reading: on synthetic data the ratio already carries most of the signal by construction; on real statements the cash-flow features add +0.17 AUC over the ratio, and logistic regression comes close to the trees — we ship the trees for the monotone constraints and non-linear thresholds, not for the last 0.01. Categoriser: 99.96% on 10,481 lines of the generator's own vocabulary — will fall on real data. Memo verifier: 0 unsourced numbers across a 300-scenario sweep (amounts × terms × products × borrowers), enforced at run time.</a:t>
            </a:r>
            <a:endParaRPr lang="en-US" sz="1000" dirty="0"/>
          </a:p>
        </p:txBody>
      </p:sp>
      <p:pic>
        <p:nvPicPr>
          <p:cNvPr id="23" name="screenshot eval" descr="/home/claude/daromad/deck/img/eval_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57800"/>
            <a:ext cx="5852160" cy="1097280"/>
          </a:xfrm>
          <a:prstGeom prst="rect">
            <a:avLst/>
          </a:prstGeom>
        </p:spPr>
      </p:pic>
      <p:sp>
        <p:nvSpPr>
          <p:cNvPr id="24" name="provenance"/>
          <p:cNvSpPr txBox="1"/>
          <p:nvPr/>
        </p:nvSpPr>
        <p:spPr>
          <a:xfrm>
            <a:off x="740664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All numbers are read from JSON produced by ml/train.py, ml/berka_validate.py, npm test and tests/*_eval.py (see the Model card page).</a:t>
            </a:r>
            <a:endParaRPr lang="en-US" sz="1000" dirty="0"/>
          </a:p>
        </p:txBody>
      </p:sp>
      <p:sp>
        <p:nvSpPr>
          <p:cNvPr id="25" name="caveat"/>
          <p:cNvSpPr txBox="1"/>
          <p:nvPr/>
        </p:nvSpPr>
        <p:spPr>
          <a:xfrm>
            <a:off x="7406640" y="51206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</a:rPr>
              <a:t>Caveat on the slide, not in the footnote: the risk score is advisory until retrained on the bank's own history inside the perimeter — that is the pilot's first deliverable.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No partner data, so we built a declared generator</a:t>
            </a:r>
            <a:endParaRPr lang="en-US" sz="2800" dirty="0"/>
          </a:p>
        </p:txBody>
      </p:sp>
      <p:sp>
        <p:nvSpPr>
          <p:cNvPr id="3" name="gen num bg 0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" name="gen num 0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gen head 0"/>
          <p:cNvSpPr txBox="1"/>
          <p:nvPr/>
        </p:nvSpPr>
        <p:spPr>
          <a:xfrm>
            <a:off x="1188720" y="13258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Archetypes</a:t>
            </a:r>
            <a:endParaRPr lang="en-US" sz="1400" dirty="0"/>
          </a:p>
        </p:txBody>
      </p:sp>
      <p:sp>
        <p:nvSpPr>
          <p:cNvPr id="6" name="gen text 0"/>
          <p:cNvSpPr txBox="1"/>
          <p:nvPr/>
        </p:nvSpPr>
        <p:spPr>
          <a:xfrm>
            <a:off x="1188720" y="165506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10 trades (tailor, taxi, dehkan farmer, grocer, reseller, tutor…) with declared seasonality, customer counts, channel mix, expense structure</a:t>
            </a:r>
            <a:endParaRPr lang="en-US" sz="1050" dirty="0"/>
          </a:p>
        </p:txBody>
      </p:sp>
      <p:sp>
        <p:nvSpPr>
          <p:cNvPr id="7" name="gen num bg 1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gen num 1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gen head 1"/>
          <p:cNvSpPr txBox="1"/>
          <p:nvPr/>
        </p:nvSpPr>
        <p:spPr>
          <a:xfrm>
            <a:off x="1188720" y="2286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Simulation</a:t>
            </a:r>
            <a:endParaRPr lang="en-US" sz="1400" dirty="0"/>
          </a:p>
        </p:txBody>
      </p:sp>
      <p:sp>
        <p:nvSpPr>
          <p:cNvPr id="10" name="gen text 1"/>
          <p:cNvSpPr txBox="1"/>
          <p:nvPr/>
        </p:nvSpPr>
        <p:spPr>
          <a:xfrm>
            <a:off x="1188720" y="261518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2,000 borrowers · 5,689,589 transactions · existing loans with annuity schedules · shocks · default label from a latent affordability score (10.5% rate)</a:t>
            </a:r>
            <a:endParaRPr lang="en-US" sz="1050" dirty="0"/>
          </a:p>
        </p:txBody>
      </p:sp>
      <p:sp>
        <p:nvSpPr>
          <p:cNvPr id="11" name="gen num bg 2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gen num 2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gen head 2"/>
          <p:cNvSpPr txBox="1"/>
          <p:nvPr/>
        </p:nvSpPr>
        <p:spPr>
          <a:xfrm>
            <a:off x="1188720" y="32461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Rendering</a:t>
            </a:r>
            <a:endParaRPr lang="en-US" sz="1400" dirty="0"/>
          </a:p>
        </p:txBody>
      </p:sp>
      <p:sp>
        <p:nvSpPr>
          <p:cNvPr id="14" name="gen text 2"/>
          <p:cNvSpPr txBox="1"/>
          <p:nvPr/>
        </p:nvSpPr>
        <p:spPr>
          <a:xfrm>
            <a:off x="1188720" y="357530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60 statement sets as PDF (text layer) + XLSX + CSV in RU and UZ layouts; 180 fiscal receipts; Soliq-style certificates with QR</a:t>
            </a:r>
            <a:endParaRPr lang="en-US" sz="1050" dirty="0"/>
          </a:p>
        </p:txBody>
      </p:sp>
      <p:sp>
        <p:nvSpPr>
          <p:cNvPr id="15" name="gen num bg 3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6" name="gen num 3"/>
          <p:cNvSpPr txBox="1"/>
          <p:nvPr/>
        </p:nvSpPr>
        <p:spPr>
          <a:xfrm>
            <a:off x="548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gen head 3"/>
          <p:cNvSpPr txBox="1"/>
          <p:nvPr/>
        </p:nvSpPr>
        <p:spPr>
          <a:xfrm>
            <a:off x="1188720" y="42062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Camera model</a:t>
            </a:r>
            <a:endParaRPr lang="en-US" sz="1400" dirty="0"/>
          </a:p>
        </p:txBody>
      </p:sp>
      <p:sp>
        <p:nvSpPr>
          <p:cNvPr id="18" name="gen text 3"/>
          <p:cNvSpPr txBox="1"/>
          <p:nvPr/>
        </p:nvSpPr>
        <p:spPr>
          <a:xfrm>
            <a:off x="1188720" y="453542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perspective, rotation, lighting gradient, blur, sensor noise, JPEG — then measured through the same OCR the officer uses</a:t>
            </a:r>
            <a:endParaRPr lang="en-US" sz="1050" dirty="0"/>
          </a:p>
        </p:txBody>
      </p:sp>
      <p:sp>
        <p:nvSpPr>
          <p:cNvPr id="19" name="gen num bg 4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gen num 4"/>
          <p:cNvSpPr txBox="1"/>
          <p:nvPr/>
        </p:nvSpPr>
        <p:spPr>
          <a:xfrm>
            <a:off x="5486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gen head 4"/>
          <p:cNvSpPr txBox="1"/>
          <p:nvPr/>
        </p:nvSpPr>
        <p:spPr>
          <a:xfrm>
            <a:off x="1188720" y="5166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Tampering</a:t>
            </a:r>
            <a:endParaRPr lang="en-US" sz="1400" dirty="0"/>
          </a:p>
        </p:txBody>
      </p:sp>
      <p:sp>
        <p:nvSpPr>
          <p:cNvPr id="22" name="gen text 4"/>
          <p:cNvSpPr txBox="1"/>
          <p:nvPr/>
        </p:nvSpPr>
        <p:spPr>
          <a:xfrm>
            <a:off x="1188720" y="549554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40 statements: inflated inflow, deleted debit, duplicated row, window dressing — labelled for the integrity evaluation</a:t>
            </a:r>
            <a:endParaRPr lang="en-US" sz="1050" dirty="0"/>
          </a:p>
        </p:txBody>
      </p:sp>
      <p:pic>
        <p:nvPicPr>
          <p:cNvPr id="23" name="statement thumbnail" descr="/home/claude/daromad/deck/img/stmt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2286000" cy="3236976"/>
          </a:xfrm>
          <a:prstGeom prst="rect">
            <a:avLst/>
          </a:prstGeom>
        </p:spPr>
      </p:pic>
      <p:pic>
        <p:nvPicPr>
          <p:cNvPr id="24" name="receipt photo" descr="/home/claude/daromad/deck/img/recei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25880"/>
            <a:ext cx="2057400" cy="2258568"/>
          </a:xfrm>
          <a:prstGeom prst="rect">
            <a:avLst/>
          </a:prstGeom>
        </p:spPr>
      </p:pic>
      <p:sp>
        <p:nvSpPr>
          <p:cNvPr id="25" name="image caption"/>
          <p:cNvSpPr txBox="1"/>
          <p:nvPr/>
        </p:nvSpPr>
        <p:spPr>
          <a:xfrm>
            <a:off x="7223760" y="4709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Synthetic statement (Humo-style layout, Russian labels) and a camera-augmented synthetic fiscal receipt. No real person is represented; names come from a short public list, card numbers are random and masked.</a:t>
            </a:r>
            <a:endParaRPr lang="en-US" sz="1000" dirty="0"/>
          </a:p>
        </p:txBody>
      </p:sp>
      <p:sp>
        <p:nvSpPr>
          <p:cNvPr id="26" name="regen cmd"/>
          <p:cNvSpPr txBox="1"/>
          <p:nvPr/>
        </p:nvSpPr>
        <p:spPr>
          <a:xfrm>
            <a:off x="722376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Regenerate:  python -m synth.cli --n 2000 --render 60 --receipts 180 --tamper 40 --seed 42</a:t>
            </a:r>
            <a:endParaRPr lang="en-US" sz="1000" dirty="0"/>
          </a:p>
        </p:txBody>
      </p:sp>
      <p:sp>
        <p:nvSpPr>
          <p:cNvPr id="27" name="berka note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Also: methodology check on real anonymised bank data (Berka, PKDD'99) — not redistributed, downloaded by script.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Pilot: three months, five branches, fifty mahalla agents</a:t>
            </a:r>
            <a:endParaRPr lang="en-US" sz="2800" dirty="0"/>
          </a:p>
        </p:txBody>
      </p:sp>
      <p:sp>
        <p:nvSpPr>
          <p:cNvPr id="3" name="cost caption"/>
          <p:cNvSpPr txBox="1"/>
          <p:nvPr/>
        </p:nvSpPr>
        <p:spPr>
          <a:xfrm>
            <a:off x="54864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Cost to build and run the pilot (assumptions, UZS)</a:t>
            </a:r>
            <a:endParaRPr lang="en-US" sz="1400" dirty="0"/>
          </a:p>
        </p:txBody>
      </p:sp>
      <p:graphicFrame>
        <p:nvGraphicFramePr>
          <p:cNvPr id="9" name="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Line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Assumption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3-month cost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Team: 3 engineers/analysts (TYS)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3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135M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credit analyst, part-time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0.5 FTE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22.5M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Infrastructure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 VM in the bank DC, no GPU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Integration (core banking, bureau)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IT, 20 person-days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Data, licences, API spend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none — open-source, no external API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Total pilot (≈ $15k)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≈ 190M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</a:tbl>
          </a:graphicData>
        </a:graphic>
      </p:graphicFrame>
      <p:sp>
        <p:nvSpPr>
          <p:cNvPr id="5" name="run cost"/>
          <p:cNvSpPr txBox="1"/>
          <p:nvPr/>
        </p:nvSpPr>
        <p:spPr>
          <a:xfrm>
            <a:off x="548640" y="43434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Running cost per application: zero marginal (static bundle; no API, no GPU). Optional narrative LLM on one on-prem GPU: well under 1 US cent per application.</a:t>
            </a:r>
            <a:endParaRPr lang="en-US" sz="1050" dirty="0"/>
          </a:p>
        </p:txBody>
      </p:sp>
      <p:sp>
        <p:nvSpPr>
          <p:cNvPr id="6" name="timeline"/>
          <p:cNvSpPr txBox="1"/>
          <p:nvPr/>
        </p:nvSpPr>
        <p:spPr>
          <a:xfrm>
            <a:off x="548640" y="4983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Timeline: month 1 shadow mode (engine runs beside the manual process; we measure minutes and agreement) · months 2–3 assisted mode (officer works from the memo) · success metrics: minutes per application, agreement with committee, override rate, ПДН audit findings, retrained model AUC on bank history.</a:t>
            </a:r>
            <a:endParaRPr lang="en-US" sz="1050" dirty="0"/>
          </a:p>
        </p:txBody>
      </p:sp>
      <p:sp>
        <p:nvSpPr>
          <p:cNvPr id="7" name="value caption"/>
          <p:cNvSpPr txBox="1"/>
          <p:nvPr/>
        </p:nvSpPr>
        <p:spPr>
          <a:xfrm>
            <a:off x="649224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Value — the officer-hours formula (every term is a slider)</a:t>
            </a:r>
            <a:endParaRPr lang="en-US" sz="1400" dirty="0"/>
          </a:p>
        </p:txBody>
      </p:sp>
      <p:sp>
        <p:nvSpPr>
          <p:cNvPr id="8" name="tile document handling per application, before → with Daromad (assumption 1; the pilot measures it)"/>
          <p:cNvSpPr/>
          <p:nvPr/>
        </p:nvSpPr>
        <p:spPr>
          <a:xfrm>
            <a:off x="649224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tile value document handling per application, before → with Daromad (assumption 1; the pilot measures it)"/>
          <p:cNvSpPr txBox="1"/>
          <p:nvPr/>
        </p:nvSpPr>
        <p:spPr>
          <a:xfrm>
            <a:off x="662940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90 → 25 min</a:t>
            </a:r>
            <a:endParaRPr lang="en-US" sz="2200" dirty="0"/>
          </a:p>
        </p:txBody>
      </p:sp>
      <p:sp>
        <p:nvSpPr>
          <p:cNvPr id="10" name="tile label document handling per application, before → with Daromad (assumption 1; the pilot measures it)"/>
          <p:cNvSpPr txBox="1"/>
          <p:nvPr/>
        </p:nvSpPr>
        <p:spPr>
          <a:xfrm>
            <a:off x="662940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63"/>
                </a:solidFill>
              </a:rPr>
              <a:t>document handling per application, before → with Daromad (assumption 1; the pilot measures it)</a:t>
            </a:r>
            <a:endParaRPr lang="en-US" sz="950" dirty="0"/>
          </a:p>
        </p:txBody>
      </p:sp>
      <p:sp>
        <p:nvSpPr>
          <p:cNvPr id="11" name="tile addressable applications: 30% of MKBANK's 140,000 micro-projects (bank's own 2026 target) — those outside the ПДН-exempt family programme (assumption 2)"/>
          <p:cNvSpPr/>
          <p:nvPr/>
        </p:nvSpPr>
        <p:spPr>
          <a:xfrm>
            <a:off x="918972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2" name="tile value addressable applications: 30% of MKBANK&amp;apos;s 140,000 micro-projects (bank&amp;apos;s own 2026 target) — those outside the ПДН-exempt family programme (assumption 2)"/>
          <p:cNvSpPr txBox="1"/>
          <p:nvPr/>
        </p:nvSpPr>
        <p:spPr>
          <a:xfrm>
            <a:off x="932688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≈ 42,000 / yr</a:t>
            </a:r>
            <a:endParaRPr lang="en-US" sz="2200" dirty="0"/>
          </a:p>
        </p:txBody>
      </p:sp>
      <p:sp>
        <p:nvSpPr>
          <p:cNvPr id="13" name="tile label addressable applications: 30% of MKBANK&amp;apos;s 140,000 micro-projects (bank&amp;apos;s own 2026 target) — those outside the ПДН-exempt family programme (assumption 2)"/>
          <p:cNvSpPr txBox="1"/>
          <p:nvPr/>
        </p:nvSpPr>
        <p:spPr>
          <a:xfrm>
            <a:off x="932688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B63"/>
                </a:solidFill>
              </a:rPr>
              <a:t>addressable applications: 30% of MKBANK's 140,000 micro-projects (bank's own 2026 target) — those outside the ПДН-exempt family programme (assumption 2)</a:t>
            </a:r>
            <a:endParaRPr lang="en-US" sz="850" dirty="0"/>
          </a:p>
        </p:txBody>
      </p:sp>
      <p:sp>
        <p:nvSpPr>
          <p:cNvPr id="14" name="tile officer-hours saved per year = 42,000 × 65 min ≈ 23 FTE-years at 2,000 h"/>
          <p:cNvSpPr/>
          <p:nvPr/>
        </p:nvSpPr>
        <p:spPr>
          <a:xfrm>
            <a:off x="649224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5" name="tile value officer-hours saved per year = 42,000 × 65 min ≈ 23 FTE-years at 2,000 h"/>
          <p:cNvSpPr txBox="1"/>
          <p:nvPr/>
        </p:nvSpPr>
        <p:spPr>
          <a:xfrm>
            <a:off x="662940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≈ 45,000 h</a:t>
            </a:r>
            <a:endParaRPr lang="en-US" sz="2200" dirty="0"/>
          </a:p>
        </p:txBody>
      </p:sp>
      <p:sp>
        <p:nvSpPr>
          <p:cNvPr id="16" name="tile label officer-hours saved per year = 42,000 × 65 min ≈ 23 FTE-years at 2,000 h"/>
          <p:cNvSpPr txBox="1"/>
          <p:nvPr/>
        </p:nvSpPr>
        <p:spPr>
          <a:xfrm>
            <a:off x="662940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officer-hours saved per year = 42,000 × 65 min ≈ 23 FTE-years at 2,000 h</a:t>
            </a:r>
            <a:endParaRPr lang="en-US" sz="950" dirty="0"/>
          </a:p>
        </p:txBody>
      </p:sp>
      <p:sp>
        <p:nvSpPr>
          <p:cNvPr id="17" name="tile 23 FTE × 15M/month × 12 — officer time only; at a 10% addressable share ≈ 1.4 bn"/>
          <p:cNvSpPr/>
          <p:nvPr/>
        </p:nvSpPr>
        <p:spPr>
          <a:xfrm>
            <a:off x="918972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8" name="tile value 23 FTE × 15M/month × 12 — officer time only; at a 10% addressable share ≈ 1.4 bn"/>
          <p:cNvSpPr txBox="1"/>
          <p:nvPr/>
        </p:nvSpPr>
        <p:spPr>
          <a:xfrm>
            <a:off x="932688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≈ 4.1 bn UZS/yr</a:t>
            </a:r>
            <a:endParaRPr lang="en-US" sz="2000" dirty="0"/>
          </a:p>
        </p:txBody>
      </p:sp>
      <p:sp>
        <p:nvSpPr>
          <p:cNvPr id="19" name="tile label 23 FTE × 15M/month × 12 — officer time only; at a 10% addressable share ≈ 1.4 bn"/>
          <p:cNvSpPr txBox="1"/>
          <p:nvPr/>
        </p:nvSpPr>
        <p:spPr>
          <a:xfrm>
            <a:off x="932688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23 FTE × 15M/month × 12 — officer time only; at a 10% addressable share ≈ 1.4 bn</a:t>
            </a:r>
            <a:endParaRPr lang="en-US" sz="950" dirty="0"/>
          </a:p>
        </p:txBody>
      </p:sp>
      <p:sp>
        <p:nvSpPr>
          <p:cNvPr id="20" name="payback"/>
          <p:cNvSpPr txBox="1"/>
          <p:nvPr/>
        </p:nvSpPr>
        <p:spPr>
          <a:xfrm>
            <a:off x="6492240" y="4160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1B"/>
                </a:solidFill>
              </a:rPr>
              <a:t>Payback: </a:t>
            </a:r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the ≈ 190M pilot itself (5 of 181 branches, 3 months) does not pay back — it measures the two assumptions. After roll-out the saving of ≈ 4.1 bn/yr repays the pilot within its first month; at a 10% addressable share, within two months. Not counted: faster time-to-decision for the borrower, fewer ПДН compliance findings, better risk selection — claimed only after the pilot measures them.</a:t>
            </a:r>
            <a:endParaRPr lang="en-US" sz="1050" dirty="0"/>
          </a:p>
        </p:txBody>
      </p:sp>
      <p:sp>
        <p:nvSpPr>
          <p:cNvPr id="21" name="owner"/>
          <p:cNvSpPr txBox="1"/>
          <p:nvPr/>
        </p:nvSpPr>
        <p:spPr>
          <a:xfrm>
            <a:off x="6492240" y="55778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3"/>
                </a:solidFill>
              </a:rPr>
              <a:t>Who pays: MKBANK (credit department / digital budget). Who owns: micro &amp; family-business credit department; IT deploys; mahalla agents and loan officers use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Hard to copy in a weekend — and what comes next</a:t>
            </a:r>
            <a:endParaRPr lang="en-US" sz="2800" dirty="0"/>
          </a:p>
        </p:txBody>
      </p:sp>
      <p:sp>
        <p:nvSpPr>
          <p:cNvPr id="3" name="replication card"/>
          <p:cNvSpPr/>
          <p:nvPr/>
        </p:nvSpPr>
        <p:spPr>
          <a:xfrm>
            <a:off x="548640" y="132588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4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65760" cy="365760"/>
          </a:xfrm>
          <a:prstGeom prst="rect">
            <a:avLst/>
          </a:prstGeom>
        </p:spPr>
      </p:pic>
      <p:sp>
        <p:nvSpPr>
          <p:cNvPr id="5" name="replication head"/>
          <p:cNvSpPr txBox="1"/>
          <p:nvPr/>
        </p:nvSpPr>
        <p:spPr>
          <a:xfrm>
            <a:off x="118872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The replication test — what the same LLM tools do not give you</a:t>
            </a:r>
            <a:endParaRPr lang="en-US" sz="1400" dirty="0"/>
          </a:p>
        </p:txBody>
      </p:sp>
      <p:sp>
        <p:nvSpPr>
          <p:cNvPr id="6" name="bullets"/>
          <p:cNvSpPr txBox="1"/>
          <p:nvPr/>
        </p:nvSpPr>
        <p:spPr>
          <a:xfrm>
            <a:off x="731520" y="205740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Statement parsers that learn columns from the data rows (two Uzbek layouts today, any text-layer PDF, XLSX, CSV) and reconcile the balance chain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categoriser lexicon in Uzbek Latin, Cyrillic and Russian with counterparty-pattern rules — and the pilot plan to grow it on bank data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rule engine mapped clause by clause to the live ПДН regulation, with its exemptions and the back-solved maximum amount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memo verifier that makes unsourced numbers impossible — zero hallucination by construction, no LLM needed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declared, calibrated synthetic population with rendered documents, a camera model and labelled tampering — a test bed the bank can keep using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Evaluation through the real app, reproducible with one command each</a:t>
            </a:r>
            <a:endParaRPr lang="en-US" sz="1150" dirty="0"/>
          </a:p>
        </p:txBody>
      </p:sp>
      <p:sp>
        <p:nvSpPr>
          <p:cNvPr id="7" name="next card"/>
          <p:cNvSpPr/>
          <p:nvPr/>
        </p:nvSpPr>
        <p:spPr>
          <a:xfrm>
            <a:off x="6309360" y="1325880"/>
            <a:ext cx="539496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lay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365760" cy="365760"/>
          </a:xfrm>
          <a:prstGeom prst="rect">
            <a:avLst/>
          </a:prstGeom>
        </p:spPr>
      </p:pic>
      <p:sp>
        <p:nvSpPr>
          <p:cNvPr id="9" name="next head"/>
          <p:cNvSpPr txBox="1"/>
          <p:nvPr/>
        </p:nvSpPr>
        <p:spPr>
          <a:xfrm>
            <a:off x="69494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10" name="bullets"/>
          <p:cNvSpPr txBox="1"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Week 1–2: scanned-statement OCR page by page; lexicon growth on anonymised bank descriptions; Uzbek/Russian memo templates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1: shadow mode in 5 branches; core-banking pull for MKBANK's own account holders; credit-bureau REST for obligations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2–3: assisted mode; retrain the risk model on bank history inside the perimeter; set risk bands with the bank's risk appetite; fairness review by region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After the pilot: Central Bank conversation — the same engine computes ПДН uniformly for any lender, a supervisory check at zero marginal cost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 scope today: Ommabop 2, Express, Business Online 2 (ПДН applies) and family-programme loans (exempt from the cap, capacity still assessed)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Daromad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E9F1EC"/>
                </a:solidFill>
              </a:rPr>
              <a:t>Income evidence for borrowers who have no payslip — regulation-native, perimeter-native, verified.</a:t>
            </a:r>
            <a:endParaRPr lang="en-US" sz="1800" dirty="0"/>
          </a:p>
        </p:txBody>
      </p:sp>
      <p:sp>
        <p:nvSpPr>
          <p:cNvPr id="4" name="closing links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Live: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https://tys-fintech.vercel.app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Repo: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https://github.com/hmunisbekk-droid/TYS-fintech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Team TYS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A · ПДН rule engine, clause by clause</a:t>
            </a:r>
            <a:endParaRPr lang="en-US" sz="2800" dirty="0"/>
          </a:p>
        </p:txBody>
      </p:sp>
      <p:graphicFrame>
        <p:nvGraphicFramePr>
          <p:cNvPr id="12" name="clau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68096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Rule as implemented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Where it shows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ПДН = average monthly payments on loans/microloans ÷ average monthly income (borrower + co-borrower)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formula panel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Includes the application under review and all loan agreements with all lenders; co-borrower loans counted. Lender-type reliefs (2024): banks («банк томонидан…») — only a portfolio quota, up to 15% of the number of loans to individuals outside the requirement; MFOs and pawnshops («микромолия ташкилоти ва ломбард томонидан…») — excluded when amount + outstanding principal ≤ 50 BRV; MFOs lending to the self-employed — 75 BRV. Daromad defaults to bank: ratio always computed, quota shown as a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lender-type selector, ПДН panel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Guarantor loans count only when payments are more than 30 days overdue («30 кундан ортиқ муддати ўтган тўловлари мавжуд бўлса»)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obligations table, DPD column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cl.4¹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Terms over 36 months: total payments spread over 36 («барча тўловлар 36 ойга тенг миқдорда тақсимланади»); mortgages over 180 months spread over 180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per-line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Calculation date within 10 calendar days of the loan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case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Average monthly income = arithmetic mean of the last 12 months; co-borrower income added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income base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Evidence: employer salary data, pension, funded-pension contributions, income credited to bank accounts, taxes paid, interest/dividends/rent; other data allowed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memo section 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Ratio ≤ 50% from 1 January 2025 (60% between 1 July 2024 and 1 January 2025)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cap, pass/fail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Family-entrepreneurship programme loans exempt from the ratio requirement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exemption badge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rv note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BRV = 440,000 UZS from 1 September 2026 (previously 412,000); 50 BRV = 22,000,000 UZS. Clause mapping checked against lex.uz/docs/4654149 and 6809992 on 10 Oct 2026; quotes verbatim in docs/REGULATION_QUOTES.md.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B · Failure cases, perimeter, human in the loop</a:t>
            </a:r>
            <a:endParaRPr lang="en-US" sz="2800" dirty="0"/>
          </a:p>
        </p:txBody>
      </p:sp>
      <p:sp>
        <p:nvSpPr>
          <p:cNvPr id="3" name="fail card"/>
          <p:cNvSpPr/>
          <p:nvPr/>
        </p:nvSpPr>
        <p:spPr>
          <a:xfrm>
            <a:off x="548640" y="132588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fail head"/>
          <p:cNvSpPr txBox="1"/>
          <p:nvPr/>
        </p:nvSpPr>
        <p:spPr>
          <a:xfrm>
            <a:off x="73152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Known failure cases (also on the Model card page)</a:t>
            </a:r>
            <a:endParaRPr lang="en-US" sz="1400" dirty="0"/>
          </a:p>
        </p:txBody>
      </p:sp>
      <p:sp>
        <p:nvSpPr>
          <p:cNvPr id="5" name="bullets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Scanned statements without a text layer: not OCR'd page by page yet — ask for the XLSX/CSV export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One signed amount column and no balance column: signs taken from keywords 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Merchant strings outside the lexicon (mixed scripts, transliteration) → default category, visible in the table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Dark or heavily skewed receipt photos: OCR confidence &lt; 60% → fields flagged for confirmation, never guessed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Cash-only businesses: nothing to reconstruct — the memo says so; the officer attests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Synthetic-to-real gap of the risk score until retrained inside the bank; risk bands are placeholders</a:t>
            </a:r>
            <a:endParaRPr lang="en-US" sz="1150" dirty="0"/>
          </a:p>
        </p:txBody>
      </p:sp>
      <p:sp>
        <p:nvSpPr>
          <p:cNvPr id="6" name="perimeter card b"/>
          <p:cNvSpPr/>
          <p:nvPr/>
        </p:nvSpPr>
        <p:spPr>
          <a:xfrm>
            <a:off x="6309360" y="132588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perim head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Perimeter, audit, human in the loop</a:t>
            </a:r>
            <a:endParaRPr lang="en-US" sz="1400" dirty="0"/>
          </a:p>
        </p:txBody>
      </p:sp>
      <p:sp>
        <p:nvSpPr>
          <p:cNvPr id="8" name="bullets"/>
          <p:cNvSpPr txBox="1"/>
          <p:nvPr/>
        </p:nvSpPr>
        <p:spPr>
          <a:xfrm>
            <a:off x="6492240" y="192024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Prototype: static site; documents are parsed in the browser and never transmitted; nothing is stored server-side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Production: same bundle on the bank's web server (Docker, no outbound network), SSO identity, audit log and cases in the bank DB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Own customers' statements pulled from core banking; uploads only for other banks' statements and wallets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Every analysis stamped with rule-engine, model and categoriser versions; hash-chained SHA-256 log; export with the case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The engine recommends; the officer decides; overrides require a reason; committee above branch limits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Personal data processed inside the bank with recorded consent; retention per bank policy; no gender or activity-type features in the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C · Data sources and licences</a:t>
            </a:r>
            <a:endParaRPr lang="en-US" sz="2800" dirty="0"/>
          </a:p>
        </p:txBody>
      </p:sp>
      <p:graphicFrame>
        <p:nvGraphicFramePr>
          <p:cNvPr id="14" name="dat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7432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Used for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Licence / terms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Daromad synthetic data set (synth/, seed 42)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evaluation, demo samples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MIT, this repo; generator and parameters declared; no real person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Berka / PKDD'99 Financial data set (mirror github.com/jlacko/berka-dataset)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offline methodology check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academic challenge data, no licence stated; evaluation only, not redistributed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Tesseract tessdata_fast (uzb, uzb_cyrl, rus, eng); tesseract.js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receipt OCR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pdf.js; SheetJS; Next.js; React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parsing, application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XGBoost; scikit-learn; NumPy; pandas; OpenCV; Playwright; Jinja2; qrcode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rendering, evaluation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BSD-3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CBU regulation texts (lex.uz 4654149, 6809992)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rule engine, citations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legal information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stat.uz wages; CBU statistics; MKBANK public pages (sponsored article, bank's own figures)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calibration anchors, business case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information, cited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mpliance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Rules compliance: no hard-coded answers (every figure computed from uploaded documents at run time); no real personal or confidential data; all code written during the final by team TYS with LLM coding assistance (declared); deployment from the submitted repository; CI on every push.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omad">
  <a:themeElements>
    <a:clrScheme name="Daromad">
      <a:dk1>
        <a:srgbClr val="17201B"/>
      </a:dk1>
      <a:lt1>
        <a:srgbClr val="FFFFFF"/>
      </a:lt1>
      <a:dk2>
        <a:srgbClr val="1F4E3D"/>
      </a:dk2>
      <a:lt2>
        <a:srgbClr val="E9F1EC"/>
      </a:lt2>
      <a:accent1>
        <a:srgbClr val="1F4E3D"/>
      </a:accent1>
      <a:accent2>
        <a:srgbClr val="D98E04"/>
      </a:accent2>
      <a:accent3>
        <a:srgbClr val="2E7D5B"/>
      </a:accent3>
      <a:accent4>
        <a:srgbClr val="5C6B63"/>
      </a:accent4>
      <a:accent5>
        <a:srgbClr val="B23A3A"/>
      </a:accent5>
      <a:accent6>
        <a:srgbClr val="8FB8A5"/>
      </a:accent6>
      <a:hlink>
        <a:srgbClr val="1F4E3D"/>
      </a:hlink>
      <a:folHlink>
        <a:srgbClr val="5C6B63"/>
      </a:folHlink>
    </a:clrScheme>
    <a:fontScheme name="Daroma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Daromad — Income Evidence Engine</dc:title>
  <dc:subject>FinTech / AI in Finance hackathon final</dc:subject>
  <dc:creator>Team TYS</dc:creator>
  <cp:lastModifiedBy>Team TYS</cp:lastModifiedBy>
  <cp:revision>1</cp:revision>
  <dcterms:created xsi:type="dcterms:W3CDTF">2026-10-10T19:32:09Z</dcterms:created>
  <dcterms:modified xsi:type="dcterms:W3CDTF">2026-10-10T19:32:09Z</dcterms:modified>
</cp:coreProperties>
</file>